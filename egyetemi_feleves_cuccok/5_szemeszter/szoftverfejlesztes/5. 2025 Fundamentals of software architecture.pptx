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6" r:id="rId5"/>
    <p:sldMasterId id="2147483663" r:id="rId6"/>
  </p:sldMasterIdLst>
  <p:notesMasterIdLst>
    <p:notesMasterId r:id="rId44"/>
  </p:notesMasterIdLst>
  <p:handoutMasterIdLst>
    <p:handoutMasterId r:id="rId45"/>
  </p:handoutMasterIdLst>
  <p:sldIdLst>
    <p:sldId id="256" r:id="rId7"/>
    <p:sldId id="264" r:id="rId8"/>
    <p:sldId id="325" r:id="rId9"/>
    <p:sldId id="317" r:id="rId10"/>
    <p:sldId id="266" r:id="rId11"/>
    <p:sldId id="326" r:id="rId12"/>
    <p:sldId id="262" r:id="rId13"/>
    <p:sldId id="261" r:id="rId14"/>
    <p:sldId id="257" r:id="rId15"/>
    <p:sldId id="269" r:id="rId16"/>
    <p:sldId id="280" r:id="rId17"/>
    <p:sldId id="318" r:id="rId18"/>
    <p:sldId id="295" r:id="rId19"/>
    <p:sldId id="327" r:id="rId20"/>
    <p:sldId id="328" r:id="rId21"/>
    <p:sldId id="329" r:id="rId22"/>
    <p:sldId id="319" r:id="rId23"/>
    <p:sldId id="297" r:id="rId24"/>
    <p:sldId id="298" r:id="rId25"/>
    <p:sldId id="282" r:id="rId26"/>
    <p:sldId id="320" r:id="rId27"/>
    <p:sldId id="321" r:id="rId28"/>
    <p:sldId id="300" r:id="rId29"/>
    <p:sldId id="322" r:id="rId30"/>
    <p:sldId id="323" r:id="rId31"/>
    <p:sldId id="289" r:id="rId32"/>
    <p:sldId id="291" r:id="rId33"/>
    <p:sldId id="290" r:id="rId34"/>
    <p:sldId id="292" r:id="rId35"/>
    <p:sldId id="301" r:id="rId36"/>
    <p:sldId id="324" r:id="rId37"/>
    <p:sldId id="302" r:id="rId38"/>
    <p:sldId id="332" r:id="rId39"/>
    <p:sldId id="333" r:id="rId40"/>
    <p:sldId id="334" r:id="rId41"/>
    <p:sldId id="330" r:id="rId42"/>
    <p:sldId id="294" r:id="rId4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C41"/>
    <a:srgbClr val="FEFEFE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CF010B-1E0E-0A58-ADEE-3EAA8E57F992}" v="24" dt="2025-10-06T12:53:57.0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zs Radocz" userId="S::balazs_radocz@epam.com::f41dd343-55c0-4580-9aaf-ffa52493ede8" providerId="AD" clId="Web-{1DCF010B-1E0E-0A58-ADEE-3EAA8E57F992}"/>
    <pc:docChg chg="delSld modSld">
      <pc:chgData name="Balazs Radocz" userId="S::balazs_radocz@epam.com::f41dd343-55c0-4580-9aaf-ffa52493ede8" providerId="AD" clId="Web-{1DCF010B-1E0E-0A58-ADEE-3EAA8E57F992}" dt="2025-10-06T12:53:56.665" v="40" actId="20577"/>
      <pc:docMkLst>
        <pc:docMk/>
      </pc:docMkLst>
      <pc:sldChg chg="modSp">
        <pc:chgData name="Balazs Radocz" userId="S::balazs_radocz@epam.com::f41dd343-55c0-4580-9aaf-ffa52493ede8" providerId="AD" clId="Web-{1DCF010B-1E0E-0A58-ADEE-3EAA8E57F992}" dt="2025-10-06T12:18:59.847" v="11" actId="20577"/>
        <pc:sldMkLst>
          <pc:docMk/>
          <pc:sldMk cId="1733196742" sldId="256"/>
        </pc:sldMkLst>
        <pc:spChg chg="mod">
          <ac:chgData name="Balazs Radocz" userId="S::balazs_radocz@epam.com::f41dd343-55c0-4580-9aaf-ffa52493ede8" providerId="AD" clId="Web-{1DCF010B-1E0E-0A58-ADEE-3EAA8E57F992}" dt="2025-10-06T12:18:59.847" v="11" actId="20577"/>
          <ac:spMkLst>
            <pc:docMk/>
            <pc:sldMk cId="1733196742" sldId="256"/>
            <ac:spMk id="5" creationId="{00000000-0000-0000-0000-000000000000}"/>
          </ac:spMkLst>
        </pc:spChg>
      </pc:sldChg>
      <pc:sldChg chg="modNotes">
        <pc:chgData name="Balazs Radocz" userId="S::balazs_radocz@epam.com::f41dd343-55c0-4580-9aaf-ffa52493ede8" providerId="AD" clId="Web-{1DCF010B-1E0E-0A58-ADEE-3EAA8E57F992}" dt="2025-10-06T12:44:02.902" v="27"/>
        <pc:sldMkLst>
          <pc:docMk/>
          <pc:sldMk cId="3175338002" sldId="282"/>
        </pc:sldMkLst>
      </pc:sldChg>
      <pc:sldChg chg="modSp">
        <pc:chgData name="Balazs Radocz" userId="S::balazs_radocz@epam.com::f41dd343-55c0-4580-9aaf-ffa52493ede8" providerId="AD" clId="Web-{1DCF010B-1E0E-0A58-ADEE-3EAA8E57F992}" dt="2025-10-06T12:53:56.665" v="40" actId="20577"/>
        <pc:sldMkLst>
          <pc:docMk/>
          <pc:sldMk cId="670608515" sldId="294"/>
        </pc:sldMkLst>
        <pc:spChg chg="mod">
          <ac:chgData name="Balazs Radocz" userId="S::balazs_radocz@epam.com::f41dd343-55c0-4580-9aaf-ffa52493ede8" providerId="AD" clId="Web-{1DCF010B-1E0E-0A58-ADEE-3EAA8E57F992}" dt="2025-10-06T12:53:56.665" v="40" actId="20577"/>
          <ac:spMkLst>
            <pc:docMk/>
            <pc:sldMk cId="670608515" sldId="294"/>
            <ac:spMk id="5" creationId="{A1A1E5D2-FE5B-DB46-B583-C05E8E74E17D}"/>
          </ac:spMkLst>
        </pc:spChg>
      </pc:sldChg>
      <pc:sldChg chg="modSp modNotes">
        <pc:chgData name="Balazs Radocz" userId="S::balazs_radocz@epam.com::f41dd343-55c0-4580-9aaf-ffa52493ede8" providerId="AD" clId="Web-{1DCF010B-1E0E-0A58-ADEE-3EAA8E57F992}" dt="2025-10-06T12:52:20.653" v="32"/>
        <pc:sldMkLst>
          <pc:docMk/>
          <pc:sldMk cId="4029114145" sldId="301"/>
        </pc:sldMkLst>
        <pc:spChg chg="mod">
          <ac:chgData name="Balazs Radocz" userId="S::balazs_radocz@epam.com::f41dd343-55c0-4580-9aaf-ffa52493ede8" providerId="AD" clId="Web-{1DCF010B-1E0E-0A58-ADEE-3EAA8E57F992}" dt="2025-10-06T12:51:57.384" v="29" actId="20577"/>
          <ac:spMkLst>
            <pc:docMk/>
            <pc:sldMk cId="4029114145" sldId="301"/>
            <ac:spMk id="4" creationId="{00000000-0000-0000-0000-000000000000}"/>
          </ac:spMkLst>
        </pc:spChg>
      </pc:sldChg>
      <pc:sldChg chg="del">
        <pc:chgData name="Balazs Radocz" userId="S::balazs_radocz@epam.com::f41dd343-55c0-4580-9aaf-ffa52493ede8" providerId="AD" clId="Web-{1DCF010B-1E0E-0A58-ADEE-3EAA8E57F992}" dt="2025-10-06T12:19:06.458" v="12"/>
        <pc:sldMkLst>
          <pc:docMk/>
          <pc:sldMk cId="2847668802" sldId="316"/>
        </pc:sldMkLst>
      </pc:sldChg>
      <pc:sldChg chg="modNotes">
        <pc:chgData name="Balazs Radocz" userId="S::balazs_radocz@epam.com::f41dd343-55c0-4580-9aaf-ffa52493ede8" providerId="AD" clId="Web-{1DCF010B-1E0E-0A58-ADEE-3EAA8E57F992}" dt="2025-10-06T12:53:17.239" v="35"/>
        <pc:sldMkLst>
          <pc:docMk/>
          <pc:sldMk cId="2735983329" sldId="324"/>
        </pc:sldMkLst>
      </pc:sldChg>
      <pc:sldChg chg="modSp">
        <pc:chgData name="Balazs Radocz" userId="S::balazs_radocz@epam.com::f41dd343-55c0-4580-9aaf-ffa52493ede8" providerId="AD" clId="Web-{1DCF010B-1E0E-0A58-ADEE-3EAA8E57F992}" dt="2025-10-06T12:21:03.750" v="15" actId="20577"/>
        <pc:sldMkLst>
          <pc:docMk/>
          <pc:sldMk cId="3627217666" sldId="325"/>
        </pc:sldMkLst>
        <pc:spChg chg="mod">
          <ac:chgData name="Balazs Radocz" userId="S::balazs_radocz@epam.com::f41dd343-55c0-4580-9aaf-ffa52493ede8" providerId="AD" clId="Web-{1DCF010B-1E0E-0A58-ADEE-3EAA8E57F992}" dt="2025-10-06T12:21:03.750" v="15" actId="20577"/>
          <ac:spMkLst>
            <pc:docMk/>
            <pc:sldMk cId="3627217666" sldId="325"/>
            <ac:spMk id="4" creationId="{00000000-0000-0000-0000-000000000000}"/>
          </ac:spMkLst>
        </pc:spChg>
      </pc:sldChg>
      <pc:sldChg chg="del">
        <pc:chgData name="Balazs Radocz" userId="S::balazs_radocz@epam.com::f41dd343-55c0-4580-9aaf-ffa52493ede8" providerId="AD" clId="Web-{1DCF010B-1E0E-0A58-ADEE-3EAA8E57F992}" dt="2025-10-06T12:19:37.508" v="13"/>
        <pc:sldMkLst>
          <pc:docMk/>
          <pc:sldMk cId="2260408886" sldId="3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cs=1&amp;sca_esv=24dbe17e14902e4c&amp;sxsrf=AE3TifOiaVn4MMgS7YCcKRUI7xwQ3CcfxQ%3A1759755155371&amp;q=adatkezel%C3%A9si+logik%C3%A1j%C3%A1t&amp;sa=X&amp;ved=2ahUKEwi5qYTnzo-QAxUYh_0HHRUbM58QxccNegQIEhAB&amp;mstk=AUtExfAxWT_6buXj54sbKBHVy5Kx0IQZ2b24O0xaD3Ed5nJ7m7zRyMLouBDpRNA-4RP9J71jgWMM_ERkF9jN95WRObf9a3u6OQ8T_6iT78i3DWAoKtW51cjzpdoTFHUquFSZ72f8bKloDiJEGCWbv1DYkAvVrG2RftfHKw2uoMeWYu2KKRvAH0bB6O6AueIBcR5JsoXq0xfv01T2DHKwi4TgGpYQVlgplphcLqoB9-ZmL80qTo-VdMbgewXO5VnUyJbrCAe_FJGZEy4Iq7gTZSyvUYPS&amp;csui=3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oogle.com/search?cs=1&amp;sca_esv=24dbe17e14902e4c&amp;sxsrf=AE3TifOiaVn4MMgS7YCcKRUI7xwQ3CcfxQ%3A1759755155371&amp;q=%C3%BCzleti+logik%C3%A1t&amp;sa=X&amp;ved=2ahUKEwi5qYTnzo-QAxUYh_0HHRUbM58QxccNegQIEhAC&amp;mstk=AUtExfAxWT_6buXj54sbKBHVy5Kx0IQZ2b24O0xaD3Ed5nJ7m7zRyMLouBDpRNA-4RP9J71jgWMM_ERkF9jN95WRObf9a3u6OQ8T_6iT78i3DWAoKtW51cjzpdoTFHUquFSZ72f8bKloDiJEGCWbv1DYkAvVrG2RftfHKw2uoMeWYu2KKRvAH0bB6O6AueIBcR5JsoXq0xfv01T2DHKwi4TgGpYQVlgplphcLqoB9-ZmL80qTo-VdMbgewXO5VnUyJbrCAe_FJGZEy4Iq7gTZSyvUYPS&amp;csui=3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5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32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Traditional architect drawback IBM case study: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/>
              <a:t>Project: U.S. Air Traffic control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/>
              <a:t>After one year desinging the system became out-dated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hu-HU"/>
              <a:t>The hardware and the air traffic control practices had moved 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hu-HU"/>
              <a:t>They started over and came up another design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hu-HU"/>
              <a:t>It became out-dates again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hu-HU"/>
              <a:t>They were doing in 10 years and nothing was built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54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01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N-Tier system: Same as BUFD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23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45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SOAP </a:t>
            </a:r>
            <a:r>
              <a:rPr lang="en-US" err="1"/>
              <a:t>jellemzői</a:t>
            </a:r>
            <a:r>
              <a:rPr lang="en-US"/>
              <a:t>: 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Protokoll</a:t>
            </a:r>
            <a:r>
              <a:rPr lang="en-US" b="1"/>
              <a:t>:</a:t>
            </a:r>
            <a:r>
              <a:rPr lang="en-US" dirty="0"/>
              <a:t> </a:t>
            </a:r>
            <a:r>
              <a:rPr lang="en-US" err="1"/>
              <a:t>Szabványosított</a:t>
            </a:r>
            <a:r>
              <a:rPr lang="en-US"/>
              <a:t>, XML-</a:t>
            </a:r>
            <a:r>
              <a:rPr lang="en-US" err="1"/>
              <a:t>alapú</a:t>
            </a:r>
            <a:r>
              <a:rPr lang="en-US" dirty="0"/>
              <a:t> </a:t>
            </a:r>
            <a:r>
              <a:rPr lang="en-US" err="1"/>
              <a:t>üzenetküldési</a:t>
            </a:r>
            <a:r>
              <a:rPr lang="en-US" dirty="0"/>
              <a:t> </a:t>
            </a:r>
            <a:r>
              <a:rPr lang="en-US" err="1"/>
              <a:t>protokoll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Tömegesség</a:t>
            </a:r>
            <a:r>
              <a:rPr lang="en-US" b="1"/>
              <a:t>:</a:t>
            </a:r>
            <a:r>
              <a:rPr lang="en-US" dirty="0"/>
              <a:t> </a:t>
            </a:r>
            <a:r>
              <a:rPr lang="en-US" err="1"/>
              <a:t>Verbózus</a:t>
            </a:r>
            <a:r>
              <a:rPr lang="en-US"/>
              <a:t>, </a:t>
            </a:r>
            <a:r>
              <a:rPr lang="en-US" err="1"/>
              <a:t>mert</a:t>
            </a:r>
            <a:r>
              <a:rPr lang="en-US" dirty="0"/>
              <a:t> </a:t>
            </a:r>
            <a:r>
              <a:rPr lang="en-US" err="1"/>
              <a:t>az</a:t>
            </a:r>
            <a:r>
              <a:rPr lang="en-US"/>
              <a:t> XML </a:t>
            </a:r>
            <a:r>
              <a:rPr lang="en-US" err="1"/>
              <a:t>terjedelmesebb</a:t>
            </a:r>
            <a:r>
              <a:rPr lang="en-US"/>
              <a:t> a JSON-</a:t>
            </a:r>
            <a:r>
              <a:rPr lang="en-US" err="1"/>
              <a:t>nál</a:t>
            </a:r>
            <a:r>
              <a:rPr lang="en-US"/>
              <a:t>, </a:t>
            </a:r>
            <a:r>
              <a:rPr lang="en-US" err="1"/>
              <a:t>ami</a:t>
            </a:r>
            <a:r>
              <a:rPr lang="en-US" dirty="0"/>
              <a:t> </a:t>
            </a:r>
            <a:r>
              <a:rPr lang="en-US" err="1"/>
              <a:t>nagyobb</a:t>
            </a:r>
            <a:r>
              <a:rPr lang="en-US" dirty="0"/>
              <a:t> </a:t>
            </a:r>
            <a:r>
              <a:rPr lang="en-US" err="1"/>
              <a:t>sávszélességet</a:t>
            </a:r>
            <a:r>
              <a:rPr lang="en-US" dirty="0"/>
              <a:t> </a:t>
            </a:r>
            <a:r>
              <a:rPr lang="en-US" err="1"/>
              <a:t>igényel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Biztonság</a:t>
            </a:r>
            <a:r>
              <a:rPr lang="en-US" b="1"/>
              <a:t>:</a:t>
            </a:r>
            <a:r>
              <a:rPr lang="en-US" dirty="0"/>
              <a:t> </a:t>
            </a:r>
            <a:r>
              <a:rPr lang="en-US" err="1"/>
              <a:t>Robusztus</a:t>
            </a:r>
            <a:r>
              <a:rPr lang="en-US" dirty="0"/>
              <a:t> </a:t>
            </a:r>
            <a:r>
              <a:rPr lang="en-US" err="1"/>
              <a:t>beépített</a:t>
            </a:r>
            <a:r>
              <a:rPr lang="en-US" dirty="0"/>
              <a:t> </a:t>
            </a:r>
            <a:r>
              <a:rPr lang="en-US" err="1"/>
              <a:t>biztonsági</a:t>
            </a:r>
            <a:r>
              <a:rPr lang="en-US" dirty="0"/>
              <a:t> </a:t>
            </a:r>
            <a:r>
              <a:rPr lang="en-US" err="1"/>
              <a:t>funkciókkal</a:t>
            </a:r>
            <a:r>
              <a:rPr lang="en-US" dirty="0"/>
              <a:t> </a:t>
            </a:r>
            <a:r>
              <a:rPr lang="en-US" err="1"/>
              <a:t>rendelkezik</a:t>
            </a:r>
            <a:r>
              <a:rPr lang="en-US"/>
              <a:t>, </a:t>
            </a:r>
            <a:r>
              <a:rPr lang="en-US" err="1"/>
              <a:t>amelyek</a:t>
            </a:r>
            <a:r>
              <a:rPr lang="en-US" dirty="0"/>
              <a:t> </a:t>
            </a:r>
            <a:r>
              <a:rPr lang="en-US" err="1"/>
              <a:t>ideálisak</a:t>
            </a:r>
            <a:r>
              <a:rPr lang="en-US" dirty="0"/>
              <a:t> </a:t>
            </a:r>
            <a:r>
              <a:rPr lang="en-US" err="1"/>
              <a:t>magas</a:t>
            </a:r>
            <a:r>
              <a:rPr lang="en-US" dirty="0"/>
              <a:t> </a:t>
            </a:r>
            <a:r>
              <a:rPr lang="en-US" err="1"/>
              <a:t>biztonsági</a:t>
            </a:r>
            <a:r>
              <a:rPr lang="en-US" dirty="0"/>
              <a:t> </a:t>
            </a:r>
            <a:r>
              <a:rPr lang="en-US" err="1"/>
              <a:t>követelményű</a:t>
            </a:r>
            <a:r>
              <a:rPr lang="en-US" dirty="0"/>
              <a:t> </a:t>
            </a:r>
            <a:r>
              <a:rPr lang="en-US" err="1"/>
              <a:t>környezetekhez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Állapotkezelés</a:t>
            </a:r>
            <a:r>
              <a:rPr lang="en-US" b="1"/>
              <a:t>:</a:t>
            </a:r>
            <a:r>
              <a:rPr lang="en-US" dirty="0"/>
              <a:t> </a:t>
            </a:r>
            <a:r>
              <a:rPr lang="en-US" err="1"/>
              <a:t>Lehet</a:t>
            </a:r>
            <a:r>
              <a:rPr lang="en-US" dirty="0"/>
              <a:t> </a:t>
            </a:r>
            <a:r>
              <a:rPr lang="en-US" err="1"/>
              <a:t>állapottartó</a:t>
            </a:r>
            <a:r>
              <a:rPr lang="en-US"/>
              <a:t> (stateful) </a:t>
            </a:r>
            <a:r>
              <a:rPr lang="en-US" err="1"/>
              <a:t>vagy</a:t>
            </a:r>
            <a:r>
              <a:rPr lang="en-US" dirty="0"/>
              <a:t> </a:t>
            </a:r>
            <a:r>
              <a:rPr lang="en-US" err="1"/>
              <a:t>független</a:t>
            </a:r>
            <a:r>
              <a:rPr lang="en-US"/>
              <a:t> (stateless).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Támogatottság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err="1"/>
              <a:t>Számos</a:t>
            </a:r>
            <a:r>
              <a:rPr lang="en-US" dirty="0"/>
              <a:t> </a:t>
            </a:r>
            <a:r>
              <a:rPr lang="en-US" err="1"/>
              <a:t>kiterjesztéssel</a:t>
            </a:r>
            <a:r>
              <a:rPr lang="en-US" dirty="0"/>
              <a:t> </a:t>
            </a:r>
            <a:r>
              <a:rPr lang="en-US" err="1"/>
              <a:t>rendelkezik</a:t>
            </a:r>
            <a:r>
              <a:rPr lang="en-US" dirty="0"/>
              <a:t>, </a:t>
            </a:r>
            <a:r>
              <a:rPr lang="en-US" err="1"/>
              <a:t>például</a:t>
            </a:r>
            <a:r>
              <a:rPr lang="en-US" dirty="0"/>
              <a:t> WS-Addressing a </a:t>
            </a:r>
            <a:r>
              <a:rPr lang="en-US" err="1"/>
              <a:t>megbízható</a:t>
            </a:r>
            <a:r>
              <a:rPr lang="en-US" dirty="0"/>
              <a:t> </a:t>
            </a:r>
            <a:r>
              <a:rPr lang="en-US" err="1"/>
              <a:t>üzenetküldéshez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REST </a:t>
            </a:r>
            <a:r>
              <a:rPr lang="en-US" err="1"/>
              <a:t>jellemzői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Architektúra</a:t>
            </a:r>
            <a:r>
              <a:rPr lang="en-US" b="1" dirty="0"/>
              <a:t>:</a:t>
            </a:r>
            <a:r>
              <a:rPr lang="en-US" dirty="0"/>
              <a:t> Egy </a:t>
            </a:r>
            <a:r>
              <a:rPr lang="en-US" err="1"/>
              <a:t>architektúra</a:t>
            </a:r>
            <a:r>
              <a:rPr lang="en-US" dirty="0"/>
              <a:t> </a:t>
            </a:r>
            <a:r>
              <a:rPr lang="en-US" err="1"/>
              <a:t>stílus</a:t>
            </a:r>
            <a:r>
              <a:rPr lang="en-US" dirty="0"/>
              <a:t>, </a:t>
            </a:r>
            <a:r>
              <a:rPr lang="en-US" err="1"/>
              <a:t>nem</a:t>
            </a:r>
            <a:r>
              <a:rPr lang="en-US" dirty="0"/>
              <a:t> </a:t>
            </a:r>
            <a:r>
              <a:rPr lang="en-US" err="1"/>
              <a:t>pedig</a:t>
            </a:r>
            <a:r>
              <a:rPr lang="en-US" dirty="0"/>
              <a:t> </a:t>
            </a:r>
            <a:r>
              <a:rPr lang="en-US" err="1"/>
              <a:t>egy</a:t>
            </a:r>
            <a:r>
              <a:rPr lang="en-US" dirty="0"/>
              <a:t> </a:t>
            </a:r>
            <a:r>
              <a:rPr lang="en-US" err="1"/>
              <a:t>konkrét</a:t>
            </a:r>
            <a:r>
              <a:rPr lang="en-US" dirty="0"/>
              <a:t> </a:t>
            </a:r>
            <a:r>
              <a:rPr lang="en-US" err="1"/>
              <a:t>protokoll</a:t>
            </a:r>
            <a:r>
              <a:rPr lang="en-US" dirty="0"/>
              <a:t>, </a:t>
            </a:r>
            <a:r>
              <a:rPr lang="en-US" err="1"/>
              <a:t>amely</a:t>
            </a:r>
            <a:r>
              <a:rPr lang="en-US" dirty="0"/>
              <a:t> </a:t>
            </a:r>
            <a:r>
              <a:rPr lang="en-US" err="1"/>
              <a:t>szabványokat</a:t>
            </a:r>
            <a:r>
              <a:rPr lang="en-US" dirty="0"/>
              <a:t> </a:t>
            </a:r>
            <a:r>
              <a:rPr lang="en-US" err="1"/>
              <a:t>határoz</a:t>
            </a:r>
            <a:r>
              <a:rPr lang="en-US" dirty="0"/>
              <a:t> meg a </a:t>
            </a:r>
            <a:r>
              <a:rPr lang="en-US" err="1"/>
              <a:t>webes</a:t>
            </a:r>
            <a:r>
              <a:rPr lang="en-US" dirty="0"/>
              <a:t> </a:t>
            </a:r>
            <a:r>
              <a:rPr lang="en-US" err="1"/>
              <a:t>szolgáltatásokhoz</a:t>
            </a:r>
            <a:r>
              <a:rPr lang="en-US" dirty="0"/>
              <a:t>. 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Tömegesség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err="1"/>
              <a:t>Könnyű</a:t>
            </a:r>
            <a:r>
              <a:rPr lang="en-US" dirty="0"/>
              <a:t> </a:t>
            </a:r>
            <a:r>
              <a:rPr lang="en-US" err="1"/>
              <a:t>adatformátumokat</a:t>
            </a:r>
            <a:r>
              <a:rPr lang="en-US" dirty="0"/>
              <a:t>, mint a JSON </a:t>
            </a:r>
            <a:r>
              <a:rPr lang="en-US" err="1"/>
              <a:t>használ</a:t>
            </a:r>
            <a:r>
              <a:rPr lang="en-US" dirty="0"/>
              <a:t>, </a:t>
            </a:r>
            <a:r>
              <a:rPr lang="en-US" err="1"/>
              <a:t>ami</a:t>
            </a:r>
            <a:r>
              <a:rPr lang="en-US" dirty="0"/>
              <a:t> </a:t>
            </a:r>
            <a:r>
              <a:rPr lang="en-US" err="1"/>
              <a:t>általában</a:t>
            </a:r>
            <a:r>
              <a:rPr lang="en-US" dirty="0"/>
              <a:t> </a:t>
            </a:r>
            <a:r>
              <a:rPr lang="en-US" err="1"/>
              <a:t>gyorsabb</a:t>
            </a:r>
            <a:r>
              <a:rPr lang="en-US" dirty="0"/>
              <a:t> </a:t>
            </a:r>
            <a:r>
              <a:rPr lang="en-US" err="1"/>
              <a:t>és</a:t>
            </a:r>
            <a:r>
              <a:rPr lang="en-US" dirty="0"/>
              <a:t> </a:t>
            </a:r>
            <a:r>
              <a:rPr lang="en-US" err="1"/>
              <a:t>kevesebb</a:t>
            </a:r>
            <a:r>
              <a:rPr lang="en-US" dirty="0"/>
              <a:t> </a:t>
            </a:r>
            <a:r>
              <a:rPr lang="en-US" err="1"/>
              <a:t>sávszélességet</a:t>
            </a:r>
            <a:r>
              <a:rPr lang="en-US" dirty="0"/>
              <a:t> </a:t>
            </a:r>
            <a:r>
              <a:rPr lang="en-US" err="1"/>
              <a:t>igényel</a:t>
            </a:r>
            <a:r>
              <a:rPr lang="en-US" dirty="0"/>
              <a:t>. 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Adatátvitel</a:t>
            </a:r>
            <a:r>
              <a:rPr lang="en-US" b="1" dirty="0"/>
              <a:t>:</a:t>
            </a:r>
            <a:r>
              <a:rPr lang="en-US" dirty="0"/>
              <a:t> HTTP </a:t>
            </a:r>
            <a:r>
              <a:rPr lang="en-US" err="1"/>
              <a:t>protokollra</a:t>
            </a:r>
            <a:r>
              <a:rPr lang="en-US" dirty="0"/>
              <a:t> </a:t>
            </a:r>
            <a:r>
              <a:rPr lang="en-US" err="1"/>
              <a:t>támaszkodik</a:t>
            </a:r>
            <a:r>
              <a:rPr lang="en-US" dirty="0"/>
              <a:t>, </a:t>
            </a:r>
            <a:r>
              <a:rPr lang="en-US" err="1"/>
              <a:t>és</a:t>
            </a:r>
            <a:r>
              <a:rPr lang="en-US" dirty="0"/>
              <a:t> </a:t>
            </a:r>
            <a:r>
              <a:rPr lang="en-US" err="1"/>
              <a:t>erőforrás-alapú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Állapotkezelés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err="1"/>
              <a:t>Természetéből</a:t>
            </a:r>
            <a:r>
              <a:rPr lang="en-US" dirty="0"/>
              <a:t> </a:t>
            </a:r>
            <a:r>
              <a:rPr lang="en-US" err="1"/>
              <a:t>fakadóan</a:t>
            </a:r>
            <a:r>
              <a:rPr lang="en-US" dirty="0"/>
              <a:t> </a:t>
            </a:r>
            <a:r>
              <a:rPr lang="en-US" err="1"/>
              <a:t>független</a:t>
            </a:r>
            <a:r>
              <a:rPr lang="en-US" dirty="0"/>
              <a:t> (stateless), </a:t>
            </a:r>
            <a:r>
              <a:rPr lang="en-US" err="1"/>
              <a:t>ami</a:t>
            </a:r>
            <a:r>
              <a:rPr lang="en-US" dirty="0"/>
              <a:t> </a:t>
            </a:r>
            <a:r>
              <a:rPr lang="en-US" err="1"/>
              <a:t>egyszerűsíti</a:t>
            </a:r>
            <a:r>
              <a:rPr lang="en-US" dirty="0"/>
              <a:t> a </a:t>
            </a:r>
            <a:r>
              <a:rPr lang="en-US" err="1"/>
              <a:t>szerver-kliens</a:t>
            </a:r>
            <a:r>
              <a:rPr lang="en-US" dirty="0"/>
              <a:t> </a:t>
            </a:r>
            <a:r>
              <a:rPr lang="en-US" err="1"/>
              <a:t>kommunikációt</a:t>
            </a:r>
            <a:r>
              <a:rPr lang="en-US" dirty="0"/>
              <a:t>. 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Skálázhatóság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err="1"/>
              <a:t>Nagymértékben</a:t>
            </a:r>
            <a:r>
              <a:rPr lang="en-US" dirty="0"/>
              <a:t> </a:t>
            </a:r>
            <a:r>
              <a:rPr lang="en-US" err="1"/>
              <a:t>skálázható</a:t>
            </a:r>
            <a:r>
              <a:rPr lang="en-US" dirty="0"/>
              <a:t>, </a:t>
            </a:r>
            <a:r>
              <a:rPr lang="en-US" err="1"/>
              <a:t>és</a:t>
            </a:r>
            <a:r>
              <a:rPr lang="en-US" dirty="0"/>
              <a:t> </a:t>
            </a:r>
            <a:r>
              <a:rPr lang="en-US" err="1"/>
              <a:t>könnyen</a:t>
            </a:r>
            <a:r>
              <a:rPr lang="en-US" dirty="0"/>
              <a:t> </a:t>
            </a:r>
            <a:r>
              <a:rPr lang="en-US" err="1"/>
              <a:t>támogatja</a:t>
            </a:r>
            <a:r>
              <a:rPr lang="en-US" dirty="0"/>
              <a:t> a cache-</a:t>
            </a:r>
            <a:r>
              <a:rPr lang="en-US" err="1"/>
              <a:t>elést</a:t>
            </a:r>
            <a:r>
              <a:rPr lang="en-US" dirty="0"/>
              <a:t>. </a:t>
            </a:r>
            <a:endParaRPr lang="en-US" dirty="0">
              <a:ea typeface="Calibri"/>
              <a:cs typeface="Calibri"/>
            </a:endParaRPr>
          </a:p>
          <a:p>
            <a:r>
              <a:rPr lang="en-US" err="1"/>
              <a:t>Mikor</a:t>
            </a:r>
            <a:r>
              <a:rPr lang="en-US" dirty="0"/>
              <a:t> </a:t>
            </a:r>
            <a:r>
              <a:rPr lang="en-US" err="1"/>
              <a:t>melyiket</a:t>
            </a:r>
            <a:r>
              <a:rPr lang="en-US" dirty="0"/>
              <a:t> </a:t>
            </a:r>
            <a:r>
              <a:rPr lang="en-US" err="1"/>
              <a:t>válasszuk</a:t>
            </a:r>
            <a:r>
              <a:rPr lang="en-US" dirty="0"/>
              <a:t>?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SOAP:</a:t>
            </a:r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Ha </a:t>
            </a:r>
            <a:r>
              <a:rPr lang="en-US" err="1"/>
              <a:t>komplex</a:t>
            </a:r>
            <a:r>
              <a:rPr lang="en-US" dirty="0"/>
              <a:t> </a:t>
            </a:r>
            <a:r>
              <a:rPr lang="en-US" err="1"/>
              <a:t>tranzakciókra</a:t>
            </a:r>
            <a:r>
              <a:rPr lang="en-US" dirty="0"/>
              <a:t>, </a:t>
            </a:r>
            <a:r>
              <a:rPr lang="en-US" err="1"/>
              <a:t>szigorú</a:t>
            </a:r>
            <a:r>
              <a:rPr lang="en-US" dirty="0"/>
              <a:t> </a:t>
            </a:r>
            <a:r>
              <a:rPr lang="en-US" err="1"/>
              <a:t>biztonsági</a:t>
            </a:r>
            <a:r>
              <a:rPr lang="en-US" dirty="0"/>
              <a:t> </a:t>
            </a:r>
            <a:r>
              <a:rPr lang="en-US" err="1"/>
              <a:t>követelményekre</a:t>
            </a:r>
            <a:r>
              <a:rPr lang="en-US" dirty="0"/>
              <a:t> van </a:t>
            </a:r>
            <a:r>
              <a:rPr lang="en-US" err="1"/>
              <a:t>szükség</a:t>
            </a:r>
            <a:r>
              <a:rPr lang="en-US" dirty="0"/>
              <a:t>, </a:t>
            </a:r>
            <a:r>
              <a:rPr lang="en-US" err="1"/>
              <a:t>vagy</a:t>
            </a:r>
            <a:r>
              <a:rPr lang="en-US" dirty="0"/>
              <a:t> ha </a:t>
            </a:r>
            <a:r>
              <a:rPr lang="en-US" err="1"/>
              <a:t>integrálni</a:t>
            </a:r>
            <a:r>
              <a:rPr lang="en-US" dirty="0"/>
              <a:t> </a:t>
            </a:r>
            <a:r>
              <a:rPr lang="en-US" err="1"/>
              <a:t>kell</a:t>
            </a:r>
            <a:r>
              <a:rPr lang="en-US" dirty="0"/>
              <a:t> </a:t>
            </a:r>
            <a:r>
              <a:rPr lang="en-US" err="1"/>
              <a:t>meglévő</a:t>
            </a:r>
            <a:r>
              <a:rPr lang="en-US" dirty="0"/>
              <a:t> </a:t>
            </a:r>
            <a:r>
              <a:rPr lang="en-US" err="1"/>
              <a:t>vállalati</a:t>
            </a:r>
            <a:r>
              <a:rPr lang="en-US" dirty="0"/>
              <a:t> </a:t>
            </a:r>
            <a:r>
              <a:rPr lang="en-US" err="1"/>
              <a:t>rendszerekkel</a:t>
            </a:r>
            <a:r>
              <a:rPr lang="en-US" dirty="0"/>
              <a:t>. 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REST:</a:t>
            </a:r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Ha </a:t>
            </a:r>
            <a:r>
              <a:rPr lang="en-US" err="1"/>
              <a:t>könnyű</a:t>
            </a:r>
            <a:r>
              <a:rPr lang="en-US" dirty="0"/>
              <a:t>, </a:t>
            </a:r>
            <a:r>
              <a:rPr lang="en-US" err="1"/>
              <a:t>gyors</a:t>
            </a:r>
            <a:r>
              <a:rPr lang="en-US" dirty="0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nagy</a:t>
            </a:r>
            <a:r>
              <a:rPr lang="en-US"/>
              <a:t> </a:t>
            </a:r>
            <a:r>
              <a:rPr lang="en-US" err="1"/>
              <a:t>mértékben</a:t>
            </a:r>
            <a:r>
              <a:rPr lang="en-US"/>
              <a:t> </a:t>
            </a:r>
            <a:r>
              <a:rPr lang="en-US" err="1"/>
              <a:t>skálázható</a:t>
            </a:r>
            <a:r>
              <a:rPr lang="en-US"/>
              <a:t> </a:t>
            </a:r>
            <a:r>
              <a:rPr lang="en-US" err="1"/>
              <a:t>szolgáltatásokra</a:t>
            </a:r>
            <a:r>
              <a:rPr lang="en-US"/>
              <a:t> van </a:t>
            </a:r>
            <a:r>
              <a:rPr lang="en-US" err="1"/>
              <a:t>szükség</a:t>
            </a:r>
            <a:r>
              <a:rPr lang="en-US"/>
              <a:t>, </a:t>
            </a:r>
            <a:r>
              <a:rPr lang="en-US" err="1"/>
              <a:t>különösen</a:t>
            </a:r>
            <a:r>
              <a:rPr lang="en-US"/>
              <a:t> </a:t>
            </a:r>
            <a:r>
              <a:rPr lang="en-US" err="1"/>
              <a:t>mobilalkalmazásokhoz</a:t>
            </a:r>
            <a:r>
              <a:rPr lang="en-US"/>
              <a:t> </a:t>
            </a:r>
            <a:r>
              <a:rPr lang="en-US" err="1"/>
              <a:t>vagy</a:t>
            </a:r>
            <a:r>
              <a:rPr lang="en-US" dirty="0"/>
              <a:t> </a:t>
            </a:r>
            <a:r>
              <a:rPr lang="en-US" err="1"/>
              <a:t>nyilvános</a:t>
            </a:r>
            <a:r>
              <a:rPr lang="en-US" dirty="0"/>
              <a:t> API-</a:t>
            </a:r>
            <a:r>
              <a:rPr lang="en-US" err="1"/>
              <a:t>khoz</a:t>
            </a:r>
            <a:r>
              <a:rPr lang="en-US" dirty="0"/>
              <a:t>. 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56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 dirty="0"/>
              <a:t>Modell (Model):</a:t>
            </a:r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Ez a </a:t>
            </a:r>
            <a:r>
              <a:rPr lang="en-US" err="1"/>
              <a:t>rész</a:t>
            </a:r>
            <a:r>
              <a:rPr lang="en-US" dirty="0"/>
              <a:t> </a:t>
            </a:r>
            <a:r>
              <a:rPr lang="en-US" err="1"/>
              <a:t>tartalmazza</a:t>
            </a:r>
            <a:r>
              <a:rPr lang="en-US" dirty="0"/>
              <a:t> </a:t>
            </a:r>
            <a:r>
              <a:rPr lang="en-US" err="1"/>
              <a:t>az</a:t>
            </a:r>
            <a:r>
              <a:rPr lang="en-US" dirty="0"/>
              <a:t> </a:t>
            </a:r>
            <a:r>
              <a:rPr lang="en-US" err="1"/>
              <a:t>alkalmazás</a:t>
            </a:r>
            <a:r>
              <a:rPr lang="en-US" dirty="0"/>
              <a:t> </a:t>
            </a:r>
            <a:r>
              <a:rPr lang="en-US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adatkezelési logikáját</a:t>
            </a:r>
            <a:r>
              <a:rPr lang="en-US" dirty="0"/>
              <a:t> </a:t>
            </a:r>
            <a:r>
              <a:rPr lang="en-US" err="1"/>
              <a:t>és</a:t>
            </a:r>
            <a:r>
              <a:rPr lang="en-US" dirty="0"/>
              <a:t> </a:t>
            </a:r>
            <a:r>
              <a:rPr lang="en-US" err="1"/>
              <a:t>az</a:t>
            </a:r>
            <a:r>
              <a:rPr lang="en-US" dirty="0"/>
              <a:t> </a:t>
            </a:r>
            <a:r>
              <a:rPr lang="en-US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üzleti logikát</a:t>
            </a:r>
            <a:r>
              <a:rPr lang="en-US" dirty="0"/>
              <a:t>. </a:t>
            </a:r>
            <a:r>
              <a:rPr lang="en-US" err="1"/>
              <a:t>Kezeli</a:t>
            </a:r>
            <a:r>
              <a:rPr lang="en-US" dirty="0"/>
              <a:t> </a:t>
            </a:r>
            <a:r>
              <a:rPr lang="en-US" err="1"/>
              <a:t>az</a:t>
            </a:r>
            <a:r>
              <a:rPr lang="en-US" dirty="0"/>
              <a:t> </a:t>
            </a:r>
            <a:r>
              <a:rPr lang="en-US" err="1"/>
              <a:t>adatok</a:t>
            </a:r>
            <a:r>
              <a:rPr lang="en-US" dirty="0"/>
              <a:t> </a:t>
            </a:r>
            <a:r>
              <a:rPr lang="en-US" err="1"/>
              <a:t>lekérését</a:t>
            </a:r>
            <a:r>
              <a:rPr lang="en-US" dirty="0"/>
              <a:t> </a:t>
            </a:r>
            <a:r>
              <a:rPr lang="en-US" err="1"/>
              <a:t>és</a:t>
            </a:r>
            <a:r>
              <a:rPr lang="en-US" dirty="0"/>
              <a:t> </a:t>
            </a:r>
            <a:r>
              <a:rPr lang="en-US" err="1"/>
              <a:t>tárolását</a:t>
            </a:r>
            <a:r>
              <a:rPr lang="en-US" dirty="0"/>
              <a:t>, </a:t>
            </a:r>
            <a:r>
              <a:rPr lang="en-US" err="1"/>
              <a:t>így</a:t>
            </a:r>
            <a:r>
              <a:rPr lang="en-US" dirty="0"/>
              <a:t> </a:t>
            </a:r>
            <a:r>
              <a:rPr lang="en-US" err="1"/>
              <a:t>az</a:t>
            </a:r>
            <a:r>
              <a:rPr lang="en-US" dirty="0"/>
              <a:t> </a:t>
            </a:r>
            <a:r>
              <a:rPr lang="en-US" err="1"/>
              <a:t>adatok</a:t>
            </a:r>
            <a:r>
              <a:rPr lang="en-US" dirty="0"/>
              <a:t> </a:t>
            </a:r>
            <a:r>
              <a:rPr lang="en-US" err="1"/>
              <a:t>és</a:t>
            </a:r>
            <a:r>
              <a:rPr lang="en-US" dirty="0"/>
              <a:t> </a:t>
            </a:r>
            <a:r>
              <a:rPr lang="en-US" err="1"/>
              <a:t>az</a:t>
            </a:r>
            <a:r>
              <a:rPr lang="en-US" dirty="0"/>
              <a:t> </a:t>
            </a:r>
            <a:r>
              <a:rPr lang="en-US" err="1"/>
              <a:t>alkalmazás</a:t>
            </a:r>
            <a:r>
              <a:rPr lang="en-US" dirty="0"/>
              <a:t> </a:t>
            </a:r>
            <a:r>
              <a:rPr lang="en-US" err="1"/>
              <a:t>logikája</a:t>
            </a:r>
            <a:r>
              <a:rPr lang="en-US" dirty="0"/>
              <a:t> </a:t>
            </a:r>
            <a:r>
              <a:rPr lang="en-US" err="1"/>
              <a:t>elválik</a:t>
            </a:r>
            <a:r>
              <a:rPr lang="en-US" dirty="0"/>
              <a:t> a </a:t>
            </a:r>
            <a:r>
              <a:rPr lang="en-US" err="1"/>
              <a:t>megjelenítéstől</a:t>
            </a:r>
            <a:r>
              <a:rPr lang="en-US" dirty="0"/>
              <a:t>. </a:t>
            </a:r>
            <a:endParaRPr lang="en-HU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/>
              <a:t>Nézet (View):</a:t>
            </a:r>
            <a:r>
              <a:rPr lang="en-US" dirty="0"/>
              <a:t> </a:t>
            </a:r>
            <a:endParaRPr lang="en-HU" dirty="0">
              <a:ea typeface="Calibri"/>
              <a:cs typeface="Calibri"/>
            </a:endParaRPr>
          </a:p>
          <a:p>
            <a:r>
              <a:rPr lang="en-US" dirty="0" err="1"/>
              <a:t>Felelős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elé</a:t>
            </a:r>
            <a:r>
              <a:rPr lang="en-US" dirty="0"/>
              <a:t> </a:t>
            </a:r>
            <a:r>
              <a:rPr lang="en-US" dirty="0" err="1"/>
              <a:t>tárásáért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interakciók</a:t>
            </a:r>
            <a:r>
              <a:rPr lang="en-US" dirty="0"/>
              <a:t> </a:t>
            </a:r>
            <a:r>
              <a:rPr lang="en-US" dirty="0" err="1"/>
              <a:t>fogadásáért</a:t>
            </a:r>
            <a:r>
              <a:rPr lang="en-US" dirty="0"/>
              <a:t>. </a:t>
            </a:r>
            <a:r>
              <a:rPr lang="en-US" dirty="0" err="1"/>
              <a:t>Például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táblázat</a:t>
            </a:r>
            <a:r>
              <a:rPr lang="en-US" dirty="0"/>
              <a:t>, </a:t>
            </a:r>
            <a:r>
              <a:rPr lang="en-US" dirty="0" err="1"/>
              <a:t>kördiagram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grafikus</a:t>
            </a:r>
            <a:r>
              <a:rPr lang="en-US" dirty="0"/>
              <a:t> forma </a:t>
            </a:r>
            <a:r>
              <a:rPr lang="en-US" dirty="0" err="1"/>
              <a:t>egy-egy</a:t>
            </a:r>
            <a:r>
              <a:rPr lang="en-US" dirty="0"/>
              <a:t> </a:t>
            </a:r>
            <a:r>
              <a:rPr lang="en-US" dirty="0" err="1"/>
              <a:t>nézet</a:t>
            </a:r>
            <a:r>
              <a:rPr lang="en-US" dirty="0"/>
              <a:t>. </a:t>
            </a:r>
            <a:endParaRPr lang="en-HU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err="1"/>
              <a:t>Vezérlő</a:t>
            </a:r>
            <a:r>
              <a:rPr lang="en-US" b="1" dirty="0"/>
              <a:t> (Controller):</a:t>
            </a:r>
            <a:r>
              <a:rPr lang="en-US" dirty="0"/>
              <a:t> </a:t>
            </a:r>
            <a:endParaRPr lang="en-HU" dirty="0">
              <a:ea typeface="Calibri"/>
              <a:cs typeface="Calibri"/>
            </a:endParaRPr>
          </a:p>
          <a:p>
            <a:r>
              <a:rPr lang="en-US" dirty="0"/>
              <a:t>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összetevő</a:t>
            </a:r>
            <a:r>
              <a:rPr lang="en-US" dirty="0"/>
              <a:t> a </a:t>
            </a:r>
            <a:r>
              <a:rPr lang="en-US" dirty="0" err="1"/>
              <a:t>híd</a:t>
            </a:r>
            <a:r>
              <a:rPr lang="en-US" dirty="0"/>
              <a:t> a Modell </a:t>
            </a:r>
            <a:r>
              <a:rPr lang="en-US" dirty="0" err="1"/>
              <a:t>és</a:t>
            </a:r>
            <a:r>
              <a:rPr lang="en-US" dirty="0"/>
              <a:t> a Nézet </a:t>
            </a:r>
            <a:r>
              <a:rPr lang="en-US" dirty="0" err="1"/>
              <a:t>között</a:t>
            </a:r>
            <a:r>
              <a:rPr lang="en-US" dirty="0"/>
              <a:t>. </a:t>
            </a:r>
            <a:r>
              <a:rPr lang="en-US" dirty="0" err="1"/>
              <a:t>Fogadja</a:t>
            </a:r>
            <a:r>
              <a:rPr lang="en-US" dirty="0"/>
              <a:t> 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műveleteit</a:t>
            </a:r>
            <a:r>
              <a:rPr lang="en-US" dirty="0"/>
              <a:t> (pl. </a:t>
            </a:r>
            <a:r>
              <a:rPr lang="en-US" dirty="0" err="1"/>
              <a:t>gombnyomás</a:t>
            </a:r>
            <a:r>
              <a:rPr lang="en-US" dirty="0"/>
              <a:t>, </a:t>
            </a:r>
            <a:r>
              <a:rPr lang="en-US" dirty="0" err="1"/>
              <a:t>kattintás</a:t>
            </a:r>
            <a:r>
              <a:rPr lang="en-US" dirty="0"/>
              <a:t>)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alapján</a:t>
            </a:r>
            <a:r>
              <a:rPr lang="en-US" dirty="0"/>
              <a:t> </a:t>
            </a:r>
            <a:r>
              <a:rPr lang="en-US" dirty="0" err="1"/>
              <a:t>módosítja</a:t>
            </a:r>
            <a:r>
              <a:rPr lang="en-US" dirty="0"/>
              <a:t> a Modell </a:t>
            </a:r>
            <a:r>
              <a:rPr lang="en-US" dirty="0" err="1"/>
              <a:t>adatait</a:t>
            </a:r>
            <a:r>
              <a:rPr lang="en-US" dirty="0"/>
              <a:t>, </a:t>
            </a:r>
            <a:r>
              <a:rPr lang="en-US" dirty="0" err="1"/>
              <a:t>majd</a:t>
            </a:r>
            <a:r>
              <a:rPr lang="en-US" dirty="0"/>
              <a:t> a </a:t>
            </a:r>
            <a:r>
              <a:rPr lang="en-US" dirty="0" err="1"/>
              <a:t>Nézetet</a:t>
            </a:r>
            <a:r>
              <a:rPr lang="en-US" dirty="0"/>
              <a:t> is </a:t>
            </a:r>
            <a:r>
              <a:rPr lang="en-US" dirty="0" err="1"/>
              <a:t>frissíti</a:t>
            </a:r>
            <a:r>
              <a:rPr lang="en-US" dirty="0"/>
              <a:t>. </a:t>
            </a:r>
            <a:endParaRPr lang="en-HU" dirty="0">
              <a:ea typeface="Calibri"/>
              <a:cs typeface="Calibri"/>
            </a:endParaRPr>
          </a:p>
          <a:p>
            <a:endParaRPr lang="en-HU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46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37" y="0"/>
            <a:ext cx="3810000" cy="51435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333937" y="0"/>
            <a:ext cx="3810000" cy="51435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2767227" y="2306574"/>
            <a:ext cx="5143500" cy="530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7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31466" y="3843769"/>
            <a:ext cx="1945326" cy="399456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0"/>
            <a:ext cx="3810000" cy="5143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Please add cover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73801" y="0"/>
            <a:ext cx="53035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 userDrawn="1"/>
        </p:nvSpPr>
        <p:spPr>
          <a:xfrm>
            <a:off x="421400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8EE12364-1E27-A547-AEBD-24B950240B57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264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 userDrawn="1"/>
        </p:nvSpPr>
        <p:spPr>
          <a:xfrm>
            <a:off x="1307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4904571B-903D-6741-88C6-E4A76A07C191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787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8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2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800600" y="1079500"/>
            <a:ext cx="3986213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7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422400"/>
            <a:ext cx="8429625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1079500"/>
            <a:ext cx="8429625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7" y="1079500"/>
            <a:ext cx="3993359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1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3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2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8" y="1092491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710972" y="1092491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one title here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4120134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57188" y="1698020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57188" y="2303549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2909078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357188" y="3514607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710972" y="1697608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TWO title here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710972" y="2302725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THREE title here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710972" y="2907842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710972" y="3512959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And delete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710972" y="4118077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The extras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8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673894" y="1780394"/>
            <a:ext cx="3986211" cy="2696355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73893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3893" y="1437495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Please put title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33999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6228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406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PLEASE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15867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480321" y="1780394"/>
            <a:ext cx="3993357" cy="2696355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80321" y="1079500"/>
            <a:ext cx="3986213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Please put name here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 userDrawn="1"/>
        </p:nvSpPr>
        <p:spPr>
          <a:xfrm>
            <a:off x="894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2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PLEASE INSERT PHOTO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480321" y="1437495"/>
            <a:ext cx="399354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Please put title here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8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 userDrawn="1">
          <p15:clr>
            <a:srgbClr val="FBAE40"/>
          </p15:clr>
        </p15:guide>
        <p15:guide id="2" orient="horz" pos="15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5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9" y="1079500"/>
            <a:ext cx="3986214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03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Color Canv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1127175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  <p:sp>
        <p:nvSpPr>
          <p:cNvPr id="5" name="Title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735751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4" name="Title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31463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1127175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5735751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3431463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77371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latin typeface="+mj-lt"/>
              </a:defRPr>
            </a:lvl2pPr>
            <a:lvl3pPr marL="914400" indent="0">
              <a:buNone/>
              <a:defRPr sz="16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1600" baseline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1600" baseline="0">
                <a:solidFill>
                  <a:schemeClr val="bg1"/>
                </a:solidFill>
                <a:latin typeface="+mj-lt"/>
              </a:rPr>
            </a:br>
            <a:r>
              <a:rPr lang="en-US" sz="1600" baseline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convallis. </a:t>
            </a:r>
            <a:endParaRPr lang="en-US" sz="1600" b="1" spc="200" baseline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66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3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40C60-A39E-8442-A520-BA092303AC98}"/>
              </a:ext>
            </a:extLst>
          </p:cNvPr>
          <p:cNvCxnSpPr/>
          <p:nvPr userDrawn="1"/>
        </p:nvCxnSpPr>
        <p:spPr>
          <a:xfrm flipV="1">
            <a:off x="5986464" y="703218"/>
            <a:ext cx="0" cy="4123421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1FF28FE-B84E-5D44-B6A6-4B55087B1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11726"/>
            <a:ext cx="5986464" cy="4089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" name="Shape 920">
            <a:extLst>
              <a:ext uri="{FF2B5EF4-FFF2-40B4-BE49-F238E27FC236}">
                <a16:creationId xmlns:a16="http://schemas.microsoft.com/office/drawing/2014/main" id="{D1A5E50C-7A92-6F49-870C-2507B203D755}"/>
              </a:ext>
            </a:extLst>
          </p:cNvPr>
          <p:cNvSpPr/>
          <p:nvPr userDrawn="1"/>
        </p:nvSpPr>
        <p:spPr>
          <a:xfrm>
            <a:off x="5986464" y="711726"/>
            <a:ext cx="3157536" cy="51859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28575" rIns="0" bIns="28575" anchor="ctr">
            <a:noAutofit/>
          </a:bodyPr>
          <a:lstStyle/>
          <a:p>
            <a:pPr marR="23813" indent="23813" algn="ctr" defTabSz="309567">
              <a:lnSpc>
                <a:spcPct val="90000"/>
              </a:lnSpc>
              <a:defRPr sz="2800" cap="all">
                <a:solidFill>
                  <a:srgbClr val="FFFFFF"/>
                </a:solidFill>
                <a:latin typeface="Oswald DemiBold"/>
                <a:ea typeface="Oswald DemiBold"/>
                <a:cs typeface="Oswald DemiBold"/>
                <a:sym typeface="Oswald DemiBold"/>
              </a:defRPr>
            </a:pPr>
            <a:endParaRPr sz="1200" b="1" kern="0" cap="all" spc="1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Oswald DemiBold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86B7237-6AD3-844E-9A6E-C3E0C1013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462" y="769496"/>
            <a:ext cx="3157537" cy="438912"/>
          </a:xfrm>
          <a:noFill/>
          <a:ln>
            <a:noFill/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28E10-B013-0A4C-A50C-6D1D6CFD70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93213" y="1772289"/>
            <a:ext cx="2656378" cy="30543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BD56F5B-8455-0345-910E-53CDD8476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3213" y="1429389"/>
            <a:ext cx="2656378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</p:spTree>
    <p:extLst>
      <p:ext uri="{BB962C8B-B14F-4D97-AF65-F5344CB8AC3E}">
        <p14:creationId xmlns:p14="http://schemas.microsoft.com/office/powerpoint/2010/main" val="1511893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2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860875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Brigh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0461953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Lim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625251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Cor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2165456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latin typeface="+mj-lt"/>
              </a:defRPr>
            </a:lvl2pPr>
            <a:lvl3pPr marL="914400" indent="0">
              <a:buNone/>
              <a:defRPr sz="16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1600" baseline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1600" baseline="0">
                <a:solidFill>
                  <a:schemeClr val="bg1"/>
                </a:solidFill>
                <a:latin typeface="+mj-lt"/>
              </a:rPr>
            </a:br>
            <a:r>
              <a:rPr lang="en-US" sz="1600" baseline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convallis. </a:t>
            </a:r>
            <a:endParaRPr lang="en-US" sz="1600" b="1" spc="200" baseline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9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5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31466" y="1412416"/>
            <a:ext cx="4315968" cy="14219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625596" y="3843769"/>
            <a:ext cx="1945326" cy="39945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200" b="1" cap="all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0" r:id="rId2"/>
    <p:sldLayoutId id="2147483696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600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rgbClr val="133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4" y="1079500"/>
            <a:ext cx="8426449" cy="339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lvl="1"/>
            <a:r>
              <a:rPr lang="en-US"/>
              <a:t>Second</a:t>
            </a:r>
          </a:p>
          <a:p>
            <a:pPr lvl="2"/>
            <a:r>
              <a:rPr lang="en-US"/>
              <a:t>third</a:t>
            </a:r>
          </a:p>
          <a:p>
            <a:pPr lvl="3"/>
            <a:r>
              <a:rPr lang="en-US"/>
              <a:t>fourth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/>
          <a:p>
            <a:r>
              <a:rPr lang="en-US"/>
              <a:t>Please Add Slide Headline Here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8E00D-81AB-8847-9E12-0981E03F6A7D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410390A6-CD46-CA4C-A887-B8E618C4C14B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735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1" r:id="rId3"/>
    <p:sldLayoutId id="2147483682" r:id="rId4"/>
    <p:sldLayoutId id="2147483685" r:id="rId5"/>
    <p:sldLayoutId id="2147483686" r:id="rId6"/>
    <p:sldLayoutId id="2147483687" r:id="rId7"/>
    <p:sldLayoutId id="2147483692" r:id="rId8"/>
    <p:sldLayoutId id="2147483688" r:id="rId9"/>
    <p:sldLayoutId id="2147483689" r:id="rId10"/>
    <p:sldLayoutId id="2147483684" r:id="rId11"/>
    <p:sldLayoutId id="2147483695" r:id="rId12"/>
    <p:sldLayoutId id="2147483694" r:id="rId13"/>
    <p:sldLayoutId id="2147483690" r:id="rId14"/>
    <p:sldLayoutId id="2147483697" r:id="rId15"/>
    <p:sldLayoutId id="2147483691" r:id="rId1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ts val="1600"/>
        </a:lnSpc>
        <a:spcBef>
          <a:spcPts val="264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orient="horz" pos="338" userDrawn="1">
          <p15:clr>
            <a:srgbClr val="F26B43"/>
          </p15:clr>
        </p15:guide>
        <p15:guide id="3" orient="horz" pos="680" userDrawn="1">
          <p15:clr>
            <a:srgbClr val="F26B43"/>
          </p15:clr>
        </p15:guide>
        <p15:guide id="4" orient="horz" pos="2820" userDrawn="1">
          <p15:clr>
            <a:srgbClr val="F26B43"/>
          </p15:clr>
        </p15:guide>
        <p15:guide id="5" pos="226" userDrawn="1">
          <p15:clr>
            <a:srgbClr val="F26B43"/>
          </p15:clr>
        </p15:guide>
        <p15:guide id="6" pos="5535" userDrawn="1">
          <p15:clr>
            <a:srgbClr val="F26B43"/>
          </p15:clr>
        </p15:guide>
        <p15:guide id="7" orient="horz" pos="896" userDrawn="1">
          <p15:clr>
            <a:srgbClr val="F26B43"/>
          </p15:clr>
        </p15:guide>
        <p15:guide id="8" pos="2736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orient="horz" pos="3036" userDrawn="1">
          <p15:clr>
            <a:srgbClr val="F26B43"/>
          </p15:clr>
        </p15:guide>
        <p15:guide id="11" orient="horz" pos="3084" userDrawn="1">
          <p15:clr>
            <a:srgbClr val="F26B43"/>
          </p15:clr>
        </p15:guide>
        <p15:guide id="12" orient="horz" pos="31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0954" y="1803228"/>
            <a:ext cx="5582093" cy="12201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endParaRPr lang="en-US" sz="4400" b="1" spc="20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32217A-8F11-8743-849F-F8E866BEB919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6BD4558A-67CF-DF4C-ACA6-93D878EA1C18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86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9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imevideotech.com/video-streaming/scaling-up-the-prime-video-audio-video-monitoring-service-and-reducing-costs-by-90" TargetMode="Externa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Fundamentals of Software Architecture</a:t>
            </a:r>
            <a:endParaRPr lang="en-US" sz="3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1466" y="4001535"/>
            <a:ext cx="4315968" cy="313932"/>
          </a:xfrm>
        </p:spPr>
        <p:txBody>
          <a:bodyPr/>
          <a:lstStyle/>
          <a:p>
            <a:r>
              <a:rPr lang="en-US" dirty="0" err="1"/>
              <a:t>Radócz</a:t>
            </a:r>
            <a:r>
              <a:rPr lang="en-US" dirty="0"/>
              <a:t> Balázs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D212A-E369-CB46-BE9C-0744152A0BAF}"/>
              </a:ext>
            </a:extLst>
          </p:cNvPr>
          <p:cNvSpPr txBox="1"/>
          <p:nvPr/>
        </p:nvSpPr>
        <p:spPr>
          <a:xfrm>
            <a:off x="433143" y="4867516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C2C2A205-363F-3A4F-9468-14B73647696B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319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Agenda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/>
              <a:t>1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Introduction</a:t>
            </a:r>
            <a:endParaRPr lang="en-US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/>
              <a:t>2</a:t>
            </a: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hu-HU"/>
              <a:t>3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hu-HU"/>
              <a:t>4</a:t>
            </a:r>
            <a:endParaRPr lang="en-US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Thinking Architecturally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A Design Process: A Brief Introduction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Broad Architectural Patterns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C89A-3E1B-FF47-B76F-3E8ED7756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3" name="Picture Placeholder 12" descr="A view of a city&#10;&#10;Description automatically generated">
            <a:extLst>
              <a:ext uri="{FF2B5EF4-FFF2-40B4-BE49-F238E27FC236}">
                <a16:creationId xmlns:a16="http://schemas.microsoft.com/office/drawing/2014/main" id="{CEC8F43C-1922-4E78-9BBA-89F7E2503DB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6" r="203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6821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err="1"/>
              <a:t>Reminder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914400"/>
            <a:ext cx="8426448" cy="3540154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u-HU" sz="2800" b="1" dirty="0" err="1">
                <a:latin typeface="+mn-lt"/>
              </a:rPr>
              <a:t>Assessment</a:t>
            </a:r>
            <a:r>
              <a:rPr lang="hu-HU" sz="2800" b="1" dirty="0">
                <a:latin typeface="+mn-lt"/>
              </a:rPr>
              <a:t> – </a:t>
            </a:r>
            <a:r>
              <a:rPr lang="hu-HU" sz="2800" dirty="0" err="1">
                <a:latin typeface="+mn-lt"/>
              </a:rPr>
              <a:t>details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will</a:t>
            </a:r>
            <a:r>
              <a:rPr lang="hu-HU" sz="2800" dirty="0">
                <a:latin typeface="+mn-lt"/>
              </a:rPr>
              <a:t> be </a:t>
            </a:r>
            <a:r>
              <a:rPr lang="hu-HU" sz="2800" dirty="0" err="1">
                <a:latin typeface="+mn-lt"/>
              </a:rPr>
              <a:t>available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on</a:t>
            </a:r>
            <a:r>
              <a:rPr lang="hu-HU" sz="2800" dirty="0">
                <a:latin typeface="+mn-lt"/>
              </a:rPr>
              <a:t> e-</a:t>
            </a:r>
            <a:r>
              <a:rPr lang="hu-HU" sz="2800" dirty="0" err="1">
                <a:latin typeface="+mn-lt"/>
              </a:rPr>
              <a:t>learning</a:t>
            </a:r>
            <a:r>
              <a:rPr lang="hu-HU" sz="2800" dirty="0">
                <a:latin typeface="+mn-lt"/>
              </a:rPr>
              <a:t>. </a:t>
            </a:r>
            <a:r>
              <a:rPr lang="hu-HU" sz="2800" dirty="0" err="1">
                <a:latin typeface="+mn-lt"/>
              </a:rPr>
              <a:t>Expected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on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October</a:t>
            </a:r>
            <a:r>
              <a:rPr lang="hu-HU" sz="2800" dirty="0">
                <a:latin typeface="+mn-lt"/>
              </a:rPr>
              <a:t> 27 – </a:t>
            </a:r>
            <a:r>
              <a:rPr lang="hu-HU" sz="2800" dirty="0" err="1">
                <a:latin typeface="+mn-lt"/>
              </a:rPr>
              <a:t>based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on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first</a:t>
            </a:r>
            <a:r>
              <a:rPr lang="hu-HU" sz="2800" dirty="0">
                <a:latin typeface="+mn-lt"/>
              </a:rPr>
              <a:t> 6 </a:t>
            </a:r>
            <a:r>
              <a:rPr lang="hu-HU" sz="2800" dirty="0" err="1">
                <a:latin typeface="+mn-lt"/>
              </a:rPr>
              <a:t>weeks</a:t>
            </a:r>
            <a:r>
              <a:rPr lang="hu-HU" sz="2800" dirty="0">
                <a:latin typeface="+mn-lt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u-HU" sz="2800" dirty="0" err="1">
                <a:latin typeface="+mn-lt"/>
              </a:rPr>
              <a:t>Only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based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on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lecture</a:t>
            </a:r>
            <a:r>
              <a:rPr lang="hu-HU" sz="2800" dirty="0">
                <a:latin typeface="+mn-lt"/>
              </a:rPr>
              <a:t> </a:t>
            </a:r>
            <a:r>
              <a:rPr lang="hu-HU" sz="2800" dirty="0" err="1">
                <a:latin typeface="+mn-lt"/>
              </a:rPr>
              <a:t>material</a:t>
            </a:r>
            <a:r>
              <a:rPr lang="hu-HU" sz="2800" dirty="0">
                <a:latin typeface="+mn-lt"/>
              </a:rPr>
              <a:t>.</a:t>
            </a:r>
            <a:endParaRPr lang="hu-HU" sz="2800" dirty="0">
              <a:latin typeface="+mn-lt"/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1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9CE0-968C-B448-8D24-7597D3F80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533967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hu-HU" sz="1800"/>
              <a:t>Describes a person</a:t>
            </a:r>
          </a:p>
          <a:p>
            <a:pPr>
              <a:lnSpc>
                <a:spcPct val="100000"/>
              </a:lnSpc>
            </a:pPr>
            <a:r>
              <a:rPr lang="hu-HU" sz="1800"/>
              <a:t>Architects design things (complete systems)</a:t>
            </a:r>
          </a:p>
          <a:p>
            <a:pPr lvl="1">
              <a:lnSpc>
                <a:spcPct val="100000"/>
              </a:lnSpc>
            </a:pPr>
            <a:r>
              <a:rPr lang="hu-HU" sz="1800"/>
              <a:t>Without every details (fill the implementation)</a:t>
            </a:r>
          </a:p>
          <a:p>
            <a:pPr lvl="1">
              <a:lnSpc>
                <a:spcPct val="100000"/>
              </a:lnSpc>
            </a:pPr>
            <a:r>
              <a:rPr lang="hu-HU" sz="1800"/>
              <a:t>The focus is on the structure</a:t>
            </a:r>
          </a:p>
          <a:p>
            <a:pPr lvl="1">
              <a:lnSpc>
                <a:spcPct val="100000"/>
              </a:lnSpc>
            </a:pPr>
            <a:endParaRPr lang="en-US" sz="18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sz="1800"/>
              <a:t>Architect (noun)</a:t>
            </a:r>
            <a:endParaRPr lang="en-US" sz="1800"/>
          </a:p>
        </p:txBody>
      </p:sp>
      <p:pic>
        <p:nvPicPr>
          <p:cNvPr id="7" name="Picture Placeholder 6" descr="A close up of graphics&#10;&#10;Description automatically generated">
            <a:extLst>
              <a:ext uri="{FF2B5EF4-FFF2-40B4-BE49-F238E27FC236}">
                <a16:creationId xmlns:a16="http://schemas.microsoft.com/office/drawing/2014/main" id="{C7E1C5BC-7757-44BF-8E0C-44F4F9EA02E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sz="1800"/>
              <a:t>Designer of complete systems</a:t>
            </a: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71C0-F829-7149-B81C-0B9C21F15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4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480321" y="1422400"/>
            <a:ext cx="3993357" cy="305434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hu-HU" sz="1800" err="1"/>
              <a:t>Make</a:t>
            </a:r>
            <a:r>
              <a:rPr lang="hu-HU" sz="1800"/>
              <a:t> </a:t>
            </a:r>
            <a:r>
              <a:rPr lang="hu-HU" sz="1800" err="1"/>
              <a:t>architecture</a:t>
            </a:r>
            <a:r>
              <a:rPr lang="hu-HU" sz="1800"/>
              <a:t> decisions.</a:t>
            </a:r>
          </a:p>
          <a:p>
            <a:pPr>
              <a:lnSpc>
                <a:spcPct val="100000"/>
              </a:lnSpc>
            </a:pPr>
            <a:r>
              <a:rPr lang="hu-HU" sz="1800" err="1"/>
              <a:t>Continually</a:t>
            </a:r>
            <a:r>
              <a:rPr lang="hu-HU" sz="1800"/>
              <a:t> </a:t>
            </a:r>
            <a:r>
              <a:rPr lang="hu-HU" sz="1800" err="1"/>
              <a:t>analyze</a:t>
            </a:r>
            <a:r>
              <a:rPr lang="hu-HU" sz="1800"/>
              <a:t> </a:t>
            </a:r>
            <a:r>
              <a:rPr lang="hu-HU" sz="1800" err="1"/>
              <a:t>the</a:t>
            </a:r>
            <a:r>
              <a:rPr lang="hu-HU" sz="1800"/>
              <a:t> </a:t>
            </a:r>
            <a:r>
              <a:rPr lang="hu-HU" sz="1800" err="1"/>
              <a:t>architecture</a:t>
            </a:r>
            <a:r>
              <a:rPr lang="hu-HU" sz="1800"/>
              <a:t>.</a:t>
            </a:r>
          </a:p>
          <a:p>
            <a:pPr>
              <a:lnSpc>
                <a:spcPct val="100000"/>
              </a:lnSpc>
            </a:pPr>
            <a:r>
              <a:rPr lang="hu-HU" sz="1800" err="1"/>
              <a:t>Keep</a:t>
            </a:r>
            <a:r>
              <a:rPr lang="hu-HU" sz="1800"/>
              <a:t> </a:t>
            </a:r>
            <a:r>
              <a:rPr lang="hu-HU" sz="1800" err="1"/>
              <a:t>current</a:t>
            </a:r>
            <a:r>
              <a:rPr lang="hu-HU" sz="1800"/>
              <a:t> </a:t>
            </a:r>
            <a:r>
              <a:rPr lang="hu-HU" sz="1800" err="1"/>
              <a:t>with</a:t>
            </a:r>
            <a:r>
              <a:rPr lang="hu-HU" sz="1800"/>
              <a:t> latest trends.</a:t>
            </a:r>
          </a:p>
          <a:p>
            <a:pPr>
              <a:lnSpc>
                <a:spcPct val="100000"/>
              </a:lnSpc>
            </a:pPr>
            <a:r>
              <a:rPr lang="hu-HU" sz="1800" err="1"/>
              <a:t>Ensure</a:t>
            </a:r>
            <a:r>
              <a:rPr lang="hu-HU" sz="1800"/>
              <a:t> </a:t>
            </a:r>
            <a:r>
              <a:rPr lang="hu-HU" sz="1800" err="1"/>
              <a:t>compliance</a:t>
            </a:r>
            <a:r>
              <a:rPr lang="hu-HU" sz="1800"/>
              <a:t> </a:t>
            </a:r>
            <a:r>
              <a:rPr lang="hu-HU" sz="1800" err="1"/>
              <a:t>with</a:t>
            </a:r>
            <a:r>
              <a:rPr lang="hu-HU" sz="1800"/>
              <a:t> decisions.</a:t>
            </a:r>
          </a:p>
          <a:p>
            <a:pPr>
              <a:lnSpc>
                <a:spcPct val="100000"/>
              </a:lnSpc>
            </a:pPr>
            <a:r>
              <a:rPr lang="hu-HU" sz="1800" err="1"/>
              <a:t>Diverse</a:t>
            </a:r>
            <a:r>
              <a:rPr lang="hu-HU" sz="1800"/>
              <a:t> </a:t>
            </a:r>
            <a:r>
              <a:rPr lang="hu-HU" sz="1800" err="1"/>
              <a:t>exposure</a:t>
            </a:r>
            <a:r>
              <a:rPr lang="hu-HU" sz="1800"/>
              <a:t> and </a:t>
            </a:r>
            <a:r>
              <a:rPr lang="hu-HU" sz="1800" err="1"/>
              <a:t>experience</a:t>
            </a:r>
            <a:r>
              <a:rPr lang="hu-HU" sz="1800"/>
              <a:t>.</a:t>
            </a:r>
          </a:p>
          <a:p>
            <a:pPr>
              <a:lnSpc>
                <a:spcPct val="100000"/>
              </a:lnSpc>
            </a:pPr>
            <a:r>
              <a:rPr lang="hu-HU" sz="1800" err="1"/>
              <a:t>Have</a:t>
            </a:r>
            <a:r>
              <a:rPr lang="hu-HU" sz="1800"/>
              <a:t> business </a:t>
            </a:r>
            <a:r>
              <a:rPr lang="hu-HU" sz="1800" err="1"/>
              <a:t>domain</a:t>
            </a:r>
            <a:r>
              <a:rPr lang="hu-HU" sz="1800"/>
              <a:t> </a:t>
            </a:r>
            <a:r>
              <a:rPr lang="hu-HU" sz="1800" err="1"/>
              <a:t>knowledge</a:t>
            </a:r>
            <a:r>
              <a:rPr lang="hu-HU" sz="1800"/>
              <a:t>.</a:t>
            </a:r>
          </a:p>
          <a:p>
            <a:pPr>
              <a:lnSpc>
                <a:spcPct val="100000"/>
              </a:lnSpc>
            </a:pPr>
            <a:r>
              <a:rPr lang="hu-HU" sz="1800" err="1"/>
              <a:t>Possess</a:t>
            </a:r>
            <a:r>
              <a:rPr lang="hu-HU" sz="1800"/>
              <a:t> </a:t>
            </a:r>
            <a:r>
              <a:rPr lang="hu-HU" sz="1800" err="1"/>
              <a:t>interpersonal</a:t>
            </a:r>
            <a:r>
              <a:rPr lang="hu-HU" sz="1800"/>
              <a:t> </a:t>
            </a:r>
            <a:r>
              <a:rPr lang="hu-HU" sz="1800" err="1"/>
              <a:t>skills</a:t>
            </a:r>
            <a:r>
              <a:rPr lang="hu-HU" sz="1800"/>
              <a:t>.</a:t>
            </a:r>
          </a:p>
          <a:p>
            <a:pPr>
              <a:lnSpc>
                <a:spcPct val="100000"/>
              </a:lnSpc>
            </a:pPr>
            <a:r>
              <a:rPr lang="hu-HU" sz="1800" err="1"/>
              <a:t>Understand</a:t>
            </a:r>
            <a:r>
              <a:rPr lang="hu-HU" sz="1800"/>
              <a:t> and </a:t>
            </a:r>
            <a:r>
              <a:rPr lang="hu-HU" sz="1800" err="1"/>
              <a:t>navigate</a:t>
            </a:r>
            <a:r>
              <a:rPr lang="hu-HU" sz="1800"/>
              <a:t> </a:t>
            </a:r>
            <a:r>
              <a:rPr lang="hu-HU" sz="1800" err="1"/>
              <a:t>politics</a:t>
            </a:r>
            <a:r>
              <a:rPr lang="hu-HU" sz="180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sz="1600" err="1"/>
              <a:t>Architect</a:t>
            </a:r>
            <a:r>
              <a:rPr lang="hu-HU" sz="1600"/>
              <a:t> </a:t>
            </a:r>
            <a:r>
              <a:rPr lang="hu-HU" sz="1600" err="1"/>
              <a:t>Expectations</a:t>
            </a:r>
            <a:endParaRPr lang="en-US" sz="1600"/>
          </a:p>
        </p:txBody>
      </p:sp>
      <p:pic>
        <p:nvPicPr>
          <p:cNvPr id="7" name="Picture Placeholder 6" descr="A close up of graphics&#10;&#10;Description automatically generated">
            <a:extLst>
              <a:ext uri="{FF2B5EF4-FFF2-40B4-BE49-F238E27FC236}">
                <a16:creationId xmlns:a16="http://schemas.microsoft.com/office/drawing/2014/main" id="{C7E1C5BC-7757-44BF-8E0C-44F4F9EA02E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71C0-F829-7149-B81C-0B9C21F15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66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Architect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hu-HU" sz="1200"/>
              <a:t>Architectures describe entire structures, systems in software with a purpuse</a:t>
            </a:r>
          </a:p>
          <a:p>
            <a:pPr>
              <a:lnSpc>
                <a:spcPct val="100000"/>
              </a:lnSpc>
            </a:pPr>
            <a:r>
              <a:rPr lang="hu-HU" sz="1200"/>
              <a:t>Effective architectures reflect the needs of the customer and the domain or business</a:t>
            </a:r>
          </a:p>
          <a:p>
            <a:pPr lvl="1">
              <a:lnSpc>
                <a:spcPct val="100000"/>
              </a:lnSpc>
            </a:pPr>
            <a:r>
              <a:rPr lang="hu-HU" sz="1200"/>
              <a:t>Computer systems solve real word problems</a:t>
            </a:r>
          </a:p>
          <a:p>
            <a:pPr lvl="1">
              <a:lnSpc>
                <a:spcPct val="100000"/>
              </a:lnSpc>
            </a:pPr>
            <a:r>
              <a:rPr lang="hu-HU" sz="1200"/>
              <a:t>The best arcthitectures reflect the structure of that real world</a:t>
            </a:r>
          </a:p>
          <a:p>
            <a:pPr>
              <a:lnSpc>
                <a:spcPct val="100000"/>
              </a:lnSpc>
            </a:pPr>
            <a:r>
              <a:rPr lang="hu-HU" sz="1200"/>
              <a:t>Never start with the implementation step like</a:t>
            </a:r>
          </a:p>
          <a:p>
            <a:pPr lvl="1">
              <a:lnSpc>
                <a:spcPct val="100000"/>
              </a:lnSpc>
            </a:pPr>
            <a:r>
              <a:rPr lang="hu-HU" sz="1200"/>
              <a:t>Programing language</a:t>
            </a:r>
          </a:p>
          <a:p>
            <a:pPr lvl="1">
              <a:lnSpc>
                <a:spcPct val="100000"/>
              </a:lnSpc>
            </a:pPr>
            <a:r>
              <a:rPr lang="hu-HU" sz="1200"/>
              <a:t>Database server</a:t>
            </a:r>
          </a:p>
          <a:p>
            <a:pPr>
              <a:lnSpc>
                <a:spcPct val="100000"/>
              </a:lnSpc>
            </a:pPr>
            <a:r>
              <a:rPr lang="hu-HU" sz="1200"/>
              <a:t>Start with the user problem and then figure out the best way to solve it</a:t>
            </a:r>
          </a:p>
          <a:p>
            <a:pPr>
              <a:lnSpc>
                <a:spcPct val="100000"/>
              </a:lnSpc>
            </a:pPr>
            <a:r>
              <a:rPr lang="hu-HU" sz="1200"/>
              <a:t>The implementation technology comes last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27CB5-094D-B940-A7AF-F67F1ED37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B7A8923-6352-4C83-9690-DE197221A9B6}"/>
              </a:ext>
            </a:extLst>
          </p:cNvPr>
          <p:cNvSpPr txBox="1">
            <a:spLocks/>
          </p:cNvSpPr>
          <p:nvPr/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defPPr>
              <a:defRPr lang="en-US"/>
            </a:defPPr>
            <a:lvl1pPr marL="0" algn="r" defTabSz="685800" rtl="0" eaLnBrk="1" latinLnBrk="0" hangingPunct="1">
              <a:defRPr sz="800" b="1" i="0" kern="1200">
                <a:solidFill>
                  <a:srgbClr val="FEFEFE"/>
                </a:solidFill>
                <a:latin typeface="+mj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707DD9-E92B-45E8-BE0A-E6B2EDF345E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86604-F3DD-461A-BC61-0B7966731B70}"/>
              </a:ext>
            </a:extLst>
          </p:cNvPr>
          <p:cNvSpPr txBox="1"/>
          <p:nvPr/>
        </p:nvSpPr>
        <p:spPr>
          <a:xfrm>
            <a:off x="6151428" y="766081"/>
            <a:ext cx="14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800"/>
              <a:t>User problem</a:t>
            </a:r>
            <a:endParaRPr lang="en-US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FDCC55-FD47-40AF-9911-B689A7318E61}"/>
              </a:ext>
            </a:extLst>
          </p:cNvPr>
          <p:cNvSpPr txBox="1"/>
          <p:nvPr/>
        </p:nvSpPr>
        <p:spPr>
          <a:xfrm>
            <a:off x="6037678" y="4457307"/>
            <a:ext cx="169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800"/>
              <a:t>Implementation</a:t>
            </a:r>
            <a:endParaRPr lang="en-US" sz="18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52DBC3-B609-4B0A-8051-C7D4085FAAE3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6883904" y="1135413"/>
            <a:ext cx="1" cy="332189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C6416F-3245-44E0-9F4D-257A582BC6F7}"/>
              </a:ext>
            </a:extLst>
          </p:cNvPr>
          <p:cNvGrpSpPr/>
          <p:nvPr/>
        </p:nvGrpSpPr>
        <p:grpSpPr>
          <a:xfrm>
            <a:off x="7616381" y="1136793"/>
            <a:ext cx="1170432" cy="1527049"/>
            <a:chOff x="5396228" y="1095468"/>
            <a:chExt cx="1564478" cy="1971124"/>
          </a:xfrm>
        </p:grpSpPr>
        <p:pic>
          <p:nvPicPr>
            <p:cNvPr id="12" name="Picture 11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A12DA848-333B-4428-8ECF-AA02C0129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6228" y="1095468"/>
              <a:ext cx="1564478" cy="15108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162302-EFFC-4DA8-B122-71EAD5585084}"/>
                </a:ext>
              </a:extLst>
            </p:cNvPr>
            <p:cNvSpPr txBox="1"/>
            <p:nvPr/>
          </p:nvSpPr>
          <p:spPr>
            <a:xfrm>
              <a:off x="5524257" y="2679083"/>
              <a:ext cx="1271751" cy="387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/>
                <a:t>Customer</a:t>
              </a:r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3322CE5-D9D8-4DF2-9B9A-A81CA2DAB598}"/>
              </a:ext>
            </a:extLst>
          </p:cNvPr>
          <p:cNvGrpSpPr/>
          <p:nvPr/>
        </p:nvGrpSpPr>
        <p:grpSpPr>
          <a:xfrm>
            <a:off x="4982182" y="1135413"/>
            <a:ext cx="1169246" cy="1528429"/>
            <a:chOff x="1698415" y="1095469"/>
            <a:chExt cx="1563134" cy="2030300"/>
          </a:xfrm>
        </p:grpSpPr>
        <p:pic>
          <p:nvPicPr>
            <p:cNvPr id="15" name="Picture 14" descr="A close up of graphics&#10;&#10;Description automatically generated">
              <a:extLst>
                <a:ext uri="{FF2B5EF4-FFF2-40B4-BE49-F238E27FC236}">
                  <a16:creationId xmlns:a16="http://schemas.microsoft.com/office/drawing/2014/main" id="{77E37D04-A97C-4D49-B14C-C05BED0FC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8415" y="1095469"/>
              <a:ext cx="1563134" cy="155317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06098E-61C5-4E30-A260-7261C25C1845}"/>
                </a:ext>
              </a:extLst>
            </p:cNvPr>
            <p:cNvSpPr txBox="1"/>
            <p:nvPr/>
          </p:nvSpPr>
          <p:spPr>
            <a:xfrm>
              <a:off x="1822084" y="2727153"/>
              <a:ext cx="1280474" cy="398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/>
                <a:t>Arcthitect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851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19753E-6 L -5.55556E-7 0.358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9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Architect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Conceive</a:t>
            </a:r>
            <a:r>
              <a:rPr lang="hu-HU"/>
              <a:t>s the perfect design</a:t>
            </a:r>
          </a:p>
          <a:p>
            <a:r>
              <a:rPr lang="hu-HU"/>
              <a:t>Spends months or years producing big up-front design</a:t>
            </a:r>
          </a:p>
          <a:p>
            <a:r>
              <a:rPr lang="hu-HU"/>
              <a:t>Drawbacks</a:t>
            </a:r>
          </a:p>
          <a:p>
            <a:pPr lvl="1"/>
            <a:r>
              <a:rPr lang="hu-HU"/>
              <a:t>Big and complex designs</a:t>
            </a:r>
          </a:p>
          <a:p>
            <a:pPr lvl="2"/>
            <a:r>
              <a:rPr lang="hu-HU"/>
              <a:t>Code is written after design</a:t>
            </a:r>
          </a:p>
          <a:p>
            <a:pPr lvl="2"/>
            <a:r>
              <a:rPr lang="hu-HU"/>
              <a:t>Doesn’t capture the users’s true needs</a:t>
            </a:r>
          </a:p>
          <a:p>
            <a:pPr lvl="2"/>
            <a:r>
              <a:rPr lang="hu-HU"/>
              <a:t>Doesn’t allow for learning</a:t>
            </a:r>
          </a:p>
          <a:p>
            <a:pPr lvl="1"/>
            <a:r>
              <a:rPr lang="hu-HU"/>
              <a:t>Lack of flexibility</a:t>
            </a:r>
          </a:p>
          <a:p>
            <a:pPr lvl="2"/>
            <a:r>
              <a:rPr lang="hu-HU"/>
              <a:t>Painful bureaucratic processes</a:t>
            </a:r>
          </a:p>
          <a:p>
            <a:pPr lvl="2"/>
            <a:r>
              <a:rPr lang="hu-HU"/>
              <a:t>Not following the design</a:t>
            </a:r>
          </a:p>
          <a:p>
            <a:pPr lvl="2"/>
            <a:r>
              <a:rPr lang="hu-HU"/>
              <a:t>Random improvisation</a:t>
            </a:r>
          </a:p>
          <a:p>
            <a:pPr lvl="1"/>
            <a:r>
              <a:rPr lang="hu-HU"/>
              <a:t>Slow development process</a:t>
            </a:r>
          </a:p>
          <a:p>
            <a:pPr lvl="2"/>
            <a:r>
              <a:rPr lang="hu-HU"/>
              <a:t>Centralized architect-making decisions</a:t>
            </a:r>
          </a:p>
          <a:p>
            <a:pPr lvl="1"/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/>
              <a:t>Traditional (waterfall organization)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hu-HU"/>
              <a:t>Doesn’t want to settle on a particular design too soon</a:t>
            </a:r>
          </a:p>
          <a:p>
            <a:pPr lvl="1"/>
            <a:r>
              <a:rPr lang="hu-HU"/>
              <a:t>You’ll learn about the problems as you solve them</a:t>
            </a:r>
          </a:p>
          <a:p>
            <a:r>
              <a:rPr lang="hu-HU"/>
              <a:t>Instead of it</a:t>
            </a:r>
          </a:p>
          <a:p>
            <a:pPr lvl="1"/>
            <a:r>
              <a:rPr lang="hu-HU"/>
              <a:t>Build very small things</a:t>
            </a:r>
          </a:p>
          <a:p>
            <a:pPr lvl="1"/>
            <a:r>
              <a:rPr lang="hu-HU"/>
              <a:t>Release them constantly</a:t>
            </a:r>
          </a:p>
          <a:p>
            <a:pPr lvl="1"/>
            <a:r>
              <a:rPr lang="hu-HU"/>
              <a:t>Evolve based on feedback</a:t>
            </a:r>
          </a:p>
          <a:p>
            <a:r>
              <a:rPr lang="hu-HU"/>
              <a:t>Prefers incremental design</a:t>
            </a:r>
          </a:p>
          <a:p>
            <a:r>
              <a:rPr lang="hu-HU"/>
              <a:t>Notion of experimentation</a:t>
            </a:r>
          </a:p>
          <a:p>
            <a:pPr lvl="1"/>
            <a:r>
              <a:rPr lang="hu-HU"/>
              <a:t>If you are not sure, run an experiment</a:t>
            </a:r>
          </a:p>
          <a:p>
            <a:pPr lvl="1"/>
            <a:r>
              <a:rPr lang="hu-HU"/>
              <a:t>If experiment succeeds, adopt</a:t>
            </a:r>
          </a:p>
          <a:p>
            <a:pPr lvl="1"/>
            <a:r>
              <a:rPr lang="hu-HU"/>
              <a:t>If it doesn’t throw the code and the architectute</a:t>
            </a:r>
          </a:p>
          <a:p>
            <a:r>
              <a:rPr lang="hu-HU"/>
              <a:t>Looks at rebuilding as less costly than building the wrong thing</a:t>
            </a:r>
          </a:p>
          <a:p>
            <a:r>
              <a:rPr lang="hu-HU"/>
              <a:t>Part of the team: teaching, coaching, coordinating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Modern (agile)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845A9-188B-8049-BCF6-C7A00D112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The software development cycle</a:t>
            </a:r>
            <a:endParaRPr lang="en-US" sz="2800"/>
          </a:p>
        </p:txBody>
      </p:sp>
      <p:pic>
        <p:nvPicPr>
          <p:cNvPr id="5" name="Picture 2" descr="https://g83jp346tayu3vege2q0y5tb-wpengine.netdna-ssl.com/wp-content/uploads/2016/03/627x627-SftwareDev-Feature-HUSS.jpg">
            <a:extLst>
              <a:ext uri="{FF2B5EF4-FFF2-40B4-BE49-F238E27FC236}">
                <a16:creationId xmlns:a16="http://schemas.microsoft.com/office/drawing/2014/main" id="{9400A94B-6F46-4DB3-9423-39B2D6913F1C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673" y="764201"/>
            <a:ext cx="4028653" cy="402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49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E242FE-397E-B24B-9BF6-C1D241790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1800"/>
              <a:t>“In most successful software projects, the expert developers</a:t>
            </a:r>
          </a:p>
          <a:p>
            <a:pPr>
              <a:lnSpc>
                <a:spcPct val="100000"/>
              </a:lnSpc>
            </a:pPr>
            <a:r>
              <a:rPr lang="en-US" sz="1800"/>
              <a:t>working on that project have a shared understanding of the</a:t>
            </a:r>
          </a:p>
          <a:p>
            <a:pPr>
              <a:lnSpc>
                <a:spcPct val="100000"/>
              </a:lnSpc>
            </a:pPr>
            <a:r>
              <a:rPr lang="en-US" sz="1800"/>
              <a:t>system design. This shared understanding is called</a:t>
            </a:r>
          </a:p>
          <a:p>
            <a:pPr>
              <a:lnSpc>
                <a:spcPct val="100000"/>
              </a:lnSpc>
            </a:pPr>
            <a:r>
              <a:rPr lang="en-US" sz="1800"/>
              <a:t>‘architecture.’ This understanding includes how the system is</a:t>
            </a:r>
          </a:p>
          <a:p>
            <a:pPr>
              <a:lnSpc>
                <a:spcPct val="100000"/>
              </a:lnSpc>
            </a:pPr>
            <a:r>
              <a:rPr lang="en-US" sz="1800"/>
              <a:t>divided into components and how the components interact</a:t>
            </a:r>
          </a:p>
          <a:p>
            <a:pPr>
              <a:lnSpc>
                <a:spcPct val="100000"/>
              </a:lnSpc>
            </a:pPr>
            <a:r>
              <a:rPr lang="en-US" sz="1800"/>
              <a:t>through interfaces. These components are usually</a:t>
            </a:r>
          </a:p>
          <a:p>
            <a:pPr>
              <a:lnSpc>
                <a:spcPct val="100000"/>
              </a:lnSpc>
            </a:pPr>
            <a:r>
              <a:rPr lang="en-US" sz="1800"/>
              <a:t>composed of smaller components, but the architecture only</a:t>
            </a:r>
          </a:p>
          <a:p>
            <a:pPr>
              <a:lnSpc>
                <a:spcPct val="100000"/>
              </a:lnSpc>
            </a:pPr>
            <a:r>
              <a:rPr lang="en-US" sz="1800"/>
              <a:t>includes the components and interfaces that are understood</a:t>
            </a:r>
          </a:p>
          <a:p>
            <a:pPr>
              <a:lnSpc>
                <a:spcPct val="100000"/>
              </a:lnSpc>
            </a:pPr>
            <a:r>
              <a:rPr lang="en-US" sz="1800"/>
              <a:t>by all the developers.”</a:t>
            </a:r>
            <a:r>
              <a:rPr lang="hu-HU" sz="1800"/>
              <a:t> - </a:t>
            </a:r>
            <a:r>
              <a:rPr lang="en-US" sz="1800"/>
              <a:t>Martin Fowler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CD8A-D8EB-5F48-A66F-EC4909EEB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16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E242FE-397E-B24B-9BF6-C1D241790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hu-HU" sz="2400"/>
              <a:t>„</a:t>
            </a:r>
            <a:r>
              <a:rPr lang="en-US" sz="2400"/>
              <a:t>Architecture is about the important stuff.</a:t>
            </a:r>
          </a:p>
          <a:p>
            <a:pPr>
              <a:lnSpc>
                <a:spcPct val="100000"/>
              </a:lnSpc>
            </a:pPr>
            <a:r>
              <a:rPr lang="en-US" sz="2400"/>
              <a:t>Whatever that is.</a:t>
            </a:r>
            <a:r>
              <a:rPr lang="hu-HU" sz="2400"/>
              <a:t>” - </a:t>
            </a:r>
            <a:r>
              <a:rPr lang="en-US" sz="2400"/>
              <a:t>Martin Fowler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CD8A-D8EB-5F48-A66F-EC4909EEB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57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768F-F993-7240-87D5-4D4251D9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Thinking Architecturally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916042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E242FE-397E-B24B-9BF6-C1D241790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hu-HU" sz="2400"/>
              <a:t>„Any organization that design a system will inevitably produce a design whose structure is a copy of the organization’s communication structure.” – Mel Conway</a:t>
            </a:r>
            <a:endParaRPr lang="en-US"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CD8A-D8EB-5F48-A66F-EC4909EEB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09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E242FE-397E-B24B-9BF6-C1D241790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16412" y="1984362"/>
            <a:ext cx="5911175" cy="5873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hu-HU" sz="2400"/>
              <a:t>„</a:t>
            </a:r>
            <a:r>
              <a:rPr lang="hu-HU" sz="2400" err="1"/>
              <a:t>Everything</a:t>
            </a:r>
            <a:r>
              <a:rPr lang="hu-HU" sz="2400"/>
              <a:t> in software </a:t>
            </a:r>
            <a:r>
              <a:rPr lang="hu-HU" sz="2400" err="1"/>
              <a:t>architecture</a:t>
            </a:r>
            <a:r>
              <a:rPr lang="hu-HU" sz="2400"/>
              <a:t> is a trade-</a:t>
            </a:r>
            <a:r>
              <a:rPr lang="hu-HU" sz="2400" err="1"/>
              <a:t>off</a:t>
            </a:r>
            <a:r>
              <a:rPr lang="hu-HU" sz="2400"/>
              <a:t>” – </a:t>
            </a:r>
            <a:r>
              <a:rPr lang="hu-HU" sz="2400" err="1"/>
              <a:t>First</a:t>
            </a:r>
            <a:r>
              <a:rPr lang="hu-HU" sz="2400"/>
              <a:t> Law of Software </a:t>
            </a:r>
            <a:r>
              <a:rPr lang="hu-HU" sz="2400" err="1"/>
              <a:t>Architecture</a:t>
            </a:r>
            <a:endParaRPr lang="en-US"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CD8A-D8EB-5F48-A66F-EC4909EEB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20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E242FE-397E-B24B-9BF6-C1D241790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hu-HU" sz="2400"/>
              <a:t>„</a:t>
            </a:r>
            <a:r>
              <a:rPr lang="hu-HU" sz="2400" err="1"/>
              <a:t>Why</a:t>
            </a:r>
            <a:r>
              <a:rPr lang="hu-HU" sz="2400"/>
              <a:t> is more </a:t>
            </a:r>
            <a:r>
              <a:rPr lang="hu-HU" sz="2400" err="1"/>
              <a:t>important</a:t>
            </a:r>
            <a:r>
              <a:rPr lang="hu-HU" sz="2400"/>
              <a:t> </a:t>
            </a:r>
            <a:r>
              <a:rPr lang="hu-HU" sz="2400" err="1"/>
              <a:t>than</a:t>
            </a:r>
            <a:r>
              <a:rPr lang="hu-HU" sz="2400"/>
              <a:t> </a:t>
            </a:r>
            <a:r>
              <a:rPr lang="hu-HU" sz="2400" err="1"/>
              <a:t>how</a:t>
            </a:r>
            <a:r>
              <a:rPr lang="hu-HU" sz="2400"/>
              <a:t>.” – </a:t>
            </a:r>
            <a:r>
              <a:rPr lang="hu-HU" sz="2400" err="1"/>
              <a:t>Second</a:t>
            </a:r>
            <a:r>
              <a:rPr lang="hu-HU" sz="2400"/>
              <a:t> Law of Software </a:t>
            </a:r>
            <a:r>
              <a:rPr lang="hu-HU" sz="2400" err="1"/>
              <a:t>Architecture</a:t>
            </a:r>
            <a:endParaRPr lang="en-US"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CD8A-D8EB-5F48-A66F-EC4909EEB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91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E242FE-397E-B24B-9BF6-C1D241790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9050" y="2105340"/>
            <a:ext cx="6365899" cy="5873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hu-HU" sz="2400" err="1"/>
              <a:t>Programmers</a:t>
            </a:r>
            <a:r>
              <a:rPr lang="hu-HU" sz="2400"/>
              <a:t> </a:t>
            </a:r>
            <a:r>
              <a:rPr lang="hu-HU" sz="2400" err="1"/>
              <a:t>know</a:t>
            </a:r>
            <a:r>
              <a:rPr lang="hu-HU" sz="2400"/>
              <a:t> </a:t>
            </a:r>
            <a:r>
              <a:rPr lang="hu-HU" sz="2400" err="1"/>
              <a:t>the</a:t>
            </a:r>
            <a:r>
              <a:rPr lang="hu-HU" sz="2400"/>
              <a:t> </a:t>
            </a:r>
            <a:r>
              <a:rPr lang="hu-HU" sz="2400" err="1"/>
              <a:t>benefits</a:t>
            </a:r>
            <a:r>
              <a:rPr lang="hu-HU" sz="2400"/>
              <a:t> of </a:t>
            </a:r>
            <a:r>
              <a:rPr lang="hu-HU" sz="2400" err="1"/>
              <a:t>everything</a:t>
            </a:r>
            <a:r>
              <a:rPr lang="hu-HU" sz="2400"/>
              <a:t> and </a:t>
            </a:r>
            <a:r>
              <a:rPr lang="hu-HU" sz="2400" err="1"/>
              <a:t>the</a:t>
            </a:r>
            <a:r>
              <a:rPr lang="hu-HU" sz="2400"/>
              <a:t> trade-</a:t>
            </a:r>
            <a:r>
              <a:rPr lang="hu-HU" sz="2400" err="1"/>
              <a:t>offs</a:t>
            </a:r>
            <a:r>
              <a:rPr lang="hu-HU" sz="2400"/>
              <a:t> of </a:t>
            </a:r>
            <a:r>
              <a:rPr lang="hu-HU" sz="2400" err="1"/>
              <a:t>nothing</a:t>
            </a:r>
            <a:r>
              <a:rPr lang="hu-HU" sz="2400"/>
              <a:t>. </a:t>
            </a:r>
            <a:r>
              <a:rPr lang="hu-HU" sz="2400" err="1"/>
              <a:t>Architects</a:t>
            </a:r>
            <a:r>
              <a:rPr lang="hu-HU" sz="2400"/>
              <a:t> </a:t>
            </a:r>
            <a:r>
              <a:rPr lang="hu-HU" sz="2400" err="1"/>
              <a:t>need</a:t>
            </a:r>
            <a:r>
              <a:rPr lang="hu-HU" sz="2400"/>
              <a:t> </a:t>
            </a:r>
            <a:r>
              <a:rPr lang="hu-HU" sz="2400" err="1"/>
              <a:t>to</a:t>
            </a:r>
            <a:r>
              <a:rPr lang="hu-HU" sz="2400"/>
              <a:t> </a:t>
            </a:r>
            <a:r>
              <a:rPr lang="hu-HU" sz="2400" err="1"/>
              <a:t>understand</a:t>
            </a:r>
            <a:r>
              <a:rPr lang="hu-HU" sz="2400"/>
              <a:t> </a:t>
            </a:r>
            <a:r>
              <a:rPr lang="hu-HU" sz="2400" err="1"/>
              <a:t>both</a:t>
            </a:r>
            <a:r>
              <a:rPr lang="hu-HU" sz="2400"/>
              <a:t>.” – Rich </a:t>
            </a:r>
            <a:r>
              <a:rPr lang="hu-HU" sz="2400" err="1"/>
              <a:t>Hickey</a:t>
            </a:r>
            <a:r>
              <a:rPr lang="hu-HU" sz="2400"/>
              <a:t> - </a:t>
            </a:r>
            <a:r>
              <a:rPr lang="hu-HU" sz="2400" err="1"/>
              <a:t>creator</a:t>
            </a:r>
            <a:r>
              <a:rPr lang="hu-HU" sz="2400"/>
              <a:t> of </a:t>
            </a:r>
            <a:r>
              <a:rPr lang="hu-HU" sz="2400" err="1"/>
              <a:t>Clojure</a:t>
            </a:r>
            <a:r>
              <a:rPr lang="hu-HU" sz="2400"/>
              <a:t> </a:t>
            </a:r>
            <a:r>
              <a:rPr lang="hu-HU" sz="2400" err="1"/>
              <a:t>programming</a:t>
            </a:r>
            <a:r>
              <a:rPr lang="hu-HU" sz="2400"/>
              <a:t> </a:t>
            </a:r>
            <a:r>
              <a:rPr lang="hu-HU" sz="2400" err="1"/>
              <a:t>language</a:t>
            </a:r>
            <a:endParaRPr lang="en-US"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5CD8A-D8EB-5F48-A66F-EC4909EEB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86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65113-8280-7544-819F-2943E62AB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DF3864-DD57-8040-9850-20A87FD6A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</p:spPr>
        <p:txBody>
          <a:bodyPr/>
          <a:lstStyle/>
          <a:p>
            <a:r>
              <a:rPr lang="hu-HU" sz="2800"/>
              <a:t>Siloed Organization</a:t>
            </a:r>
            <a:endParaRPr lang="en-US" sz="2800"/>
          </a:p>
        </p:txBody>
      </p:sp>
      <p:pic>
        <p:nvPicPr>
          <p:cNvPr id="7" name="Content Placeholder 6" descr="A picture containing hat, ottoman&#10;&#10;Description automatically generated">
            <a:extLst>
              <a:ext uri="{FF2B5EF4-FFF2-40B4-BE49-F238E27FC236}">
                <a16:creationId xmlns:a16="http://schemas.microsoft.com/office/drawing/2014/main" id="{FE1FCB94-4852-AA49-9EED-B85113E0E20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70" y="1789450"/>
            <a:ext cx="1828800" cy="1828800"/>
          </a:xfrm>
        </p:spPr>
      </p:pic>
      <p:pic>
        <p:nvPicPr>
          <p:cNvPr id="8" name="Picture 7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9FF20089-7907-CC47-B06D-99708E88E2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789450"/>
            <a:ext cx="1828800" cy="1828800"/>
          </a:xfrm>
          <a:prstGeom prst="rect">
            <a:avLst/>
          </a:prstGeom>
        </p:spPr>
      </p:pic>
      <p:pic>
        <p:nvPicPr>
          <p:cNvPr id="9" name="Picture 8" descr="A picture containing food, plate&#10;&#10;Description automatically generated">
            <a:extLst>
              <a:ext uri="{FF2B5EF4-FFF2-40B4-BE49-F238E27FC236}">
                <a16:creationId xmlns:a16="http://schemas.microsoft.com/office/drawing/2014/main" id="{4440AC96-AD65-0F44-955A-356927B844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630" y="1789450"/>
            <a:ext cx="1828800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328874-DF97-6A40-8B40-3E19553496BD}"/>
              </a:ext>
            </a:extLst>
          </p:cNvPr>
          <p:cNvSpPr txBox="1"/>
          <p:nvPr/>
        </p:nvSpPr>
        <p:spPr>
          <a:xfrm>
            <a:off x="1506926" y="1193007"/>
            <a:ext cx="5500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DBAs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C291B-578A-F246-9905-56D448C1B53F}"/>
              </a:ext>
            </a:extLst>
          </p:cNvPr>
          <p:cNvSpPr txBox="1"/>
          <p:nvPr/>
        </p:nvSpPr>
        <p:spPr>
          <a:xfrm>
            <a:off x="1154746" y="3914611"/>
            <a:ext cx="12544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Database Layer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5DEE7-DBC5-5541-9F46-A6E1343555AF}"/>
              </a:ext>
            </a:extLst>
          </p:cNvPr>
          <p:cNvSpPr txBox="1"/>
          <p:nvPr/>
        </p:nvSpPr>
        <p:spPr>
          <a:xfrm>
            <a:off x="4067823" y="1193007"/>
            <a:ext cx="10083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UI/UX team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A6FD4-898B-E24A-AEBE-051E74D0A6DE}"/>
              </a:ext>
            </a:extLst>
          </p:cNvPr>
          <p:cNvSpPr txBox="1"/>
          <p:nvPr/>
        </p:nvSpPr>
        <p:spPr>
          <a:xfrm>
            <a:off x="4195389" y="3914447"/>
            <a:ext cx="75322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UI Layer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7BA7D-D4FD-BA4F-935D-40A8C714E642}"/>
              </a:ext>
            </a:extLst>
          </p:cNvPr>
          <p:cNvSpPr txBox="1"/>
          <p:nvPr/>
        </p:nvSpPr>
        <p:spPr>
          <a:xfrm>
            <a:off x="6618236" y="1193007"/>
            <a:ext cx="14875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Business Specialist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9DFBE-6D6C-9B49-953B-0AF4551464FD}"/>
              </a:ext>
            </a:extLst>
          </p:cNvPr>
          <p:cNvSpPr txBox="1"/>
          <p:nvPr/>
        </p:nvSpPr>
        <p:spPr>
          <a:xfrm>
            <a:off x="6767956" y="3914447"/>
            <a:ext cx="11881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Business Logic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7D123B-1EA8-5D4D-B5B0-D898FB93D07F}"/>
              </a:ext>
            </a:extLst>
          </p:cNvPr>
          <p:cNvCxnSpPr/>
          <p:nvPr/>
        </p:nvCxnSpPr>
        <p:spPr>
          <a:xfrm>
            <a:off x="3143250" y="1107222"/>
            <a:ext cx="0" cy="319325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32562A-F7D5-E74B-8615-41559BCC6FE7}"/>
              </a:ext>
            </a:extLst>
          </p:cNvPr>
          <p:cNvCxnSpPr/>
          <p:nvPr/>
        </p:nvCxnSpPr>
        <p:spPr>
          <a:xfrm>
            <a:off x="6024562" y="1107222"/>
            <a:ext cx="0" cy="319325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083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106770" y="1780394"/>
            <a:ext cx="3993357" cy="2696355"/>
          </a:xfrm>
        </p:spPr>
        <p:txBody>
          <a:bodyPr/>
          <a:lstStyle/>
          <a:p>
            <a:pPr marL="0" indent="0">
              <a:buNone/>
            </a:pPr>
            <a:r>
              <a:rPr lang="hu-HU" sz="2000"/>
              <a:t>Instead of horizontal silos</a:t>
            </a:r>
          </a:p>
          <a:p>
            <a:r>
              <a:rPr lang="hu-HU" sz="2000"/>
              <a:t>Cross-functional teams</a:t>
            </a:r>
          </a:p>
          <a:p>
            <a:pPr lvl="1"/>
            <a:r>
              <a:rPr lang="hu-HU" sz="2000"/>
              <a:t>Have </a:t>
            </a:r>
            <a:r>
              <a:rPr lang="hu-HU" sz="2000" err="1"/>
              <a:t>all</a:t>
            </a:r>
            <a:r>
              <a:rPr lang="hu-HU" sz="2000"/>
              <a:t> </a:t>
            </a:r>
            <a:r>
              <a:rPr lang="hu-HU" sz="2000" err="1"/>
              <a:t>the</a:t>
            </a:r>
            <a:r>
              <a:rPr lang="hu-HU" sz="2000"/>
              <a:t> skills</a:t>
            </a:r>
          </a:p>
          <a:p>
            <a:pPr lvl="1"/>
            <a:r>
              <a:rPr lang="hu-HU" sz="2000"/>
              <a:t>Own complete vertical slice of the system</a:t>
            </a:r>
          </a:p>
          <a:p>
            <a:r>
              <a:rPr lang="hu-HU" sz="2000" err="1"/>
              <a:t>Move</a:t>
            </a:r>
            <a:r>
              <a:rPr lang="hu-HU" sz="2000"/>
              <a:t> to agile-friendly architectures</a:t>
            </a:r>
          </a:p>
          <a:p>
            <a:pPr lvl="1"/>
            <a:r>
              <a:rPr lang="hu-HU" sz="2000" err="1"/>
              <a:t>Lets</a:t>
            </a:r>
            <a:r>
              <a:rPr lang="hu-HU" sz="2000"/>
              <a:t> the team work faster</a:t>
            </a:r>
          </a:p>
          <a:p>
            <a:endParaRPr lang="hu-HU" sz="2000"/>
          </a:p>
          <a:p>
            <a:endParaRPr lang="hu-HU" sz="2000"/>
          </a:p>
          <a:p>
            <a:pPr lvl="1"/>
            <a:endParaRPr lang="en-US" sz="20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106585" y="1087604"/>
            <a:ext cx="3986213" cy="342900"/>
          </a:xfrm>
        </p:spPr>
        <p:txBody>
          <a:bodyPr/>
          <a:lstStyle/>
          <a:p>
            <a:r>
              <a:rPr lang="hu-HU" sz="2000"/>
              <a:t>Conway’s Law</a:t>
            </a:r>
            <a:endParaRPr lang="en-US" sz="200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106585" y="1437494"/>
            <a:ext cx="3993542" cy="342900"/>
          </a:xfrm>
        </p:spPr>
        <p:txBody>
          <a:bodyPr/>
          <a:lstStyle/>
          <a:p>
            <a:r>
              <a:rPr lang="hu-HU" sz="1200"/>
              <a:t>Change the structure of the organization to match agile methods.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71C0-F829-7149-B81C-0B9C21F15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4" name="Picture Placeholder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B00F8A21-14D3-45C4-A45D-4011E46B707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08" t="-14764" r="-6873" b="-8139"/>
          <a:stretch/>
        </p:blipFill>
        <p:spPr>
          <a:xfrm>
            <a:off x="818146" y="1335504"/>
            <a:ext cx="2033337" cy="2045369"/>
          </a:xfrm>
        </p:spPr>
      </p:pic>
    </p:spTree>
    <p:extLst>
      <p:ext uri="{BB962C8B-B14F-4D97-AF65-F5344CB8AC3E}">
        <p14:creationId xmlns:p14="http://schemas.microsoft.com/office/powerpoint/2010/main" val="257116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Incremental vs. big up-front design</a:t>
            </a:r>
            <a:endParaRPr lang="en-US" sz="280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 sz="1800"/>
              <a:t>Big Up-Front Design (BUFD)</a:t>
            </a:r>
            <a:endParaRPr lang="en-US" sz="18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5150641" y="1075577"/>
            <a:ext cx="3993359" cy="342900"/>
          </a:xfrm>
        </p:spPr>
        <p:txBody>
          <a:bodyPr/>
          <a:lstStyle/>
          <a:p>
            <a:r>
              <a:rPr lang="hu-HU" sz="1800"/>
              <a:t>Agile Incremental Design</a:t>
            </a:r>
            <a:endParaRPr lang="en-US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845A9-188B-8049-BCF6-C7A00D112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CDEB9E-ADB8-416B-BA5B-2615898E9A3A}"/>
              </a:ext>
            </a:extLst>
          </p:cNvPr>
          <p:cNvGrpSpPr/>
          <p:nvPr/>
        </p:nvGrpSpPr>
        <p:grpSpPr>
          <a:xfrm>
            <a:off x="357563" y="1568311"/>
            <a:ext cx="2478506" cy="2307430"/>
            <a:chOff x="1111041" y="1864895"/>
            <a:chExt cx="2478506" cy="230743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E7F2AFC-AED6-42CB-B31C-88E2F71D46CD}"/>
                </a:ext>
              </a:extLst>
            </p:cNvPr>
            <p:cNvSpPr/>
            <p:nvPr/>
          </p:nvSpPr>
          <p:spPr>
            <a:xfrm>
              <a:off x="1111041" y="1864895"/>
              <a:ext cx="2478506" cy="6136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User interface</a:t>
              </a:r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174CF53-04E2-4BC6-B1E4-70AB7BCB7497}"/>
                </a:ext>
              </a:extLst>
            </p:cNvPr>
            <p:cNvSpPr/>
            <p:nvPr/>
          </p:nvSpPr>
          <p:spPr>
            <a:xfrm>
              <a:off x="1111041" y="2717382"/>
              <a:ext cx="2478506" cy="61361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Business logic</a:t>
              </a:r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0728274-7DB9-4394-A175-B6555192DD23}"/>
                </a:ext>
              </a:extLst>
            </p:cNvPr>
            <p:cNvSpPr/>
            <p:nvPr/>
          </p:nvSpPr>
          <p:spPr>
            <a:xfrm>
              <a:off x="1111041" y="3558715"/>
              <a:ext cx="2478506" cy="61361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Database</a:t>
              </a:r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866750-CBA2-4D5E-92C3-D5AAEECF6316}"/>
              </a:ext>
            </a:extLst>
          </p:cNvPr>
          <p:cNvGrpSpPr/>
          <p:nvPr/>
        </p:nvGrpSpPr>
        <p:grpSpPr>
          <a:xfrm>
            <a:off x="5150641" y="1537915"/>
            <a:ext cx="2478506" cy="2307430"/>
            <a:chOff x="1111041" y="1864895"/>
            <a:chExt cx="2478506" cy="230743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8296B67-BF66-45A0-8F7D-321AD01EDBB2}"/>
                </a:ext>
              </a:extLst>
            </p:cNvPr>
            <p:cNvSpPr/>
            <p:nvPr/>
          </p:nvSpPr>
          <p:spPr>
            <a:xfrm>
              <a:off x="1111041" y="1864895"/>
              <a:ext cx="2478506" cy="6136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Customer</a:t>
              </a:r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A130E03-93B7-4E3F-9ABA-7A25B315EED9}"/>
                </a:ext>
              </a:extLst>
            </p:cNvPr>
            <p:cNvSpPr/>
            <p:nvPr/>
          </p:nvSpPr>
          <p:spPr>
            <a:xfrm>
              <a:off x="1111041" y="2717382"/>
              <a:ext cx="2478506" cy="61361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Stories</a:t>
              </a:r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91C4A94-6439-49BD-82CF-8DE0ABECD73D}"/>
                </a:ext>
              </a:extLst>
            </p:cNvPr>
            <p:cNvSpPr/>
            <p:nvPr/>
          </p:nvSpPr>
          <p:spPr>
            <a:xfrm>
              <a:off x="1111041" y="3558715"/>
              <a:ext cx="2478506" cy="61361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Technology</a:t>
              </a:r>
              <a:endParaRPr lang="en-US"/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0F651D-5B4A-4F30-B54F-74A2DBE0EF6E}"/>
              </a:ext>
            </a:extLst>
          </p:cNvPr>
          <p:cNvCxnSpPr/>
          <p:nvPr/>
        </p:nvCxnSpPr>
        <p:spPr>
          <a:xfrm flipV="1">
            <a:off x="2998274" y="1624433"/>
            <a:ext cx="0" cy="2220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216AE7-9030-4F45-9301-59064BF9C2E9}"/>
              </a:ext>
            </a:extLst>
          </p:cNvPr>
          <p:cNvCxnSpPr/>
          <p:nvPr/>
        </p:nvCxnSpPr>
        <p:spPr>
          <a:xfrm>
            <a:off x="4998244" y="1619110"/>
            <a:ext cx="0" cy="2256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330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Domain-</a:t>
            </a:r>
            <a:r>
              <a:rPr lang="hu-HU" sz="2800" err="1"/>
              <a:t>Driven</a:t>
            </a:r>
            <a:r>
              <a:rPr lang="hu-HU" sz="2800"/>
              <a:t> Design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6179288" cy="3032154"/>
          </a:xfrm>
        </p:spPr>
        <p:txBody>
          <a:bodyPr/>
          <a:lstStyle/>
          <a:p>
            <a:r>
              <a:rPr lang="hu-HU" sz="1400"/>
              <a:t>DDD-based systems are rarely N-Tiered systems because tiers are technical things (they don’t model any part of the domain)</a:t>
            </a:r>
          </a:p>
          <a:p>
            <a:r>
              <a:rPr lang="hu-HU" sz="1400"/>
              <a:t>Unique architectures to solve unique problems</a:t>
            </a:r>
          </a:p>
          <a:p>
            <a:r>
              <a:rPr lang="hu-HU" sz="1400"/>
              <a:t>The modules reflect the business, not the implementation technology</a:t>
            </a:r>
          </a:p>
          <a:p>
            <a:r>
              <a:rPr lang="hu-HU" sz="1400"/>
              <a:t>Subsystems might use completely different implementation technologies</a:t>
            </a:r>
          </a:p>
          <a:p>
            <a:r>
              <a:rPr lang="hu-HU" sz="1400"/>
              <a:t>Bounded context models natural divisions within the buiness whose problems we’re solving, the domain</a:t>
            </a:r>
          </a:p>
          <a:p>
            <a:pPr lvl="1"/>
            <a:r>
              <a:rPr lang="hu-HU" sz="1400"/>
              <a:t>The communication is focused on the work that happens in the given context</a:t>
            </a:r>
          </a:p>
          <a:p>
            <a:pPr lvl="1"/>
            <a:r>
              <a:rPr lang="hu-HU" sz="1400"/>
              <a:t>In the BUFD we try to come up with the universal model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/>
              <a:t>The structure of your code should map to the structure of the problem domain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96DD1C-0ED8-4C28-9224-567FE0C5685D}"/>
              </a:ext>
            </a:extLst>
          </p:cNvPr>
          <p:cNvCxnSpPr>
            <a:cxnSpLocks/>
          </p:cNvCxnSpPr>
          <p:nvPr/>
        </p:nvCxnSpPr>
        <p:spPr>
          <a:xfrm>
            <a:off x="7758113" y="1665795"/>
            <a:ext cx="0" cy="2641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3C0107-BA8A-41FD-BE51-8AD3C2CF4664}"/>
              </a:ext>
            </a:extLst>
          </p:cNvPr>
          <p:cNvCxnSpPr>
            <a:cxnSpLocks/>
          </p:cNvCxnSpPr>
          <p:nvPr/>
        </p:nvCxnSpPr>
        <p:spPr>
          <a:xfrm flipH="1" flipV="1">
            <a:off x="7322344" y="3668319"/>
            <a:ext cx="400051" cy="40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close up of a sign&#10;&#10;Description automatically generated">
            <a:extLst>
              <a:ext uri="{FF2B5EF4-FFF2-40B4-BE49-F238E27FC236}">
                <a16:creationId xmlns:a16="http://schemas.microsoft.com/office/drawing/2014/main" id="{1CD79321-F36A-42CD-B6C9-0C4C67EE2B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596" y="3324050"/>
            <a:ext cx="585216" cy="585216"/>
          </a:xfrm>
          <a:prstGeom prst="rect">
            <a:avLst/>
          </a:prstGeom>
        </p:spPr>
      </p:pic>
      <p:pic>
        <p:nvPicPr>
          <p:cNvPr id="24" name="Picture 23" descr="A picture containing plate&#10;&#10;Description automatically generated">
            <a:extLst>
              <a:ext uri="{FF2B5EF4-FFF2-40B4-BE49-F238E27FC236}">
                <a16:creationId xmlns:a16="http://schemas.microsoft.com/office/drawing/2014/main" id="{1AD8F000-43AD-4E18-BA2A-2BD48586CF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755" y="1922335"/>
            <a:ext cx="585216" cy="585216"/>
          </a:xfrm>
          <a:prstGeom prst="rect">
            <a:avLst/>
          </a:prstGeom>
        </p:spPr>
      </p:pic>
      <p:pic>
        <p:nvPicPr>
          <p:cNvPr id="26" name="Picture 25" descr="A close up of a logo&#10;&#10;Description automatically generated">
            <a:extLst>
              <a:ext uri="{FF2B5EF4-FFF2-40B4-BE49-F238E27FC236}">
                <a16:creationId xmlns:a16="http://schemas.microsoft.com/office/drawing/2014/main" id="{9EF52691-8394-42D4-ABF2-D645AA72E4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688" y="3294422"/>
            <a:ext cx="589277" cy="589277"/>
          </a:xfrm>
          <a:prstGeom prst="rect">
            <a:avLst/>
          </a:prstGeom>
        </p:spPr>
      </p:pic>
      <p:pic>
        <p:nvPicPr>
          <p:cNvPr id="28" name="Picture 27" descr="A picture containing clock&#10;&#10;Description automatically generated">
            <a:extLst>
              <a:ext uri="{FF2B5EF4-FFF2-40B4-BE49-F238E27FC236}">
                <a16:creationId xmlns:a16="http://schemas.microsoft.com/office/drawing/2014/main" id="{3A5AA71C-2C9C-4BC6-95DB-736463E4FF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596" y="1922335"/>
            <a:ext cx="585216" cy="585216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02F51CE-1C06-49AB-BCBB-FEF2755D648A}"/>
              </a:ext>
            </a:extLst>
          </p:cNvPr>
          <p:cNvCxnSpPr>
            <a:cxnSpLocks/>
          </p:cNvCxnSpPr>
          <p:nvPr/>
        </p:nvCxnSpPr>
        <p:spPr>
          <a:xfrm flipH="1" flipV="1">
            <a:off x="7793832" y="3672514"/>
            <a:ext cx="400051" cy="40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5C6E29E-ED9E-4AE6-A254-DDCDB132710F}"/>
              </a:ext>
            </a:extLst>
          </p:cNvPr>
          <p:cNvCxnSpPr>
            <a:cxnSpLocks/>
          </p:cNvCxnSpPr>
          <p:nvPr/>
        </p:nvCxnSpPr>
        <p:spPr>
          <a:xfrm flipH="1" flipV="1">
            <a:off x="7314632" y="2210867"/>
            <a:ext cx="400051" cy="40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EF82A0E-6DEA-429F-B092-6EE2F9EBB8B7}"/>
              </a:ext>
            </a:extLst>
          </p:cNvPr>
          <p:cNvCxnSpPr>
            <a:cxnSpLocks/>
          </p:cNvCxnSpPr>
          <p:nvPr/>
        </p:nvCxnSpPr>
        <p:spPr>
          <a:xfrm flipH="1" flipV="1">
            <a:off x="7793832" y="2210867"/>
            <a:ext cx="400051" cy="40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B086F20-F716-4A19-A035-4FCC19D2898B}"/>
              </a:ext>
            </a:extLst>
          </p:cNvPr>
          <p:cNvSpPr txBox="1"/>
          <p:nvPr/>
        </p:nvSpPr>
        <p:spPr>
          <a:xfrm>
            <a:off x="8151642" y="2538056"/>
            <a:ext cx="6851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Invoice</a:t>
            </a:r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36ADAF-D391-4303-9714-A5B38520AF47}"/>
              </a:ext>
            </a:extLst>
          </p:cNvPr>
          <p:cNvSpPr txBox="1"/>
          <p:nvPr/>
        </p:nvSpPr>
        <p:spPr>
          <a:xfrm>
            <a:off x="6491996" y="2535091"/>
            <a:ext cx="90569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Storefront</a:t>
            </a:r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075D8D-0A61-4EBF-8912-73CD6859A8FB}"/>
              </a:ext>
            </a:extLst>
          </p:cNvPr>
          <p:cNvSpPr txBox="1"/>
          <p:nvPr/>
        </p:nvSpPr>
        <p:spPr>
          <a:xfrm>
            <a:off x="6544189" y="3951646"/>
            <a:ext cx="80131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Payment</a:t>
            </a:r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1BE007-291B-4D9A-A023-DC34093ED14F}"/>
              </a:ext>
            </a:extLst>
          </p:cNvPr>
          <p:cNvSpPr txBox="1"/>
          <p:nvPr/>
        </p:nvSpPr>
        <p:spPr>
          <a:xfrm>
            <a:off x="8001569" y="3947103"/>
            <a:ext cx="9890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Warehouse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38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9AB9-ACBB-384C-ACFE-1D073767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Design Process: A Brief Introduction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030743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20A0DCB5-538F-EE45-937D-850B71DD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</p:spPr>
        <p:txBody>
          <a:bodyPr/>
          <a:lstStyle/>
          <a:p>
            <a:r>
              <a:rPr lang="en-US" sz="2800"/>
              <a:t>Requirements gathering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70F99C4-AA3F-6343-8A8C-EE6D272155C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3986211" cy="30543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hu-HU" sz="1600"/>
              <a:t>Describes the end user’s problem</a:t>
            </a:r>
          </a:p>
          <a:p>
            <a:pPr>
              <a:lnSpc>
                <a:spcPct val="100000"/>
              </a:lnSpc>
            </a:pPr>
            <a:r>
              <a:rPr lang="hu-HU" sz="1600"/>
              <a:t>Describes the solution to the problem</a:t>
            </a:r>
          </a:p>
          <a:p>
            <a:pPr lvl="1">
              <a:lnSpc>
                <a:spcPct val="100000"/>
              </a:lnSpc>
            </a:pPr>
            <a:endParaRPr lang="en-US" sz="1600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DE0A5C3-52BB-D442-A6A1-C239CB27B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9" y="1079500"/>
            <a:ext cx="3986212" cy="342900"/>
          </a:xfrm>
        </p:spPr>
        <p:txBody>
          <a:bodyPr/>
          <a:lstStyle/>
          <a:p>
            <a:r>
              <a:rPr lang="hu-HU" sz="1800"/>
              <a:t>Problem statement</a:t>
            </a:r>
            <a:endParaRPr lang="en-US" sz="1800"/>
          </a:p>
        </p:txBody>
      </p:sp>
      <p:sp>
        <p:nvSpPr>
          <p:cNvPr id="29" name="Content Placeholder 11">
            <a:extLst>
              <a:ext uri="{FF2B5EF4-FFF2-40B4-BE49-F238E27FC236}">
                <a16:creationId xmlns:a16="http://schemas.microsoft.com/office/drawing/2014/main" id="{C089B62A-7DE5-8449-B57F-17E8C0058D08}"/>
              </a:ext>
            </a:extLst>
          </p:cNvPr>
          <p:cNvSpPr txBox="1">
            <a:spLocks/>
          </p:cNvSpPr>
          <p:nvPr/>
        </p:nvSpPr>
        <p:spPr>
          <a:xfrm>
            <a:off x="4704906" y="1422400"/>
            <a:ext cx="3993357" cy="3054350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hu-HU" sz="1600" err="1">
                <a:latin typeface="+mj-lt"/>
              </a:rPr>
              <a:t>Describes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their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work</a:t>
            </a:r>
            <a:r>
              <a:rPr lang="hu-HU" sz="1600">
                <a:latin typeface="+mj-lt"/>
              </a:rPr>
              <a:t> (</a:t>
            </a:r>
            <a:r>
              <a:rPr lang="hu-HU" sz="1600" err="1">
                <a:latin typeface="+mj-lt"/>
              </a:rPr>
              <a:t>not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yours</a:t>
            </a:r>
            <a:r>
              <a:rPr lang="hu-HU" sz="1600">
                <a:latin typeface="+mj-lt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hu-HU" sz="1600" err="1">
                <a:latin typeface="+mj-lt"/>
              </a:rPr>
              <a:t>Describes</a:t>
            </a:r>
            <a:r>
              <a:rPr lang="hu-HU" sz="1600">
                <a:latin typeface="+mj-lt"/>
              </a:rPr>
              <a:t> an end </a:t>
            </a:r>
            <a:r>
              <a:rPr lang="hu-HU" sz="1600" err="1">
                <a:latin typeface="+mj-lt"/>
              </a:rPr>
              <a:t>user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going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through</a:t>
            </a:r>
            <a:r>
              <a:rPr lang="hu-HU" sz="1600">
                <a:latin typeface="+mj-lt"/>
              </a:rPr>
              <a:t> a </a:t>
            </a:r>
            <a:r>
              <a:rPr lang="hu-HU" sz="1600" err="1">
                <a:latin typeface="+mj-lt"/>
              </a:rPr>
              <a:t>domain-level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process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to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achieve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some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valueable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outcome</a:t>
            </a:r>
            <a:endParaRPr lang="hu-HU" sz="160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hu-HU" sz="1600" err="1">
                <a:latin typeface="+mj-lt"/>
              </a:rPr>
              <a:t>Does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not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describe</a:t>
            </a:r>
            <a:r>
              <a:rPr lang="hu-HU" sz="1600">
                <a:latin typeface="+mj-lt"/>
              </a:rPr>
              <a:t> a computer program</a:t>
            </a:r>
          </a:p>
          <a:p>
            <a:pPr>
              <a:lnSpc>
                <a:spcPct val="100000"/>
              </a:lnSpc>
            </a:pPr>
            <a:r>
              <a:rPr lang="hu-HU" sz="1600" err="1">
                <a:latin typeface="+mj-lt"/>
              </a:rPr>
              <a:t>If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you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not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providing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actual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value</a:t>
            </a:r>
            <a:r>
              <a:rPr lang="hu-HU" sz="1600">
                <a:latin typeface="+mj-lt"/>
              </a:rPr>
              <a:t>, </a:t>
            </a:r>
            <a:r>
              <a:rPr lang="hu-HU" sz="1600" err="1">
                <a:latin typeface="+mj-lt"/>
              </a:rPr>
              <a:t>solving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some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real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problem</a:t>
            </a:r>
            <a:r>
              <a:rPr lang="hu-HU" sz="1600">
                <a:latin typeface="+mj-lt"/>
              </a:rPr>
              <a:t>, </a:t>
            </a:r>
            <a:r>
              <a:rPr lang="hu-HU" sz="1600" err="1">
                <a:latin typeface="+mj-lt"/>
              </a:rPr>
              <a:t>that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one</a:t>
            </a:r>
            <a:r>
              <a:rPr lang="hu-HU" sz="1600">
                <a:latin typeface="+mj-lt"/>
              </a:rPr>
              <a:t> of </a:t>
            </a:r>
            <a:r>
              <a:rPr lang="hu-HU" sz="1600" err="1">
                <a:latin typeface="+mj-lt"/>
              </a:rPr>
              <a:t>your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real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users</a:t>
            </a:r>
            <a:r>
              <a:rPr lang="hu-HU" sz="1600">
                <a:latin typeface="+mj-lt"/>
              </a:rPr>
              <a:t> has in </a:t>
            </a:r>
            <a:r>
              <a:rPr lang="hu-HU" sz="1600" err="1">
                <a:latin typeface="+mj-lt"/>
              </a:rPr>
              <a:t>the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real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world</a:t>
            </a:r>
            <a:r>
              <a:rPr lang="hu-HU" sz="1600">
                <a:latin typeface="+mj-lt"/>
              </a:rPr>
              <a:t>, </a:t>
            </a:r>
            <a:r>
              <a:rPr lang="hu-HU" sz="1600" err="1">
                <a:latin typeface="+mj-lt"/>
              </a:rPr>
              <a:t>why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would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anybody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want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to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use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the</a:t>
            </a:r>
            <a:r>
              <a:rPr lang="hu-HU" sz="1600">
                <a:latin typeface="+mj-lt"/>
              </a:rPr>
              <a:t> software?</a:t>
            </a:r>
          </a:p>
          <a:p>
            <a:pPr>
              <a:lnSpc>
                <a:spcPct val="100000"/>
              </a:lnSpc>
            </a:pPr>
            <a:r>
              <a:rPr lang="hu-HU" sz="1600" err="1">
                <a:latin typeface="+mj-lt"/>
              </a:rPr>
              <a:t>Stories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need</a:t>
            </a:r>
            <a:r>
              <a:rPr lang="hu-HU" sz="1600">
                <a:latin typeface="+mj-lt"/>
              </a:rPr>
              <a:t> </a:t>
            </a:r>
            <a:r>
              <a:rPr lang="hu-HU" sz="1600" err="1">
                <a:latin typeface="+mj-lt"/>
              </a:rPr>
              <a:t>to</a:t>
            </a:r>
            <a:r>
              <a:rPr lang="hu-HU" sz="1600">
                <a:latin typeface="+mj-lt"/>
              </a:rPr>
              <a:t> be </a:t>
            </a:r>
            <a:r>
              <a:rPr lang="hu-HU" sz="1600" err="1">
                <a:latin typeface="+mj-lt"/>
              </a:rPr>
              <a:t>refined</a:t>
            </a:r>
            <a:endParaRPr lang="en-US" sz="1600">
              <a:latin typeface="+mj-lt"/>
            </a:endParaRP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AE655C31-DDE3-784B-92E0-438060D1D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</p:spPr>
        <p:txBody>
          <a:bodyPr/>
          <a:lstStyle/>
          <a:p>
            <a:fld id="{3A707DD9-E92B-45E8-BE0A-E6B2EDF345E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89145EA9-4DDD-7049-9793-C97EF245BE9E}"/>
              </a:ext>
            </a:extLst>
          </p:cNvPr>
          <p:cNvSpPr txBox="1">
            <a:spLocks/>
          </p:cNvSpPr>
          <p:nvPr/>
        </p:nvSpPr>
        <p:spPr>
          <a:xfrm>
            <a:off x="4804171" y="1079500"/>
            <a:ext cx="3986212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800"/>
              <a:t>User Story</a:t>
            </a:r>
          </a:p>
          <a:p>
            <a:endParaRPr lang="hu-HU" sz="1800" err="1"/>
          </a:p>
        </p:txBody>
      </p:sp>
    </p:spTree>
    <p:extLst>
      <p:ext uri="{BB962C8B-B14F-4D97-AF65-F5344CB8AC3E}">
        <p14:creationId xmlns:p14="http://schemas.microsoft.com/office/powerpoint/2010/main" val="332394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Narrowing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/>
              <a:t>horizontal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E7D05F5-EDD7-468B-8AE7-5AD13C4D52C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800600" y="1608714"/>
            <a:ext cx="3992563" cy="2681721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/>
              <a:t>Vertical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845A9-188B-8049-BCF6-C7A00D112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CDEB9E-ADB8-416B-BA5B-2615898E9A3A}"/>
              </a:ext>
            </a:extLst>
          </p:cNvPr>
          <p:cNvGrpSpPr/>
          <p:nvPr/>
        </p:nvGrpSpPr>
        <p:grpSpPr>
          <a:xfrm>
            <a:off x="2173015" y="1756570"/>
            <a:ext cx="1700589" cy="2307430"/>
            <a:chOff x="1111041" y="1864895"/>
            <a:chExt cx="2478506" cy="230743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E7F2AFC-AED6-42CB-B31C-88E2F71D46CD}"/>
                </a:ext>
              </a:extLst>
            </p:cNvPr>
            <p:cNvSpPr/>
            <p:nvPr/>
          </p:nvSpPr>
          <p:spPr>
            <a:xfrm>
              <a:off x="1111041" y="1864895"/>
              <a:ext cx="2478506" cy="61361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User interface</a:t>
              </a:r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174CF53-04E2-4BC6-B1E4-70AB7BCB7497}"/>
                </a:ext>
              </a:extLst>
            </p:cNvPr>
            <p:cNvSpPr/>
            <p:nvPr/>
          </p:nvSpPr>
          <p:spPr>
            <a:xfrm>
              <a:off x="1111041" y="2717382"/>
              <a:ext cx="2478506" cy="61361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Business logic</a:t>
              </a:r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0728274-7DB9-4394-A175-B6555192DD23}"/>
                </a:ext>
              </a:extLst>
            </p:cNvPr>
            <p:cNvSpPr/>
            <p:nvPr/>
          </p:nvSpPr>
          <p:spPr>
            <a:xfrm>
              <a:off x="1111041" y="3558715"/>
              <a:ext cx="2478506" cy="61361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/>
                <a:t>Database</a:t>
              </a:r>
              <a:endParaRPr lang="en-US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ACA0CD-D583-48E6-BE1A-0FC00A7F6950}"/>
              </a:ext>
            </a:extLst>
          </p:cNvPr>
          <p:cNvSpPr/>
          <p:nvPr/>
        </p:nvSpPr>
        <p:spPr>
          <a:xfrm>
            <a:off x="585788" y="1756570"/>
            <a:ext cx="1050131" cy="230743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Story</a:t>
            </a:r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D064A8-B62C-4736-A393-873D4DDE28BD}"/>
              </a:ext>
            </a:extLst>
          </p:cNvPr>
          <p:cNvCxnSpPr/>
          <p:nvPr/>
        </p:nvCxnSpPr>
        <p:spPr>
          <a:xfrm>
            <a:off x="1758677" y="2910285"/>
            <a:ext cx="3415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65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772E-C25B-864F-A5B5-635EBE01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Broad Architectural Patterns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3975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C77122B3-5AC5-6240-9ABA-ADBFF175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</p:spPr>
        <p:txBody>
          <a:bodyPr/>
          <a:lstStyle/>
          <a:p>
            <a:r>
              <a:rPr lang="hu-HU" sz="2800"/>
              <a:t>Monoliths</a:t>
            </a:r>
            <a:endParaRPr lang="en-US" sz="280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069DF2B2-A9F2-8F4B-937C-94B0BAE2A6E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8" y="1422400"/>
            <a:ext cx="8429625" cy="3054350"/>
          </a:xfrm>
        </p:spPr>
        <p:txBody>
          <a:bodyPr/>
          <a:lstStyle/>
          <a:p>
            <a:r>
              <a:rPr lang="hu-HU" sz="1400"/>
              <a:t>Specified with hundreds and tousands of lines of source code</a:t>
            </a:r>
          </a:p>
          <a:p>
            <a:r>
              <a:rPr lang="hu-HU" sz="1400"/>
              <a:t>Mostly N-Tiered applications</a:t>
            </a:r>
          </a:p>
          <a:p>
            <a:r>
              <a:rPr lang="hu-HU" sz="1400"/>
              <a:t>Vetical and horizontal divisions</a:t>
            </a:r>
          </a:p>
          <a:p>
            <a:r>
              <a:rPr lang="hu-HU" sz="1400"/>
              <a:t>Strengths</a:t>
            </a:r>
          </a:p>
          <a:p>
            <a:pPr lvl="1"/>
            <a:r>
              <a:rPr lang="hu-HU" sz="1400"/>
              <a:t>Homogeneous structure</a:t>
            </a:r>
          </a:p>
          <a:p>
            <a:r>
              <a:rPr lang="hu-HU" sz="1400"/>
              <a:t>Challenges</a:t>
            </a:r>
          </a:p>
          <a:p>
            <a:pPr lvl="1"/>
            <a:r>
              <a:rPr lang="hu-HU" sz="1400"/>
              <a:t>Homogeneous structure</a:t>
            </a:r>
          </a:p>
          <a:p>
            <a:pPr lvl="1"/>
            <a:r>
              <a:rPr lang="hu-HU" sz="1400"/>
              <a:t>Nobody understands the whole program</a:t>
            </a:r>
          </a:p>
          <a:p>
            <a:pPr lvl="1"/>
            <a:r>
              <a:rPr lang="hu-HU" sz="1400"/>
              <a:t>Long test-and-deploy process</a:t>
            </a:r>
          </a:p>
          <a:p>
            <a:pPr lvl="1"/>
            <a:r>
              <a:rPr lang="hu-HU" sz="1400"/>
              <a:t>Agility is nearly impossible</a:t>
            </a:r>
          </a:p>
          <a:p>
            <a:pPr marL="0" indent="0">
              <a:buNone/>
            </a:pPr>
            <a:endParaRPr lang="hu-HU" sz="140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AD9E921-AE68-A041-AE37-4A8405068B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8" y="1079500"/>
            <a:ext cx="8429625" cy="342900"/>
          </a:xfrm>
        </p:spPr>
        <p:txBody>
          <a:bodyPr/>
          <a:lstStyle/>
          <a:p>
            <a:r>
              <a:rPr lang="hu-HU" sz="1800"/>
              <a:t>The entire program is one large executable unit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22126660-850D-2840-8061-8E27C90C8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</p:spPr>
        <p:txBody>
          <a:bodyPr/>
          <a:lstStyle/>
          <a:p>
            <a:fld id="{3A707DD9-E92B-45E8-BE0A-E6B2EDF345E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2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Microkernel (plugin) architectures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4214812" cy="3054350"/>
          </a:xfrm>
        </p:spPr>
        <p:txBody>
          <a:bodyPr/>
          <a:lstStyle/>
          <a:p>
            <a:r>
              <a:rPr lang="hu-HU"/>
              <a:t>The first microkernel realization was an operating system</a:t>
            </a:r>
          </a:p>
          <a:p>
            <a:r>
              <a:rPr lang="hu-HU"/>
              <a:t>The idea is to put essential capabilities of your system into</a:t>
            </a:r>
          </a:p>
          <a:p>
            <a:pPr marL="0" indent="0">
              <a:buNone/>
            </a:pPr>
            <a:r>
              <a:rPr lang="hu-HU"/>
              <a:t>a single stand-alone executable called the kernel</a:t>
            </a:r>
          </a:p>
          <a:p>
            <a:r>
              <a:rPr lang="hu-HU" err="1"/>
              <a:t>Strengths</a:t>
            </a:r>
            <a:endParaRPr lang="hu-HU"/>
          </a:p>
          <a:p>
            <a:pPr lvl="1"/>
            <a:r>
              <a:rPr lang="hu-HU"/>
              <a:t>Isolation prevents big ball-of-mud dependencies</a:t>
            </a:r>
          </a:p>
          <a:p>
            <a:pPr lvl="1"/>
            <a:r>
              <a:rPr lang="hu-HU"/>
              <a:t>Plugin are small and easy to write, debug and maintain</a:t>
            </a:r>
          </a:p>
          <a:p>
            <a:r>
              <a:rPr lang="hu-HU"/>
              <a:t>Challenges</a:t>
            </a:r>
          </a:p>
          <a:p>
            <a:pPr lvl="1"/>
            <a:r>
              <a:rPr lang="hu-HU"/>
              <a:t>APIs to the kernel are delicate</a:t>
            </a:r>
          </a:p>
          <a:p>
            <a:pPr lvl="1"/>
            <a:r>
              <a:rPr lang="hu-HU"/>
              <a:t>New APIs may require re-writing plugins</a:t>
            </a:r>
          </a:p>
          <a:p>
            <a:pPr lvl="1"/>
            <a:r>
              <a:rPr lang="hu-HU"/>
              <a:t>Problems within a kernel can bring the system down</a:t>
            </a:r>
          </a:p>
          <a:p>
            <a:pPr lvl="1"/>
            <a:r>
              <a:rPr lang="hu-HU"/>
              <a:t>Plugins are indirectly coupled through the kernel</a:t>
            </a:r>
          </a:p>
          <a:p>
            <a:pPr marL="0" indent="0">
              <a:buNone/>
            </a:pPr>
            <a:endParaRPr lang="hu-HU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/>
              <a:t>A Step up from a pure monolith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0FF90A-51C7-47AA-92F3-A1DBA5266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718" y="1079500"/>
            <a:ext cx="4323095" cy="32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09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Message-based architectures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8" y="1422399"/>
            <a:ext cx="4370527" cy="3185696"/>
          </a:xfrm>
        </p:spPr>
        <p:txBody>
          <a:bodyPr/>
          <a:lstStyle/>
          <a:p>
            <a:r>
              <a:rPr lang="hu-HU"/>
              <a:t>Ease problems associated with network communication</a:t>
            </a:r>
          </a:p>
          <a:p>
            <a:r>
              <a:rPr lang="hu-HU"/>
              <a:t>Forge into a single system things that aren’t designed to work together</a:t>
            </a:r>
          </a:p>
          <a:p>
            <a:r>
              <a:rPr lang="hu-HU"/>
              <a:t>A common message bus control the flow of communication</a:t>
            </a:r>
          </a:p>
          <a:p>
            <a:r>
              <a:rPr lang="hu-HU"/>
              <a:t>Publish / Subscriber model</a:t>
            </a:r>
          </a:p>
          <a:p>
            <a:r>
              <a:rPr lang="hu-HU"/>
              <a:t>Strengths</a:t>
            </a:r>
          </a:p>
          <a:p>
            <a:pPr lvl="1"/>
            <a:r>
              <a:rPr lang="hu-HU"/>
              <a:t>More maintainable than monolith</a:t>
            </a:r>
          </a:p>
          <a:p>
            <a:pPr lvl="1"/>
            <a:r>
              <a:rPr lang="hu-HU"/>
              <a:t>Solve dependency problems in microkernel systems</a:t>
            </a:r>
          </a:p>
          <a:p>
            <a:r>
              <a:rPr lang="hu-HU"/>
              <a:t>Challenges</a:t>
            </a:r>
          </a:p>
          <a:p>
            <a:pPr lvl="1"/>
            <a:r>
              <a:rPr lang="hu-HU"/>
              <a:t>Managing a highly complex system</a:t>
            </a:r>
          </a:p>
          <a:p>
            <a:pPr lvl="1"/>
            <a:r>
              <a:rPr lang="hu-HU"/>
              <a:t>Can be very slow and time consuming</a:t>
            </a:r>
          </a:p>
          <a:p>
            <a:pPr lvl="1"/>
            <a:r>
              <a:rPr lang="hu-HU"/>
              <a:t>Messages have to be stored on disk, replicated, backed up and so on</a:t>
            </a:r>
          </a:p>
          <a:p>
            <a:endParaRPr lang="hu-HU"/>
          </a:p>
          <a:p>
            <a:pPr marL="0" indent="0">
              <a:buNone/>
            </a:pPr>
            <a:endParaRPr lang="hu-HU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/>
              <a:t>Formalizing the communication paths between elements and isolating them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76F2FB-A8C2-4EB1-A4F2-0B4C9A533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10" y="3151630"/>
            <a:ext cx="3241508" cy="1615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E68D8E-03F0-4424-9924-1E39D36B1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510" y="1367533"/>
            <a:ext cx="3241508" cy="172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50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Microservice and miniservices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4214812" cy="3054350"/>
          </a:xfrm>
        </p:spPr>
        <p:txBody>
          <a:bodyPr/>
          <a:lstStyle/>
          <a:p>
            <a:r>
              <a:rPr lang="hu-HU"/>
              <a:t>Supports distributed deployment and complex real-time interactions</a:t>
            </a:r>
          </a:p>
          <a:p>
            <a:r>
              <a:rPr lang="hu-HU"/>
              <a:t>Main requirements</a:t>
            </a:r>
          </a:p>
          <a:p>
            <a:pPr lvl="1"/>
            <a:r>
              <a:rPr lang="hu-HU"/>
              <a:t>Small (few hundred lines of source code)</a:t>
            </a:r>
          </a:p>
          <a:p>
            <a:pPr lvl="1"/>
            <a:r>
              <a:rPr lang="hu-HU"/>
              <a:t>Independently deployable</a:t>
            </a:r>
          </a:p>
          <a:p>
            <a:pPr lvl="1"/>
            <a:r>
              <a:rPr lang="hu-HU"/>
              <a:t>Fully autonomous</a:t>
            </a:r>
          </a:p>
          <a:p>
            <a:pPr lvl="1"/>
            <a:r>
              <a:rPr lang="hu-HU"/>
              <a:t>Hides implementation details</a:t>
            </a:r>
          </a:p>
          <a:p>
            <a:pPr lvl="1"/>
            <a:r>
              <a:rPr lang="hu-HU"/>
              <a:t>Distributed</a:t>
            </a:r>
          </a:p>
          <a:p>
            <a:pPr lvl="1"/>
            <a:r>
              <a:rPr lang="hu-HU"/>
              <a:t>Highly observable</a:t>
            </a:r>
          </a:p>
          <a:p>
            <a:pPr lvl="1"/>
            <a:r>
              <a:rPr lang="hu-HU"/>
              <a:t>Modeled around business concepts</a:t>
            </a:r>
          </a:p>
          <a:p>
            <a:r>
              <a:rPr lang="hu-HU"/>
              <a:t>Strengths</a:t>
            </a:r>
          </a:p>
          <a:p>
            <a:pPr lvl="1"/>
            <a:r>
              <a:rPr lang="hu-HU"/>
              <a:t>Independent services</a:t>
            </a:r>
          </a:p>
          <a:p>
            <a:pPr lvl="1"/>
            <a:r>
              <a:rPr lang="hu-HU"/>
              <a:t>Changes do no affect the rest of the system</a:t>
            </a:r>
          </a:p>
          <a:p>
            <a:pPr lvl="1"/>
            <a:r>
              <a:rPr lang="hu-HU"/>
              <a:t>Changes can occur quickly</a:t>
            </a:r>
          </a:p>
          <a:p>
            <a:pPr marL="0" indent="0">
              <a:buNone/>
            </a:pPr>
            <a:endParaRPr lang="hu-HU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7188" y="890337"/>
            <a:ext cx="8429625" cy="532063"/>
          </a:xfrm>
        </p:spPr>
        <p:txBody>
          <a:bodyPr/>
          <a:lstStyle/>
          <a:p>
            <a:r>
              <a:rPr lang="hu-HU"/>
              <a:t>The large system is made up of a cloud of very small independent services that</a:t>
            </a:r>
          </a:p>
          <a:p>
            <a:r>
              <a:rPr lang="hu-HU"/>
              <a:t>cooperate as peers to get the larger work done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BE60F1-6B34-4681-8D10-B77883F20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252" y="2807339"/>
            <a:ext cx="4338638" cy="2019300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BDDDB21-C523-4EE3-B6DF-5FDB68FA33A7}"/>
              </a:ext>
            </a:extLst>
          </p:cNvPr>
          <p:cNvSpPr txBox="1">
            <a:spLocks/>
          </p:cNvSpPr>
          <p:nvPr/>
        </p:nvSpPr>
        <p:spPr>
          <a:xfrm>
            <a:off x="4668252" y="1422400"/>
            <a:ext cx="4214812" cy="13849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/>
              <a:t>Challenges</a:t>
            </a:r>
          </a:p>
          <a:p>
            <a:pPr lvl="1"/>
            <a:r>
              <a:rPr lang="hu-HU"/>
              <a:t>Design and runtime complexity</a:t>
            </a:r>
          </a:p>
          <a:p>
            <a:pPr lvl="1"/>
            <a:r>
              <a:rPr lang="hu-HU"/>
              <a:t>Network are slow compared to alternatives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6974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Client-Server Architecture</a:t>
            </a:r>
            <a:endParaRPr lang="en-US" sz="2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FFB7DD-94A4-4CCA-BBAE-F4DACE264BA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352552" y="1151320"/>
            <a:ext cx="4438895" cy="305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78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REST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3865896" cy="30543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Defined by Roy Fielding in his 2000 PhD dissertation</a:t>
            </a:r>
          </a:p>
          <a:p>
            <a:r>
              <a:rPr lang="en-US" dirty="0"/>
              <a:t>Very popular architectural style for designing web services</a:t>
            </a:r>
            <a:endParaRPr lang="en-US" dirty="0">
              <a:ea typeface="Calibri Light"/>
              <a:cs typeface="Calibri Light"/>
            </a:endParaRPr>
          </a:p>
          <a:p>
            <a:r>
              <a:rPr lang="en-US" dirty="0"/>
              <a:t>Most commonly used over HTTP with JSON payload</a:t>
            </a:r>
            <a:endParaRPr lang="en-US" dirty="0">
              <a:ea typeface="Calibri Light"/>
              <a:cs typeface="Calibri Light"/>
            </a:endParaRPr>
          </a:p>
          <a:p>
            <a:r>
              <a:rPr lang="en-US" dirty="0"/>
              <a:t>Lightweight alternative to SOAP web services</a:t>
            </a:r>
            <a:endParaRPr lang="en-US" dirty="0">
              <a:ea typeface="Calibri Light"/>
              <a:cs typeface="Calibri Light"/>
            </a:endParaRPr>
          </a:p>
          <a:p>
            <a:r>
              <a:rPr lang="en-US" dirty="0"/>
              <a:t>Things vs. actions</a:t>
            </a:r>
            <a:endParaRPr lang="en-US" dirty="0">
              <a:ea typeface="Calibri Light"/>
              <a:cs typeface="Calibri Light"/>
            </a:endParaRPr>
          </a:p>
          <a:p>
            <a:r>
              <a:rPr lang="en-US" dirty="0"/>
              <a:t>Nouns vs. verbs</a:t>
            </a:r>
            <a:endParaRPr lang="en-US" dirty="0">
              <a:ea typeface="Calibri Light"/>
              <a:cs typeface="Calibri Light"/>
            </a:endParaRPr>
          </a:p>
          <a:p>
            <a:r>
              <a:rPr lang="hu-HU" dirty="0"/>
              <a:t>Web Service API</a:t>
            </a:r>
            <a:endParaRPr lang="hu-HU" dirty="0">
              <a:ea typeface="Calibri Light"/>
              <a:cs typeface="Calibri Light"/>
            </a:endParaRPr>
          </a:p>
          <a:p>
            <a:pPr lvl="1"/>
            <a:r>
              <a:rPr lang="hu-HU" dirty="0" err="1"/>
              <a:t>Adhering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REST </a:t>
            </a:r>
            <a:r>
              <a:rPr lang="hu-HU" dirty="0" err="1"/>
              <a:t>constrains</a:t>
            </a:r>
            <a:endParaRPr lang="hu-HU" dirty="0" err="1">
              <a:ea typeface="Calibri"/>
              <a:cs typeface="Calibri"/>
            </a:endParaRPr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endParaRPr lang="hu-HU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Representational State Transfer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7EABED0-C7A1-44CA-99E3-0356A8EF5901}"/>
              </a:ext>
            </a:extLst>
          </p:cNvPr>
          <p:cNvSpPr txBox="1">
            <a:spLocks/>
          </p:cNvSpPr>
          <p:nvPr/>
        </p:nvSpPr>
        <p:spPr>
          <a:xfrm>
            <a:off x="4920918" y="1422400"/>
            <a:ext cx="3865896" cy="30543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Defines a set of architectural constraints</a:t>
            </a:r>
            <a:endParaRPr lang="hu-HU"/>
          </a:p>
          <a:p>
            <a:pPr lvl="1"/>
            <a:r>
              <a:rPr lang="en-US"/>
              <a:t>Client - Server architecture</a:t>
            </a:r>
          </a:p>
          <a:p>
            <a:pPr lvl="1"/>
            <a:r>
              <a:rPr lang="en-US"/>
              <a:t>Stateless</a:t>
            </a:r>
          </a:p>
          <a:p>
            <a:pPr lvl="1"/>
            <a:r>
              <a:rPr lang="en-US"/>
              <a:t>Cache</a:t>
            </a:r>
            <a:endParaRPr lang="hu-HU"/>
          </a:p>
          <a:p>
            <a:pPr lvl="1"/>
            <a:r>
              <a:rPr lang="en-US"/>
              <a:t>Uniform interface</a:t>
            </a:r>
          </a:p>
          <a:p>
            <a:pPr lvl="1"/>
            <a:r>
              <a:rPr lang="en-US"/>
              <a:t>Layered system</a:t>
            </a:r>
          </a:p>
          <a:p>
            <a:pPr lvl="1"/>
            <a:r>
              <a:rPr lang="en-US"/>
              <a:t>Code on demand (optional)</a:t>
            </a:r>
            <a:endParaRPr lang="hu-HU"/>
          </a:p>
          <a:p>
            <a:r>
              <a:rPr lang="hu-HU"/>
              <a:t>HTTP based</a:t>
            </a:r>
          </a:p>
          <a:p>
            <a:pPr lvl="1"/>
            <a:r>
              <a:rPr lang="hu-HU"/>
              <a:t>Accessible on a base URI (http://localhost:8080/message/1)</a:t>
            </a:r>
          </a:p>
          <a:p>
            <a:pPr lvl="1"/>
            <a:r>
              <a:rPr lang="hu-HU"/>
              <a:t>Provides an Internet Media Type (JSON, XML, image etc.)</a:t>
            </a:r>
          </a:p>
          <a:p>
            <a:pPr lvl="1"/>
            <a:r>
              <a:rPr lang="hu-HU"/>
              <a:t>Implements standard HTTP methods (CRUD: POST, GET, PUT, DELETE)</a:t>
            </a:r>
          </a:p>
          <a:p>
            <a:endParaRPr lang="en-US"/>
          </a:p>
          <a:p>
            <a:pPr lvl="1"/>
            <a:endParaRPr lang="en-US"/>
          </a:p>
          <a:p>
            <a:endParaRPr lang="hu-HU"/>
          </a:p>
          <a:p>
            <a:pPr marL="0" indent="0">
              <a:buFont typeface="Arial" panose="020B0604020202020204" pitchFamily="34" charset="0"/>
              <a:buNone/>
            </a:pP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9114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MVC</a:t>
            </a:r>
            <a:endParaRPr lang="en-US" sz="28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1EFD39-BF81-4A12-9138-DF5DD07CB8D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2101133" y="1422400"/>
            <a:ext cx="4941735" cy="305435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/>
              <a:t>Model-View-Controller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83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/>
              <a:t>Front Controller</a:t>
            </a:r>
            <a:endParaRPr lang="en-US" sz="2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/>
              <a:t>Spring MVC Model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8" name="Picture 2" descr="https://docs.spring.io/spring/docs/3.2.x/spring-framework-reference/html/images/mvc.png">
            <a:extLst>
              <a:ext uri="{FF2B5EF4-FFF2-40B4-BE49-F238E27FC236}">
                <a16:creationId xmlns:a16="http://schemas.microsoft.com/office/drawing/2014/main" id="{F343DF87-26EC-4153-9515-1AAFAF7481AB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121" y="1422400"/>
            <a:ext cx="5061758" cy="3245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660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659E-0901-C81F-A741-DB444992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FF58BA-2433-873E-A8D2-12E500B7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err="1"/>
              <a:t>Generative</a:t>
            </a:r>
            <a:r>
              <a:rPr lang="hu-HU" sz="2800"/>
              <a:t> AI &amp; </a:t>
            </a:r>
            <a:r>
              <a:rPr lang="hu-HU" sz="2800" err="1"/>
              <a:t>LLMs</a:t>
            </a:r>
            <a:endParaRPr lang="en-US" sz="2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06C9-8327-8AE6-B440-D2F7AF80E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6" name="Content Placeholder 5" descr="A diagram of a diagram&#10;&#10;Description automatically generated">
            <a:extLst>
              <a:ext uri="{FF2B5EF4-FFF2-40B4-BE49-F238E27FC236}">
                <a16:creationId xmlns:a16="http://schemas.microsoft.com/office/drawing/2014/main" id="{180A3D20-CF31-2F02-7F17-668EABF9453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165829"/>
            <a:ext cx="8429625" cy="3119817"/>
          </a:xfrm>
        </p:spPr>
      </p:pic>
    </p:spTree>
    <p:extLst>
      <p:ext uri="{BB962C8B-B14F-4D97-AF65-F5344CB8AC3E}">
        <p14:creationId xmlns:p14="http://schemas.microsoft.com/office/powerpoint/2010/main" val="2360154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487C0-DA01-290A-C662-8B5A8ECD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FF3CF0-5D1A-C553-EBD6-FEA73269E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err="1"/>
              <a:t>Retrieval</a:t>
            </a:r>
            <a:r>
              <a:rPr lang="hu-HU" sz="2800"/>
              <a:t> </a:t>
            </a:r>
            <a:r>
              <a:rPr lang="hu-HU" sz="2800" err="1"/>
              <a:t>Augmented</a:t>
            </a:r>
            <a:r>
              <a:rPr lang="hu-HU" sz="2800"/>
              <a:t> </a:t>
            </a:r>
            <a:r>
              <a:rPr lang="hu-HU" sz="2800" err="1"/>
              <a:t>Generation</a:t>
            </a:r>
            <a:r>
              <a:rPr lang="hu-HU" sz="2800"/>
              <a:t> - RAG</a:t>
            </a:r>
            <a:endParaRPr lang="en-US" sz="2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C7319-E4E8-97A8-451A-28ADEC950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A28866-9E41-540E-F488-1B0A5EF035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8" y="987287"/>
            <a:ext cx="8429625" cy="34894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/>
              <a:t>Combines retrieval mechanisms with generative models to enhance response accuracy and relevance.</a:t>
            </a:r>
          </a:p>
          <a:p>
            <a:pPr>
              <a:lnSpc>
                <a:spcPct val="100000"/>
              </a:lnSpc>
            </a:pPr>
            <a:r>
              <a:rPr lang="en-US" sz="1600"/>
              <a:t>Leverages external datasets to provide contextually rich and up-to-date information.</a:t>
            </a:r>
          </a:p>
          <a:p>
            <a:pPr>
              <a:lnSpc>
                <a:spcPct val="100000"/>
              </a:lnSpc>
            </a:pPr>
            <a:r>
              <a:rPr lang="en-US" sz="1600"/>
              <a:t>Improves model performance by grounding responses in factual data, reducing hallucinations.</a:t>
            </a:r>
          </a:p>
          <a:p>
            <a:pPr>
              <a:lnSpc>
                <a:spcPct val="100000"/>
              </a:lnSpc>
            </a:pPr>
            <a:r>
              <a:rPr lang="en-US" sz="1600" b="1"/>
              <a:t>Classic LLM Prompting</a:t>
            </a:r>
            <a:r>
              <a:rPr lang="en-US" sz="1600"/>
              <a:t>: Relies solely on pre-trained knowledge, potentially leading to outdated or less grounded responses.</a:t>
            </a:r>
          </a:p>
          <a:p>
            <a:pPr>
              <a:lnSpc>
                <a:spcPct val="100000"/>
              </a:lnSpc>
            </a:pPr>
            <a:r>
              <a:rPr lang="en-US" sz="1600" b="1"/>
              <a:t>RAG</a:t>
            </a:r>
            <a:r>
              <a:rPr lang="en-US" sz="1600"/>
              <a:t>: Integrates real-time data retrieval, enhancing both the accuracy and reliability of generated content.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50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BA97E-9026-3E5C-5FAA-1D55B312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DBA31B-12A7-519B-3F36-D3FCCAB4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err="1"/>
              <a:t>Retrieval</a:t>
            </a:r>
            <a:r>
              <a:rPr lang="hu-HU" sz="2800"/>
              <a:t> </a:t>
            </a:r>
            <a:r>
              <a:rPr lang="hu-HU" sz="2800" err="1"/>
              <a:t>Augmented</a:t>
            </a:r>
            <a:r>
              <a:rPr lang="hu-HU" sz="2800"/>
              <a:t> </a:t>
            </a:r>
            <a:r>
              <a:rPr lang="hu-HU" sz="2800" err="1"/>
              <a:t>Generation</a:t>
            </a:r>
            <a:r>
              <a:rPr lang="hu-HU" sz="2800"/>
              <a:t> - RAG</a:t>
            </a:r>
            <a:endParaRPr lang="en-US" sz="2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CF3B6-C12D-1F5C-0610-B48172489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8" name="Content Placeholder 7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E59FCA9D-85D2-7C95-4AB8-104CF349FD6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931" y="898209"/>
            <a:ext cx="6010138" cy="3560572"/>
          </a:xfrm>
        </p:spPr>
      </p:pic>
    </p:spTree>
    <p:extLst>
      <p:ext uri="{BB962C8B-B14F-4D97-AF65-F5344CB8AC3E}">
        <p14:creationId xmlns:p14="http://schemas.microsoft.com/office/powerpoint/2010/main" val="1248139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2800" err="1"/>
              <a:t>Case</a:t>
            </a:r>
            <a:r>
              <a:rPr lang="hu-HU" sz="2800"/>
              <a:t> </a:t>
            </a:r>
            <a:r>
              <a:rPr lang="hu-HU" sz="2800" err="1"/>
              <a:t>Study</a:t>
            </a:r>
            <a:r>
              <a:rPr lang="hu-HU" sz="2800"/>
              <a:t>: </a:t>
            </a:r>
            <a:r>
              <a:rPr lang="hu-HU" sz="2800" err="1"/>
              <a:t>Prime</a:t>
            </a:r>
            <a:r>
              <a:rPr lang="hu-HU" sz="2800"/>
              <a:t> video</a:t>
            </a:r>
            <a:endParaRPr lang="en-US" sz="280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8" y="1422399"/>
            <a:ext cx="8500626" cy="3185696"/>
          </a:xfrm>
        </p:spPr>
        <p:txBody>
          <a:bodyPr/>
          <a:lstStyle/>
          <a:p>
            <a:r>
              <a:rPr lang="hu-HU" sz="1400"/>
              <a:t>Amazon </a:t>
            </a:r>
            <a:r>
              <a:rPr lang="hu-HU" sz="1400" err="1"/>
              <a:t>Prime</a:t>
            </a:r>
            <a:r>
              <a:rPr lang="hu-HU" sz="1400"/>
              <a:t> Video </a:t>
            </a:r>
            <a:r>
              <a:rPr lang="hu-HU" sz="1400" err="1"/>
              <a:t>developed</a:t>
            </a:r>
            <a:r>
              <a:rPr lang="hu-HU" sz="1400"/>
              <a:t> a </a:t>
            </a:r>
            <a:r>
              <a:rPr lang="hu-HU" sz="1400" err="1"/>
              <a:t>tool</a:t>
            </a:r>
            <a:r>
              <a:rPr lang="hu-HU" sz="1400"/>
              <a:t> </a:t>
            </a:r>
            <a:r>
              <a:rPr lang="hu-HU" sz="1400" err="1"/>
              <a:t>to</a:t>
            </a:r>
            <a:r>
              <a:rPr lang="hu-HU" sz="1400"/>
              <a:t> monitor </a:t>
            </a:r>
            <a:r>
              <a:rPr lang="hu-HU" sz="1400" err="1"/>
              <a:t>every</a:t>
            </a:r>
            <a:r>
              <a:rPr lang="hu-HU" sz="1400"/>
              <a:t> </a:t>
            </a:r>
            <a:r>
              <a:rPr lang="hu-HU" sz="1400" err="1"/>
              <a:t>stream</a:t>
            </a:r>
            <a:r>
              <a:rPr lang="hu-HU" sz="1400"/>
              <a:t> </a:t>
            </a:r>
            <a:r>
              <a:rPr lang="hu-HU" sz="1400" err="1"/>
              <a:t>viewed</a:t>
            </a:r>
            <a:r>
              <a:rPr lang="hu-HU" sz="1400"/>
              <a:t> </a:t>
            </a:r>
            <a:r>
              <a:rPr lang="hu-HU" sz="1400" err="1"/>
              <a:t>by</a:t>
            </a:r>
            <a:r>
              <a:rPr lang="hu-HU" sz="1400"/>
              <a:t> a </a:t>
            </a:r>
            <a:r>
              <a:rPr lang="hu-HU" sz="1400" err="1"/>
              <a:t>customer</a:t>
            </a:r>
            <a:r>
              <a:rPr lang="hu-HU" sz="1400"/>
              <a:t> </a:t>
            </a:r>
            <a:r>
              <a:rPr lang="hu-HU" sz="1400" err="1"/>
              <a:t>to</a:t>
            </a:r>
            <a:r>
              <a:rPr lang="hu-HU" sz="1400"/>
              <a:t> </a:t>
            </a:r>
            <a:r>
              <a:rPr lang="hu-HU" sz="1400" err="1"/>
              <a:t>allow</a:t>
            </a:r>
            <a:r>
              <a:rPr lang="hu-HU" sz="1400"/>
              <a:t> </a:t>
            </a:r>
            <a:r>
              <a:rPr lang="hu-HU" sz="1400" err="1"/>
              <a:t>automatical</a:t>
            </a:r>
            <a:r>
              <a:rPr lang="hu-HU" sz="1400"/>
              <a:t> </a:t>
            </a:r>
            <a:r>
              <a:rPr lang="hu-HU" sz="1400" err="1"/>
              <a:t>identification</a:t>
            </a:r>
            <a:r>
              <a:rPr lang="hu-HU" sz="1400"/>
              <a:t> of </a:t>
            </a:r>
            <a:r>
              <a:rPr lang="hu-HU" sz="1400" err="1"/>
              <a:t>quality</a:t>
            </a:r>
            <a:r>
              <a:rPr lang="hu-HU" sz="1400"/>
              <a:t> </a:t>
            </a:r>
            <a:r>
              <a:rPr lang="hu-HU" sz="1400" err="1"/>
              <a:t>issues</a:t>
            </a:r>
            <a:r>
              <a:rPr lang="hu-HU" sz="1400"/>
              <a:t> and </a:t>
            </a:r>
            <a:r>
              <a:rPr lang="hu-HU" sz="1400" err="1"/>
              <a:t>trigger</a:t>
            </a:r>
            <a:r>
              <a:rPr lang="hu-HU" sz="1400"/>
              <a:t> a </a:t>
            </a:r>
            <a:r>
              <a:rPr lang="hu-HU" sz="1400" err="1"/>
              <a:t>process</a:t>
            </a:r>
            <a:r>
              <a:rPr lang="hu-HU" sz="1400"/>
              <a:t> </a:t>
            </a:r>
            <a:r>
              <a:rPr lang="hu-HU" sz="1400" err="1"/>
              <a:t>to</a:t>
            </a:r>
            <a:r>
              <a:rPr lang="hu-HU" sz="1400"/>
              <a:t> fix </a:t>
            </a:r>
            <a:r>
              <a:rPr lang="hu-HU" sz="1400" err="1"/>
              <a:t>it</a:t>
            </a:r>
            <a:r>
              <a:rPr lang="hu-HU" sz="1400"/>
              <a:t>.</a:t>
            </a:r>
          </a:p>
          <a:p>
            <a:r>
              <a:rPr lang="hu-HU" sz="1400" err="1"/>
              <a:t>After</a:t>
            </a:r>
            <a:r>
              <a:rPr lang="hu-HU" sz="1400"/>
              <a:t> </a:t>
            </a:r>
            <a:r>
              <a:rPr lang="hu-HU" sz="1400" err="1"/>
              <a:t>scaling</a:t>
            </a:r>
            <a:r>
              <a:rPr lang="hu-HU" sz="1400"/>
              <a:t> </a:t>
            </a:r>
            <a:r>
              <a:rPr lang="hu-HU" sz="1400" err="1"/>
              <a:t>it</a:t>
            </a:r>
            <a:r>
              <a:rPr lang="hu-HU" sz="1400"/>
              <a:t>, </a:t>
            </a:r>
            <a:r>
              <a:rPr lang="hu-HU" sz="1400" err="1"/>
              <a:t>they</a:t>
            </a:r>
            <a:r>
              <a:rPr lang="hu-HU" sz="1400"/>
              <a:t> </a:t>
            </a:r>
            <a:r>
              <a:rPr lang="hu-HU" sz="1400" err="1"/>
              <a:t>noticed</a:t>
            </a:r>
            <a:r>
              <a:rPr lang="hu-HU" sz="1400"/>
              <a:t> </a:t>
            </a:r>
            <a:r>
              <a:rPr lang="hu-HU" sz="1400" err="1"/>
              <a:t>that</a:t>
            </a:r>
            <a:r>
              <a:rPr lang="hu-HU" sz="1400"/>
              <a:t> </a:t>
            </a:r>
            <a:r>
              <a:rPr lang="hu-HU" sz="1400" err="1"/>
              <a:t>it</a:t>
            </a:r>
            <a:r>
              <a:rPr lang="hu-HU" sz="1400"/>
              <a:t> </a:t>
            </a:r>
            <a:r>
              <a:rPr lang="hu-HU" sz="1400" err="1"/>
              <a:t>was</a:t>
            </a:r>
            <a:r>
              <a:rPr lang="hu-HU" sz="1400"/>
              <a:t> </a:t>
            </a:r>
            <a:r>
              <a:rPr lang="hu-HU" sz="1400" err="1"/>
              <a:t>very</a:t>
            </a:r>
            <a:r>
              <a:rPr lang="hu-HU" sz="1400"/>
              <a:t> </a:t>
            </a:r>
            <a:r>
              <a:rPr lang="hu-HU" sz="1400" err="1"/>
              <a:t>very</a:t>
            </a:r>
            <a:r>
              <a:rPr lang="hu-HU" sz="1400"/>
              <a:t> </a:t>
            </a:r>
            <a:r>
              <a:rPr lang="hu-HU" sz="1400" err="1"/>
              <a:t>expensive</a:t>
            </a:r>
            <a:r>
              <a:rPr lang="hu-HU" sz="1400"/>
              <a:t>.</a:t>
            </a:r>
          </a:p>
          <a:p>
            <a:r>
              <a:rPr lang="hu-HU" sz="1400" err="1"/>
              <a:t>Initial</a:t>
            </a:r>
            <a:r>
              <a:rPr lang="hu-HU" sz="1400"/>
              <a:t> design </a:t>
            </a:r>
            <a:r>
              <a:rPr lang="hu-HU" sz="1400" err="1"/>
              <a:t>created</a:t>
            </a:r>
            <a:r>
              <a:rPr lang="hu-HU" sz="1400"/>
              <a:t> </a:t>
            </a:r>
            <a:r>
              <a:rPr lang="hu-HU" sz="1400" err="1"/>
              <a:t>as</a:t>
            </a:r>
            <a:r>
              <a:rPr lang="hu-HU" sz="1400"/>
              <a:t> a </a:t>
            </a:r>
            <a:r>
              <a:rPr lang="hu-HU" sz="1400" err="1"/>
              <a:t>distributed</a:t>
            </a:r>
            <a:r>
              <a:rPr lang="hu-HU" sz="1400"/>
              <a:t> </a:t>
            </a:r>
            <a:r>
              <a:rPr lang="hu-HU" sz="1400" err="1"/>
              <a:t>system</a:t>
            </a:r>
            <a:r>
              <a:rPr lang="hu-HU" sz="1400"/>
              <a:t>. The idea </a:t>
            </a:r>
            <a:r>
              <a:rPr lang="hu-HU" sz="1400" err="1"/>
              <a:t>was</a:t>
            </a:r>
            <a:r>
              <a:rPr lang="hu-HU" sz="1400"/>
              <a:t> </a:t>
            </a:r>
            <a:r>
              <a:rPr lang="hu-HU" sz="1400" err="1"/>
              <a:t>to</a:t>
            </a:r>
            <a:r>
              <a:rPr lang="hu-HU" sz="1400"/>
              <a:t> </a:t>
            </a:r>
            <a:r>
              <a:rPr lang="hu-HU" sz="1400" err="1"/>
              <a:t>scale</a:t>
            </a:r>
            <a:r>
              <a:rPr lang="hu-HU" sz="1400"/>
              <a:t> </a:t>
            </a:r>
            <a:r>
              <a:rPr lang="hu-HU" sz="1400" err="1"/>
              <a:t>each</a:t>
            </a:r>
            <a:r>
              <a:rPr lang="hu-HU" sz="1400"/>
              <a:t> </a:t>
            </a:r>
            <a:r>
              <a:rPr lang="hu-HU" sz="1400" err="1"/>
              <a:t>component</a:t>
            </a:r>
            <a:r>
              <a:rPr lang="hu-HU" sz="1400"/>
              <a:t> </a:t>
            </a:r>
            <a:r>
              <a:rPr lang="hu-HU" sz="1400" err="1"/>
              <a:t>independently</a:t>
            </a:r>
            <a:r>
              <a:rPr lang="hu-HU" sz="1400"/>
              <a:t>.</a:t>
            </a:r>
          </a:p>
          <a:p>
            <a:r>
              <a:rPr lang="hu-HU" sz="1400" err="1"/>
              <a:t>They</a:t>
            </a:r>
            <a:r>
              <a:rPr lang="hu-HU" sz="1400"/>
              <a:t> hit a </a:t>
            </a:r>
            <a:r>
              <a:rPr lang="hu-HU" sz="1400" err="1"/>
              <a:t>hard</a:t>
            </a:r>
            <a:r>
              <a:rPr lang="hu-HU" sz="1400"/>
              <a:t> </a:t>
            </a:r>
            <a:r>
              <a:rPr lang="hu-HU" sz="1400" err="1"/>
              <a:t>scaling</a:t>
            </a:r>
            <a:r>
              <a:rPr lang="hu-HU" sz="1400"/>
              <a:t> limit </a:t>
            </a:r>
            <a:r>
              <a:rPr lang="hu-HU" sz="1400" err="1"/>
              <a:t>at</a:t>
            </a:r>
            <a:r>
              <a:rPr lang="hu-HU" sz="1400"/>
              <a:t> </a:t>
            </a:r>
            <a:r>
              <a:rPr lang="hu-HU" sz="1400" err="1"/>
              <a:t>around</a:t>
            </a:r>
            <a:r>
              <a:rPr lang="hu-HU" sz="1400"/>
              <a:t> 5% of </a:t>
            </a:r>
            <a:r>
              <a:rPr lang="hu-HU" sz="1400" err="1"/>
              <a:t>the</a:t>
            </a:r>
            <a:r>
              <a:rPr lang="hu-HU" sz="1400"/>
              <a:t> </a:t>
            </a:r>
            <a:r>
              <a:rPr lang="hu-HU" sz="1400" err="1"/>
              <a:t>expected</a:t>
            </a:r>
            <a:r>
              <a:rPr lang="hu-HU" sz="1400"/>
              <a:t> </a:t>
            </a:r>
            <a:r>
              <a:rPr lang="hu-HU" sz="1400" err="1"/>
              <a:t>load</a:t>
            </a:r>
            <a:r>
              <a:rPr lang="hu-HU" sz="1400"/>
              <a:t>.</a:t>
            </a:r>
          </a:p>
          <a:p>
            <a:r>
              <a:rPr lang="hu-HU" sz="1400"/>
              <a:t>The main </a:t>
            </a:r>
            <a:r>
              <a:rPr lang="hu-HU" sz="1400" err="1"/>
              <a:t>scaling</a:t>
            </a:r>
            <a:r>
              <a:rPr lang="hu-HU" sz="1400"/>
              <a:t> </a:t>
            </a:r>
            <a:r>
              <a:rPr lang="hu-HU" sz="1400" err="1"/>
              <a:t>bottleneck</a:t>
            </a:r>
            <a:r>
              <a:rPr lang="hu-HU" sz="1400"/>
              <a:t> in </a:t>
            </a:r>
            <a:r>
              <a:rPr lang="hu-HU" sz="1400" err="1"/>
              <a:t>the</a:t>
            </a:r>
            <a:r>
              <a:rPr lang="hu-HU" sz="1400"/>
              <a:t> </a:t>
            </a:r>
            <a:r>
              <a:rPr lang="hu-HU" sz="1400" err="1"/>
              <a:t>architecture</a:t>
            </a:r>
            <a:r>
              <a:rPr lang="hu-HU" sz="1400"/>
              <a:t> </a:t>
            </a:r>
            <a:r>
              <a:rPr lang="hu-HU" sz="1400" err="1"/>
              <a:t>was</a:t>
            </a:r>
            <a:r>
              <a:rPr lang="hu-HU" sz="1400"/>
              <a:t> </a:t>
            </a:r>
            <a:r>
              <a:rPr lang="hu-HU" sz="1400" err="1"/>
              <a:t>the</a:t>
            </a:r>
            <a:r>
              <a:rPr lang="hu-HU" sz="1400"/>
              <a:t> </a:t>
            </a:r>
            <a:r>
              <a:rPr lang="hu-HU" sz="1400" err="1"/>
              <a:t>orchestration</a:t>
            </a:r>
            <a:r>
              <a:rPr lang="hu-HU" sz="1400"/>
              <a:t> management </a:t>
            </a:r>
            <a:r>
              <a:rPr lang="hu-HU" sz="1400" err="1"/>
              <a:t>that</a:t>
            </a:r>
            <a:r>
              <a:rPr lang="hu-HU" sz="1400"/>
              <a:t> </a:t>
            </a:r>
            <a:r>
              <a:rPr lang="hu-HU" sz="1400" err="1"/>
              <a:t>was</a:t>
            </a:r>
            <a:r>
              <a:rPr lang="hu-HU" sz="1400"/>
              <a:t> </a:t>
            </a:r>
            <a:r>
              <a:rPr lang="hu-HU" sz="1400" err="1"/>
              <a:t>implemented</a:t>
            </a:r>
            <a:r>
              <a:rPr lang="hu-HU" sz="1400"/>
              <a:t> </a:t>
            </a:r>
            <a:r>
              <a:rPr lang="hu-HU" sz="1400" err="1"/>
              <a:t>using</a:t>
            </a:r>
            <a:r>
              <a:rPr lang="hu-HU" sz="1400"/>
              <a:t> AWS </a:t>
            </a:r>
            <a:r>
              <a:rPr lang="hu-HU" sz="1400" err="1"/>
              <a:t>Step</a:t>
            </a:r>
            <a:r>
              <a:rPr lang="hu-HU" sz="1400"/>
              <a:t> </a:t>
            </a:r>
            <a:r>
              <a:rPr lang="hu-HU" sz="1400" err="1"/>
              <a:t>Functions</a:t>
            </a:r>
            <a:r>
              <a:rPr lang="hu-HU" sz="1400"/>
              <a:t>.</a:t>
            </a:r>
          </a:p>
          <a:p>
            <a:r>
              <a:rPr lang="hu-HU" sz="1400" b="1" err="1"/>
              <a:t>Conclusion</a:t>
            </a:r>
            <a:r>
              <a:rPr lang="hu-HU" sz="1400" b="1"/>
              <a:t> and </a:t>
            </a:r>
            <a:r>
              <a:rPr lang="hu-HU" sz="1400" b="1" err="1"/>
              <a:t>results</a:t>
            </a:r>
            <a:r>
              <a:rPr lang="hu-HU" sz="1400" b="1"/>
              <a:t>:</a:t>
            </a:r>
          </a:p>
          <a:p>
            <a:pPr lvl="1"/>
            <a:r>
              <a:rPr lang="hu-HU" sz="1400" err="1"/>
              <a:t>Microservices</a:t>
            </a:r>
            <a:r>
              <a:rPr lang="hu-HU" sz="1400"/>
              <a:t> and </a:t>
            </a:r>
            <a:r>
              <a:rPr lang="hu-HU" sz="1400" err="1"/>
              <a:t>serverless</a:t>
            </a:r>
            <a:r>
              <a:rPr lang="hu-HU" sz="1400"/>
              <a:t> </a:t>
            </a:r>
            <a:r>
              <a:rPr lang="hu-HU" sz="1400" err="1"/>
              <a:t>components</a:t>
            </a:r>
            <a:r>
              <a:rPr lang="hu-HU" sz="1400"/>
              <a:t> </a:t>
            </a:r>
            <a:r>
              <a:rPr lang="hu-HU" sz="1400" err="1"/>
              <a:t>are</a:t>
            </a:r>
            <a:r>
              <a:rPr lang="hu-HU" sz="1400"/>
              <a:t> </a:t>
            </a:r>
            <a:r>
              <a:rPr lang="hu-HU" sz="1400" err="1"/>
              <a:t>tools</a:t>
            </a:r>
            <a:r>
              <a:rPr lang="hu-HU" sz="1400"/>
              <a:t> </a:t>
            </a:r>
            <a:r>
              <a:rPr lang="hu-HU" sz="1400" err="1"/>
              <a:t>that</a:t>
            </a:r>
            <a:r>
              <a:rPr lang="hu-HU" sz="1400"/>
              <a:t> </a:t>
            </a:r>
            <a:r>
              <a:rPr lang="hu-HU" sz="1400" err="1"/>
              <a:t>do</a:t>
            </a:r>
            <a:r>
              <a:rPr lang="hu-HU" sz="1400"/>
              <a:t> </a:t>
            </a:r>
            <a:r>
              <a:rPr lang="hu-HU" sz="1400" err="1"/>
              <a:t>work</a:t>
            </a:r>
            <a:r>
              <a:rPr lang="hu-HU" sz="1400"/>
              <a:t> </a:t>
            </a:r>
            <a:r>
              <a:rPr lang="hu-HU" sz="1400" err="1"/>
              <a:t>at</a:t>
            </a:r>
            <a:r>
              <a:rPr lang="hu-HU" sz="1400"/>
              <a:t> </a:t>
            </a:r>
            <a:r>
              <a:rPr lang="hu-HU" sz="1400" err="1"/>
              <a:t>high</a:t>
            </a:r>
            <a:r>
              <a:rPr lang="hu-HU" sz="1400"/>
              <a:t> </a:t>
            </a:r>
            <a:r>
              <a:rPr lang="hu-HU" sz="1400" err="1"/>
              <a:t>scale</a:t>
            </a:r>
            <a:r>
              <a:rPr lang="hu-HU" sz="1400"/>
              <a:t>, </a:t>
            </a:r>
            <a:r>
              <a:rPr lang="hu-HU" sz="1400" err="1"/>
              <a:t>but</a:t>
            </a:r>
            <a:r>
              <a:rPr lang="hu-HU" sz="1400"/>
              <a:t> </a:t>
            </a:r>
            <a:r>
              <a:rPr lang="hu-HU" sz="1400" err="1"/>
              <a:t>whether</a:t>
            </a:r>
            <a:r>
              <a:rPr lang="hu-HU" sz="1400"/>
              <a:t> </a:t>
            </a:r>
            <a:r>
              <a:rPr lang="hu-HU" sz="1400" err="1"/>
              <a:t>to</a:t>
            </a:r>
            <a:r>
              <a:rPr lang="hu-HU" sz="1400"/>
              <a:t> </a:t>
            </a:r>
            <a:r>
              <a:rPr lang="hu-HU" sz="1400" err="1"/>
              <a:t>use</a:t>
            </a:r>
            <a:r>
              <a:rPr lang="hu-HU" sz="1400"/>
              <a:t> </a:t>
            </a:r>
            <a:r>
              <a:rPr lang="hu-HU" sz="1400" err="1"/>
              <a:t>them</a:t>
            </a:r>
            <a:r>
              <a:rPr lang="hu-HU" sz="1400"/>
              <a:t> over </a:t>
            </a:r>
            <a:r>
              <a:rPr lang="hu-HU" sz="1400" err="1"/>
              <a:t>monolith</a:t>
            </a:r>
            <a:r>
              <a:rPr lang="hu-HU" sz="1400"/>
              <a:t> has </a:t>
            </a:r>
            <a:r>
              <a:rPr lang="hu-HU" sz="1400" err="1"/>
              <a:t>to</a:t>
            </a:r>
            <a:r>
              <a:rPr lang="hu-HU" sz="1400"/>
              <a:t> be </a:t>
            </a:r>
            <a:r>
              <a:rPr lang="hu-HU" sz="1400" err="1"/>
              <a:t>made</a:t>
            </a:r>
            <a:r>
              <a:rPr lang="hu-HU" sz="1400"/>
              <a:t> </a:t>
            </a:r>
            <a:r>
              <a:rPr lang="hu-HU" sz="1400" err="1"/>
              <a:t>on</a:t>
            </a:r>
            <a:r>
              <a:rPr lang="hu-HU" sz="1400"/>
              <a:t> a </a:t>
            </a:r>
            <a:r>
              <a:rPr lang="hu-HU" sz="1400" err="1"/>
              <a:t>case-by-case</a:t>
            </a:r>
            <a:r>
              <a:rPr lang="hu-HU" sz="1400"/>
              <a:t> </a:t>
            </a:r>
            <a:r>
              <a:rPr lang="hu-HU" sz="1400" err="1"/>
              <a:t>basis</a:t>
            </a:r>
            <a:r>
              <a:rPr lang="hu-HU" sz="1400"/>
              <a:t>.</a:t>
            </a:r>
          </a:p>
          <a:p>
            <a:pPr lvl="1"/>
            <a:r>
              <a:rPr lang="hu-HU" sz="1400" err="1"/>
              <a:t>Moving</a:t>
            </a:r>
            <a:r>
              <a:rPr lang="hu-HU" sz="1400"/>
              <a:t> </a:t>
            </a:r>
            <a:r>
              <a:rPr lang="hu-HU" sz="1400" err="1"/>
              <a:t>this</a:t>
            </a:r>
            <a:r>
              <a:rPr lang="hu-HU" sz="1400"/>
              <a:t> service </a:t>
            </a:r>
            <a:r>
              <a:rPr lang="hu-HU" sz="1400" err="1"/>
              <a:t>to</a:t>
            </a:r>
            <a:r>
              <a:rPr lang="hu-HU" sz="1400"/>
              <a:t> </a:t>
            </a:r>
            <a:r>
              <a:rPr lang="hu-HU" sz="1400" err="1"/>
              <a:t>monolith</a:t>
            </a:r>
            <a:r>
              <a:rPr lang="hu-HU" sz="1400"/>
              <a:t> </a:t>
            </a:r>
            <a:r>
              <a:rPr lang="hu-HU" sz="1400" err="1"/>
              <a:t>reduced</a:t>
            </a:r>
            <a:r>
              <a:rPr lang="hu-HU" sz="1400"/>
              <a:t> </a:t>
            </a:r>
            <a:r>
              <a:rPr lang="hu-HU" sz="1400" err="1"/>
              <a:t>the</a:t>
            </a:r>
            <a:r>
              <a:rPr lang="hu-HU" sz="1400"/>
              <a:t> </a:t>
            </a:r>
            <a:r>
              <a:rPr lang="hu-HU" sz="1400" err="1"/>
              <a:t>infrastructure</a:t>
            </a:r>
            <a:r>
              <a:rPr lang="hu-HU" sz="1400"/>
              <a:t> cost </a:t>
            </a:r>
            <a:r>
              <a:rPr lang="hu-HU" sz="1400" err="1"/>
              <a:t>by</a:t>
            </a:r>
            <a:r>
              <a:rPr lang="hu-HU" sz="1400"/>
              <a:t> over 90% and </a:t>
            </a:r>
            <a:r>
              <a:rPr lang="hu-HU" sz="1400" err="1"/>
              <a:t>increased</a:t>
            </a:r>
            <a:r>
              <a:rPr lang="hu-HU" sz="1400"/>
              <a:t> </a:t>
            </a:r>
            <a:r>
              <a:rPr lang="hu-HU" sz="1400" err="1"/>
              <a:t>scaling</a:t>
            </a:r>
            <a:r>
              <a:rPr lang="hu-HU" sz="1400"/>
              <a:t> </a:t>
            </a:r>
            <a:r>
              <a:rPr lang="hu-HU" sz="1400" err="1"/>
              <a:t>capabilities</a:t>
            </a:r>
            <a:r>
              <a:rPr lang="hu-HU" sz="1400"/>
              <a:t>.</a:t>
            </a:r>
          </a:p>
          <a:p>
            <a:r>
              <a:rPr lang="hu-HU" sz="1400" b="1" err="1"/>
              <a:t>Source</a:t>
            </a:r>
            <a:r>
              <a:rPr lang="hu-HU" sz="1400"/>
              <a:t>: </a:t>
            </a:r>
            <a:r>
              <a:rPr lang="hu-HU" sz="1400">
                <a:hlinkClick r:id="rId2"/>
              </a:rPr>
              <a:t>link</a:t>
            </a:r>
            <a:r>
              <a:rPr lang="hu-HU" sz="1400"/>
              <a:t>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 sz="1800" err="1"/>
              <a:t>Moving</a:t>
            </a:r>
            <a:r>
              <a:rPr lang="hu-HU" sz="1800"/>
              <a:t> </a:t>
            </a:r>
            <a:r>
              <a:rPr lang="hu-HU" sz="1800" err="1"/>
              <a:t>from</a:t>
            </a:r>
            <a:r>
              <a:rPr lang="hu-HU" sz="1800"/>
              <a:t> </a:t>
            </a:r>
            <a:r>
              <a:rPr lang="hu-HU" sz="1800" err="1"/>
              <a:t>microservices</a:t>
            </a:r>
            <a:r>
              <a:rPr lang="hu-HU" sz="1800"/>
              <a:t> &amp; </a:t>
            </a:r>
            <a:r>
              <a:rPr lang="hu-HU" sz="1800" err="1"/>
              <a:t>Serverless</a:t>
            </a:r>
            <a:r>
              <a:rPr lang="hu-HU" sz="1800"/>
              <a:t> </a:t>
            </a:r>
            <a:r>
              <a:rPr lang="hu-HU" sz="1800" err="1"/>
              <a:t>to</a:t>
            </a:r>
            <a:r>
              <a:rPr lang="hu-HU" sz="1800"/>
              <a:t> </a:t>
            </a:r>
            <a:r>
              <a:rPr lang="hu-HU" sz="1800" err="1"/>
              <a:t>monolith</a:t>
            </a:r>
            <a:endParaRPr lang="hu-HU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01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80928" y="1811541"/>
            <a:ext cx="6382144" cy="1220182"/>
          </a:xfrm>
        </p:spPr>
        <p:txBody>
          <a:bodyPr/>
          <a:lstStyle/>
          <a:p>
            <a:r>
              <a:rPr lang="en-US" sz="2800" dirty="0"/>
              <a:t>Thank you for your attention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1A1E5D2-FE5B-DB46-B583-C05E8E74E17D}"/>
              </a:ext>
            </a:extLst>
          </p:cNvPr>
          <p:cNvSpPr txBox="1">
            <a:spLocks/>
          </p:cNvSpPr>
          <p:nvPr/>
        </p:nvSpPr>
        <p:spPr>
          <a:xfrm>
            <a:off x="1388669" y="3127723"/>
            <a:ext cx="6382144" cy="1220182"/>
          </a:xfrm>
          <a:prstGeom prst="rect">
            <a:avLst/>
          </a:prstGeom>
          <a:ln w="63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buNone/>
              <a:defRPr sz="1600" b="1" kern="1200" cap="all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800" dirty="0"/>
              <a:t>Official Contacts:</a:t>
            </a:r>
          </a:p>
          <a:p>
            <a:r>
              <a:rPr lang="en-US" sz="1000" dirty="0"/>
              <a:t>Email: BALAZS_RADOCZ@epam.com</a:t>
            </a:r>
          </a:p>
        </p:txBody>
      </p:sp>
    </p:spTree>
    <p:extLst>
      <p:ext uri="{BB962C8B-B14F-4D97-AF65-F5344CB8AC3E}">
        <p14:creationId xmlns:p14="http://schemas.microsoft.com/office/powerpoint/2010/main" val="67060851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2.xml><?xml version="1.0" encoding="utf-8"?>
<a:theme xmlns:a="http://schemas.openxmlformats.org/drawingml/2006/main" name="General">
  <a:themeElements>
    <a:clrScheme name="Custom 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3.xml><?xml version="1.0" encoding="utf-8"?>
<a:theme xmlns:a="http://schemas.openxmlformats.org/drawingml/2006/main" name="Breakers">
  <a:themeElements>
    <a:clrScheme name="Custom 8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67367244-F583-44E6-8F01-4BEACD68663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d759c-32c4-4035-bc4d-98911fa752ec">
      <Terms xmlns="http://schemas.microsoft.com/office/infopath/2007/PartnerControls"/>
    </lcf76f155ced4ddcb4097134ff3c332f>
    <TaxCatchAll xmlns="81ee9c2e-6268-45a0-bd0a-c80bd3a55b6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CA334FE686704CAC98A9E3E69BAA5C" ma:contentTypeVersion="10" ma:contentTypeDescription="Create a new document." ma:contentTypeScope="" ma:versionID="1f41fe012a3fe536623fcb0662c281bf">
  <xsd:schema xmlns:xsd="http://www.w3.org/2001/XMLSchema" xmlns:xs="http://www.w3.org/2001/XMLSchema" xmlns:p="http://schemas.microsoft.com/office/2006/metadata/properties" xmlns:ns2="a0dd759c-32c4-4035-bc4d-98911fa752ec" xmlns:ns3="81ee9c2e-6268-45a0-bd0a-c80bd3a55b67" targetNamespace="http://schemas.microsoft.com/office/2006/metadata/properties" ma:root="true" ma:fieldsID="84d5171e3779a8514ed5631b7d68e5a8" ns2:_="" ns3:_="">
    <xsd:import namespace="a0dd759c-32c4-4035-bc4d-98911fa752ec"/>
    <xsd:import namespace="81ee9c2e-6268-45a0-bd0a-c80bd3a55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d759c-32c4-4035-bc4d-98911fa752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5e7e27f-e892-4f83-94e1-90b55e231c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e9c2e-6268-45a0-bd0a-c80bd3a55b6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a8c420-a9fc-42be-9aed-b6ca13ba4a74}" ma:internalName="TaxCatchAll" ma:showField="CatchAllData" ma:web="81ee9c2e-6268-45a0-bd0a-c80bd3a55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22303C-586E-4C19-84F7-24F0DBBBB596}">
  <ds:schemaRefs>
    <ds:schemaRef ds:uri="11a5dca0-3636-42de-813f-044b243ee2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8234780-B29E-49BA-B5D3-38B3E79AFA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E75F39-E22D-4D1A-86FF-D935E3B292F6}"/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0</TotalTime>
  <Words>1636</Words>
  <Application>Microsoft Office PowerPoint</Application>
  <PresentationFormat>On-screen Show (16:9)</PresentationFormat>
  <Paragraphs>309</Paragraphs>
  <Slides>37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Covers</vt:lpstr>
      <vt:lpstr>General</vt:lpstr>
      <vt:lpstr>Breakers</vt:lpstr>
      <vt:lpstr>Fundamentals of Software Architecture</vt:lpstr>
      <vt:lpstr>Agenda</vt:lpstr>
      <vt:lpstr>Reminder</vt:lpstr>
      <vt:lpstr>Introduction</vt:lpstr>
      <vt:lpstr>PowerPoint Presentation</vt:lpstr>
      <vt:lpstr>PowerPoint Presentation</vt:lpstr>
      <vt:lpstr>Architect</vt:lpstr>
      <vt:lpstr>Architect</vt:lpstr>
      <vt:lpstr>The software development cycle</vt:lpstr>
      <vt:lpstr>PowerPoint Presentation</vt:lpstr>
      <vt:lpstr>PowerPoint Presentation</vt:lpstr>
      <vt:lpstr>Thinking Architecturally</vt:lpstr>
      <vt:lpstr>PowerPoint Presentation</vt:lpstr>
      <vt:lpstr>PowerPoint Presentation</vt:lpstr>
      <vt:lpstr>PowerPoint Presentation</vt:lpstr>
      <vt:lpstr>PowerPoint Presentation</vt:lpstr>
      <vt:lpstr>Siloed Organization</vt:lpstr>
      <vt:lpstr>PowerPoint Presentation</vt:lpstr>
      <vt:lpstr>Incremental vs. big up-front design</vt:lpstr>
      <vt:lpstr>Domain-Driven Design</vt:lpstr>
      <vt:lpstr>A Design Process: A Brief Introduction</vt:lpstr>
      <vt:lpstr>Requirements gathering</vt:lpstr>
      <vt:lpstr>Narrowing</vt:lpstr>
      <vt:lpstr>Broad Architectural Patterns</vt:lpstr>
      <vt:lpstr>Monoliths</vt:lpstr>
      <vt:lpstr>Microkernel (plugin) architectures</vt:lpstr>
      <vt:lpstr>Message-based architectures</vt:lpstr>
      <vt:lpstr>Microservice and miniservices</vt:lpstr>
      <vt:lpstr>Client-Server Architecture</vt:lpstr>
      <vt:lpstr>REST</vt:lpstr>
      <vt:lpstr>MVC</vt:lpstr>
      <vt:lpstr>Front Controller</vt:lpstr>
      <vt:lpstr>Generative AI &amp; LLMs</vt:lpstr>
      <vt:lpstr>Retrieval Augmented Generation - RAG</vt:lpstr>
      <vt:lpstr>Retrieval Augmented Generation - RAG</vt:lpstr>
      <vt:lpstr>Case Study: Prime video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Markowitz</dc:creator>
  <cp:lastModifiedBy>Filep, Kornel</cp:lastModifiedBy>
  <cp:revision>25</cp:revision>
  <dcterms:created xsi:type="dcterms:W3CDTF">2018-01-26T19:23:30Z</dcterms:created>
  <dcterms:modified xsi:type="dcterms:W3CDTF">2025-10-06T13:08:35Z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0x0101002FCA334FE686704CAC98A9E3E69BAA5C</vt:lpwstr>
  </property>
</Properties>
</file>