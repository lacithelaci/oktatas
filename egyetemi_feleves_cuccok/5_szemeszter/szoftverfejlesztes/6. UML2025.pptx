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5" r:id="rId5"/>
    <p:sldMasterId id="2147483669" r:id="rId6"/>
  </p:sldMasterIdLst>
  <p:notesMasterIdLst>
    <p:notesMasterId r:id="rId56"/>
  </p:notesMasterIdLst>
  <p:sldIdLst>
    <p:sldId id="2142532371" r:id="rId7"/>
    <p:sldId id="2142532367" r:id="rId8"/>
    <p:sldId id="2142532366" r:id="rId9"/>
    <p:sldId id="2142532369" r:id="rId10"/>
    <p:sldId id="2142532370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4" r:id="rId41"/>
    <p:sldId id="295" r:id="rId42"/>
    <p:sldId id="296" r:id="rId43"/>
    <p:sldId id="297" r:id="rId44"/>
    <p:sldId id="298" r:id="rId45"/>
    <p:sldId id="299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2142532372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CDD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777007-8DC2-7E28-56EE-E3B30DF179FD}" v="7" dt="2025-10-13T11:51:39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20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microsoft.com/office/2015/10/relationships/revisionInfo" Target="revisionInfo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presProps" Target="pres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F17C3-9BE3-4BF2-A2AC-94C5A69B5A1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E8FFE-D754-46A1-B16B-FACC954D4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56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74FABB-6DBE-47C4-B626-20167906F4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765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6334d3688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6334d3688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6334d36884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6334d36884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334d36884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6334d36884_2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6334d36884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6334d36884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6334d36884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6334d36884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334d36884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334d36884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6334d36884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6334d36884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6334d36884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6334d36884_2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6334d36884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6334d36884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6334d36884_2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6334d36884_2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6334d36884_2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6334d36884_2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6334d36884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6334d36884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6334d36884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6334d36884_2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6334d36884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6334d36884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6334d36884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6334d36884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6334d36884_2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6334d36884_2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6334d36884_2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6334d36884_2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6334d36884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6334d36884_2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6334d36884_2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6334d36884_2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6334d36884_2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6334d36884_2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6334d36884_2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6334d36884_2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6334d36884_2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6334d36884_2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63473a2468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63473a2468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6334d36884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6334d36884_2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6334d36884_2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6334d36884_2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6334d36884_2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6334d36884_2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63473a246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63473a246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63473a246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63473a246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63473a2468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63473a2468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6334d36884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6334d36884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6334d36884_2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6334d36884_2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3473a24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3473a24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63473a246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63473a246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63473a2468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63473a2468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63473a2468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63473a2468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6334d36884_2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6334d36884_2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6334d36884_2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6334d36884_2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6334d36884_2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6334d36884_2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6334d36884_2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6334d36884_2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6334d36884_2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6334d36884_2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6334d36884_2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6334d36884_2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6334d36884_2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6334d36884_2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334d36884_2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334d36884_2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502B2-F284-42C7-BF23-CCEE44F2B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FAABB-DD28-4B0D-BB2E-2EE53DD24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F4F07-6053-4317-B55E-1D8F93E08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717F-9C81-4977-8630-82DBDFF7780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FE604-CBCE-4777-AE62-25DC98B7E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D02A6-457F-4DCA-A413-29DB2CE1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1D9F-5710-489E-A77D-7486804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1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E9E6-CAEE-48AB-8255-CC8B6884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54F85-7734-4C72-956D-223848339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E84A4-EE5F-4986-8227-6BC9F5F0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717F-9C81-4977-8630-82DBDFF7780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7F0AC-4718-42F7-8F19-9E298D670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C72F1-983C-4465-9250-2E580243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1D9F-5710-489E-A77D-7486804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0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E42CB-A01B-443E-A576-5C2046DF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6ACC7-4455-4707-B27E-4F806170E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9A51E-3083-48AB-9B8F-B04094B42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717F-9C81-4977-8630-82DBDFF7780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2B75E-BEF3-4403-8572-CDE17A982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B1BE4-5F21-4AC3-B756-315FCC76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1D9F-5710-489E-A77D-7486804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90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67B0F-90CC-4AB6-8180-0D3E8038A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7ECF8-20E8-47D3-991E-05925C53E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CDDDF-0D5D-414D-8238-2A4D8313C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BC3EF-F6CA-4A2A-B28D-E19A2A22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717F-9C81-4977-8630-82DBDFF7780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766E8-77CE-4412-BF9B-861F922B3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9C709-DD3A-4895-80F2-C25F4832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1D9F-5710-489E-A77D-7486804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49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B3653-A005-461A-837D-448DFF3F5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01DB9-3560-4A5D-9CA0-32DE1207B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C8D96-BDF6-4089-A3E5-13B89D50E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67826-6007-46F6-9562-5567AC51A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29EAD-C5CF-4C2F-9E03-0B5850440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A2F3F-6876-4138-A007-604F2AEA7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717F-9C81-4977-8630-82DBDFF7780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8B379-A89F-4305-97B4-91E198461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79678D-3A0A-4F67-ABAC-490A232E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1D9F-5710-489E-A77D-7486804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91F4-9B18-4E3E-BE77-7C3632EB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976C3-7F53-4501-B842-E5B80E281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717F-9C81-4977-8630-82DBDFF7780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14DCE-CA83-45BE-A14A-BE766EEC6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A1343C-AB93-4C9D-8EB6-E35122FEE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1D9F-5710-489E-A77D-7486804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74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957BE-050A-4790-9AAD-9ACBB2DE5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717F-9C81-4977-8630-82DBDFF7780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9A2B61-5C90-491B-A9AA-43CF0F05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ADE15-BE2B-4814-9932-74C6F1069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1D9F-5710-489E-A77D-7486804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1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6D32-F164-483A-AEAB-B02B606A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24CF8-D014-48E6-95BB-642E87DF3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079F3-A39B-4BEB-A4F4-8D684D5FA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41FE0-80AD-4B91-B4BE-82B13D967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717F-9C81-4977-8630-82DBDFF7780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20B5B-E96A-4C89-AA98-4F691E2B1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D6E12-B96F-4FDB-800E-6FEC31B0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1D9F-5710-489E-A77D-7486804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91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334AD-DA77-46E6-B1B9-475711384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69874E-151B-47D6-BEFC-B00C9F4CEF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D0433-9150-473B-8D4E-F20598DF6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583B3-24FF-4F22-B3A8-DAB669D47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717F-9C81-4977-8630-82DBDFF7780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E626A-E2BE-4DCC-8CA7-408A7B92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01558-50D0-4C40-B84E-57A3E76B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1D9F-5710-489E-A77D-7486804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104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42BD-1777-41A5-9EC7-ED6037360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23BCD-2F4E-46A6-9460-79D24D9A1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EF4C9-BD5D-42A5-928E-363F8D4F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717F-9C81-4977-8630-82DBDFF7780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D6834-A057-4D98-845F-9AC9BF24E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5562C-CF49-4DD9-BFBC-A6819FB9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1D9F-5710-489E-A77D-7486804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26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19462E-6A48-4C17-8DC7-8A505DE7A7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F50F7-FDFA-4B4C-B9F3-90830E8EC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948E5-2511-44E7-AC5A-E55415C3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717F-9C81-4977-8630-82DBDFF7780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08831-D4A1-44C0-8FCC-23D0CB3AC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0ED23-1E73-4EFB-A63F-EB003CDB1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1D9F-5710-489E-A77D-7486804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68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</p:spTree>
    <p:extLst>
      <p:ext uri="{BB962C8B-B14F-4D97-AF65-F5344CB8AC3E}">
        <p14:creationId xmlns:p14="http://schemas.microsoft.com/office/powerpoint/2010/main" val="3538789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</p:spTree>
    <p:extLst>
      <p:ext uri="{BB962C8B-B14F-4D97-AF65-F5344CB8AC3E}">
        <p14:creationId xmlns:p14="http://schemas.microsoft.com/office/powerpoint/2010/main" val="4228919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8621" y="1883221"/>
            <a:ext cx="5754624" cy="18959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defTabSz="914377"/>
            <a:r>
              <a:rPr lang="en-US" smtClean="0">
                <a:solidFill>
                  <a:srgbClr val="FFFFFF"/>
                </a:solidFill>
              </a:rPr>
              <a:t>DATE OR VENUE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08621" y="4066329"/>
            <a:ext cx="5754624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pic>
        <p:nvPicPr>
          <p:cNvPr id="5" name="Picture Placeholder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1916" y="0"/>
            <a:ext cx="5080000" cy="68580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111916" y="0"/>
            <a:ext cx="5080000" cy="6858000"/>
          </a:xfrm>
          <a:prstGeom prst="rect">
            <a:avLst/>
          </a:prstGeom>
          <a:solidFill>
            <a:srgbClr val="464547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2" tIns="60956" rIns="121912" bIns="60956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5400000">
            <a:off x="3689636" y="3075432"/>
            <a:ext cx="6858000" cy="7071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837173" y="681708"/>
            <a:ext cx="1188379" cy="42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30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Custom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8621" y="1883221"/>
            <a:ext cx="5754624" cy="18959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08621" y="5125025"/>
            <a:ext cx="2593768" cy="532608"/>
          </a:xfrm>
        </p:spPr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defTabSz="914377"/>
            <a:r>
              <a:rPr lang="en-US" smtClean="0">
                <a:solidFill>
                  <a:srgbClr val="FFFFFF"/>
                </a:solidFill>
              </a:rPr>
              <a:t>DATE OR VENUE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08621" y="4066329"/>
            <a:ext cx="5754624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7112000" y="0"/>
            <a:ext cx="5080000" cy="685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/>
              <a:t>Please add cover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765068" y="0"/>
            <a:ext cx="707136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837173" y="681708"/>
            <a:ext cx="1188379" cy="421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81AF72-7AD6-334A-BFA2-32789379DA3D}"/>
              </a:ext>
            </a:extLst>
          </p:cNvPr>
          <p:cNvSpPr txBox="1"/>
          <p:nvPr userDrawn="1"/>
        </p:nvSpPr>
        <p:spPr>
          <a:xfrm>
            <a:off x="561867" y="6503131"/>
            <a:ext cx="3229583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CONFIDENTIAL  |  © </a:t>
            </a:r>
            <a:fld id="{8EE12364-1E27-A547-AEBD-24B950240B57}" type="datetimeyyyy">
              <a:rPr kumimoji="0" lang="en-US" sz="933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</a:t>
            </a:fld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 EPAM Systems, Inc.</a:t>
            </a:r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3280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38DE0-131E-E04E-BD2E-B00FD5B34CB6}"/>
              </a:ext>
            </a:extLst>
          </p:cNvPr>
          <p:cNvSpPr txBox="1"/>
          <p:nvPr userDrawn="1"/>
        </p:nvSpPr>
        <p:spPr>
          <a:xfrm>
            <a:off x="174378" y="6503131"/>
            <a:ext cx="3229583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CONFIDENTIAL  |  © </a:t>
            </a:r>
            <a:fld id="{4904571B-903D-6741-88C6-E4A76A07C191}" type="datetimeyyyy">
              <a:rPr kumimoji="0" lang="en-US" sz="933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</a:t>
            </a:fld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 EPAM Systems, Inc.</a:t>
            </a:r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979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EP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4606" y="2404304"/>
            <a:ext cx="7442791" cy="1626909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507"/>
              </a:spcBef>
              <a:spcAft>
                <a:spcPts val="400"/>
              </a:spcAft>
              <a:defRPr sz="2133" b="1" spc="267" baseline="0">
                <a:latin typeface="+mn-lt"/>
              </a:defRPr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24162653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Bright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4606" y="2404304"/>
            <a:ext cx="7442791" cy="1626909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507"/>
              </a:spcBef>
              <a:spcAft>
                <a:spcPts val="400"/>
              </a:spcAft>
              <a:defRPr sz="2133" b="1" spc="267" baseline="0"/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21713420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Lime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4606" y="2404304"/>
            <a:ext cx="7442791" cy="1626909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507"/>
              </a:spcBef>
              <a:spcAft>
                <a:spcPts val="400"/>
              </a:spcAft>
              <a:defRPr sz="2133" b="1" spc="267" baseline="0"/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3867715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Cor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4606" y="2404304"/>
            <a:ext cx="7442791" cy="1626909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507"/>
              </a:spcBef>
              <a:spcAft>
                <a:spcPts val="400"/>
              </a:spcAft>
              <a:defRPr sz="2133" b="1" spc="267" baseline="0"/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36433040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- EPAM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374605" y="2797813"/>
            <a:ext cx="7442791" cy="78318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200"/>
              </a:lnSpc>
              <a:buNone/>
              <a:defRPr sz="2133">
                <a:solidFill>
                  <a:schemeClr val="bg1"/>
                </a:solidFill>
                <a:latin typeface="+mj-lt"/>
              </a:defRPr>
            </a:lvl1pPr>
            <a:lvl2pPr marL="609585" indent="0">
              <a:buNone/>
              <a:defRPr sz="2133">
                <a:latin typeface="+mj-lt"/>
              </a:defRPr>
            </a:lvl2pPr>
            <a:lvl3pPr marL="1219170" indent="0">
              <a:buNone/>
              <a:defRPr sz="2133">
                <a:latin typeface="+mj-lt"/>
              </a:defRPr>
            </a:lvl3pPr>
            <a:lvl4pPr marL="1828754" indent="0">
              <a:buNone/>
              <a:defRPr sz="2133">
                <a:latin typeface="+mj-lt"/>
              </a:defRPr>
            </a:lvl4pPr>
            <a:lvl5pPr marL="2438339" indent="0">
              <a:buNone/>
              <a:defRPr sz="2133">
                <a:latin typeface="+mj-lt"/>
              </a:defRPr>
            </a:lvl5pPr>
          </a:lstStyle>
          <a:p>
            <a:pPr algn="ctr">
              <a:lnSpc>
                <a:spcPts val="2400"/>
              </a:lnSpc>
            </a:pPr>
            <a:r>
              <a:rPr lang="en-US" sz="2133" baseline="0">
                <a:solidFill>
                  <a:schemeClr val="bg1"/>
                </a:solidFill>
                <a:latin typeface="+mj-lt"/>
              </a:rPr>
              <a:t>Please add call out or quote here</a:t>
            </a:r>
            <a:br>
              <a:rPr lang="en-US" sz="2133" baseline="0">
                <a:solidFill>
                  <a:schemeClr val="bg1"/>
                </a:solidFill>
                <a:latin typeface="+mj-lt"/>
              </a:rPr>
            </a:br>
            <a:r>
              <a:rPr lang="en-US" sz="2133" baseline="0">
                <a:solidFill>
                  <a:schemeClr val="bg1"/>
                </a:solidFill>
                <a:latin typeface="+mj-lt"/>
              </a:rPr>
              <a:t>sit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consectetur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adipiscing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elit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Sed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nec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gravida,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dapibus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turpis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porttitor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tincidunt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nibh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Orci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varius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natoque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penatibus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et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magnis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dis parturient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montes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nascetur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ridiculus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mus. Nam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eget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enim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mauris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Vivamus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sit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congue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nunc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Duis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posuere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rutrum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quis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justo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Phasellus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bibendum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vehicula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id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ornare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Nam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commodo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purus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Proin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lectus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leo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, in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lacinia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convallis. </a:t>
            </a:r>
            <a:endParaRPr lang="en-US" sz="2133" b="1" spc="267" baseline="0">
              <a:solidFill>
                <a:schemeClr val="bg1"/>
              </a:solidFill>
              <a:latin typeface="+mj-lt"/>
              <a:ea typeface="Calibri" charset="0"/>
              <a:cs typeface="Calibr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>
            <a:off x="2" y="-163253"/>
            <a:ext cx="2064269" cy="15832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 rot="10800000">
            <a:off x="10127731" y="4909146"/>
            <a:ext cx="2064269" cy="1583263"/>
          </a:xfrm>
          <a:prstGeom prst="rect">
            <a:avLst/>
          </a:prstGeom>
        </p:spPr>
      </p:pic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6CDD8"/>
            </a:gs>
            <a:gs pos="100000">
              <a:srgbClr val="FFFFF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CF28C2-3CE2-462E-AB2C-3983F413E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E184A-6088-4BD0-9431-0313A1491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9F204-DB4B-4892-BEEE-595C15B0A6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9717F-9C81-4977-8630-82DBDFF7780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1999A-9ED9-49EE-B6AD-D09B1B5E2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4CA78-A977-4E52-90DA-4C27078BC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21D9F-5710-489E-A77D-748680456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76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3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708621" y="1883221"/>
            <a:ext cx="5754624" cy="189590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 here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2"/>
          </p:nvPr>
        </p:nvSpPr>
        <p:spPr>
          <a:xfrm>
            <a:off x="834128" y="5125025"/>
            <a:ext cx="2593768" cy="53260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182880" tIns="91440" rIns="182880" bIns="0" rtlCol="0" anchor="ctr" anchorCtr="0"/>
          <a:lstStyle>
            <a:lvl1pPr algn="l">
              <a:defRPr sz="1600" b="1" cap="all" baseline="0">
                <a:solidFill>
                  <a:schemeClr val="bg1"/>
                </a:solidFill>
              </a:defRPr>
            </a:lvl1pPr>
          </a:lstStyle>
          <a:p>
            <a:pPr defTabSz="914377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68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64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133" b="1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4606" y="2404304"/>
            <a:ext cx="7442791" cy="16269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endParaRPr lang="en-US" sz="5867" b="1" spc="267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35519"/>
            <a:ext cx="12192000" cy="422483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485" y="6549297"/>
            <a:ext cx="627880" cy="2226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32217A-8F11-8743-849F-F8E866BEB919}"/>
              </a:ext>
            </a:extLst>
          </p:cNvPr>
          <p:cNvSpPr txBox="1"/>
          <p:nvPr userDrawn="1"/>
        </p:nvSpPr>
        <p:spPr>
          <a:xfrm>
            <a:off x="1258111" y="6503131"/>
            <a:ext cx="3229583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CONFIDENTIAL  |  © </a:t>
            </a:r>
            <a:fld id="{6BD4558A-67CF-DF4C-ACA6-93D878EA1C18}" type="datetimeyyyy">
              <a:rPr kumimoji="0" lang="en-US" sz="933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</a:t>
            </a:fld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 EPAM Systems, Inc.</a:t>
            </a:r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3264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hf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333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ato.inf.unideb.hu/jeszenszky.peter/download/prt/presentations/uml.pdf" TargetMode="External"/><Relationship Id="rId7" Type="http://schemas.openxmlformats.org/officeDocument/2006/relationships/hyperlink" Target="https://www.tankonyvtar.hu/hu/tartalom/tamop425/0046_szoftverfejlesztes/adatok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lideplayer.hu/slide/2069589/" TargetMode="External"/><Relationship Id="rId5" Type="http://schemas.openxmlformats.org/officeDocument/2006/relationships/hyperlink" Target="http://www.omg.org/spec/UML/2.5.1/" TargetMode="External"/><Relationship Id="rId4" Type="http://schemas.openxmlformats.org/officeDocument/2006/relationships/hyperlink" Target="http://www.omg.org/UML/what-is-uml.ht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- Unified Modeling Language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08621" y="5335380"/>
            <a:ext cx="5754624" cy="418576"/>
          </a:xfrm>
        </p:spPr>
        <p:txBody>
          <a:bodyPr/>
          <a:lstStyle/>
          <a:p>
            <a:r>
              <a:rPr lang="en-US" dirty="0" err="1"/>
              <a:t>Radócz</a:t>
            </a:r>
            <a:r>
              <a:rPr lang="en-US" dirty="0"/>
              <a:t> Balázs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D212A-E369-CB46-BE9C-0744152A0BAF}"/>
              </a:ext>
            </a:extLst>
          </p:cNvPr>
          <p:cNvSpPr txBox="1"/>
          <p:nvPr/>
        </p:nvSpPr>
        <p:spPr>
          <a:xfrm>
            <a:off x="577525" y="6490021"/>
            <a:ext cx="3229583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sz="933">
                <a:solidFill>
                  <a:srgbClr val="FFFFFF"/>
                </a:solidFill>
                <a:latin typeface="Calibri Light"/>
              </a:rPr>
              <a:t>CONFIDENTIAL  |  © </a:t>
            </a:r>
            <a:fld id="{C2C2A205-363F-3A4F-9468-14B73647696B}" type="datetimeyyyy">
              <a:rPr lang="en-US" sz="933">
                <a:solidFill>
                  <a:srgbClr val="FFFFFF"/>
                </a:solidFill>
                <a:latin typeface="Calibri Light"/>
              </a:rPr>
              <a:pPr defTabSz="914377">
                <a:defRPr/>
              </a:pPr>
              <a:t>2025</a:t>
            </a:fld>
            <a:r>
              <a:rPr lang="en-US" sz="933">
                <a:solidFill>
                  <a:srgbClr val="FFFFFF"/>
                </a:solidFill>
                <a:latin typeface="Calibri Light"/>
              </a:rPr>
              <a:t> EPAM Systems, Inc.</a:t>
            </a:r>
            <a:endParaRPr lang="en-US" sz="933">
              <a:solidFill>
                <a:srgbClr val="222222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58509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B0DA3F5-5469-499B-B486-CCDEBFCC71C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A909253F-A407-405E-A545-229DED19EC5F}"/>
              </a:ext>
            </a:extLst>
          </p:cNvPr>
          <p:cNvSpPr txBox="1">
            <a:spLocks/>
          </p:cNvSpPr>
          <p:nvPr/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28600" marR="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indent="-423323">
              <a:buSzPts val="1400"/>
              <a:buFont typeface="Arial"/>
              <a:buAutoNum type="arabicPeriod"/>
            </a:pPr>
            <a:r>
              <a:rPr lang="en-US"/>
              <a:t>Jeszenszky Péter - Programozás technológiák, UML diasor, 2018 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https://arato.inf.unideb.hu/jeszenszky.peter/download/prt/presentations/uml.pdf</a:t>
            </a:r>
            <a:endParaRPr lang="en-US"/>
          </a:p>
          <a:p>
            <a:pPr marL="609585" indent="-423323">
              <a:buSzPts val="1400"/>
              <a:buFont typeface="Arial"/>
              <a:buAutoNum type="arabicPeriod"/>
            </a:pPr>
            <a:r>
              <a:rPr lang="en-US"/>
              <a:t>Harald Störrle: UML ​2, 2007, Budapest, Panem </a:t>
            </a:r>
          </a:p>
          <a:p>
            <a:pPr marL="609585" indent="-423323">
              <a:buSzPts val="1400"/>
              <a:buFont typeface="Arial"/>
              <a:buAutoNum type="arabicPeriod"/>
            </a:pPr>
            <a:r>
              <a:rPr lang="en-US"/>
              <a:t>Introduction To OMG's Unified Modeling Language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http://www.omg.org/UML/what-is-uml.htm</a:t>
            </a:r>
            <a:endParaRPr lang="en-US"/>
          </a:p>
          <a:p>
            <a:pPr marL="609585" indent="-423323">
              <a:buSzPts val="1400"/>
              <a:buFont typeface="Arial"/>
              <a:buAutoNum type="arabicPeriod"/>
            </a:pPr>
            <a:r>
              <a:rPr lang="en-US"/>
              <a:t>OMG Unified Modeling Language (OMG UML) Version 2.5.1. December 2017.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http://www.omg.org/spec/2.5.1/</a:t>
            </a:r>
            <a:endParaRPr lang="en-US"/>
          </a:p>
          <a:p>
            <a:pPr marL="609585" indent="-423323">
              <a:buSzPts val="1400"/>
              <a:buFont typeface="Arial"/>
              <a:buAutoNum type="arabicPeriod"/>
            </a:pPr>
            <a:r>
              <a:rPr lang="en-US"/>
              <a:t>Szoftverfejlesztés - Az UML és fontosabb diagramjai (prezentáció) -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https://slideplayer.hu/slide/2069589/</a:t>
            </a:r>
            <a:endParaRPr lang="en-US"/>
          </a:p>
          <a:p>
            <a:pPr marL="609585" indent="-423323">
              <a:buSzPts val="1400"/>
              <a:buFont typeface="Arial"/>
              <a:buAutoNum type="arabicPeriod"/>
            </a:pPr>
            <a:r>
              <a:rPr lang="en-US"/>
              <a:t>Szoftverfejlesztés - Ficsor Lajos, Krizsán Zoltán, Mileff Péter, </a:t>
            </a:r>
            <a:r>
              <a:rPr lang="en-US" u="sng">
                <a:solidFill>
                  <a:schemeClr val="hlink"/>
                </a:solidFill>
                <a:hlinkClick r:id="rId7"/>
              </a:rPr>
              <a:t>https://www.tankonyvtar.hu/hu/tartalom/tamop425/0046_szoftverfejlesztes/adatok.html</a:t>
            </a:r>
            <a:endParaRPr lang="en-US"/>
          </a:p>
          <a:p>
            <a:pPr marL="609585" indent="-423323">
              <a:buSzPts val="1400"/>
              <a:buFont typeface="Arial"/>
              <a:buAutoNum type="arabicPeriod"/>
            </a:pPr>
            <a:r>
              <a:rPr lang="en-US"/>
              <a:t>https://www.uml-diagrams.org</a:t>
            </a:r>
          </a:p>
          <a:p>
            <a:pPr marL="0" indent="0">
              <a:spcBef>
                <a:spcPts val="2133"/>
              </a:spcBef>
              <a:spcAft>
                <a:spcPts val="2133"/>
              </a:spcAft>
              <a:buFont typeface="Arial"/>
              <a:buNone/>
            </a:pPr>
            <a:endParaRPr lang="en-US" dirty="0"/>
          </a:p>
        </p:txBody>
      </p:sp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1E8EFC73-AE50-4E2E-88C4-59FE8FE0A08A}"/>
              </a:ext>
            </a:extLst>
          </p:cNvPr>
          <p:cNvSpPr txBox="1">
            <a:spLocks/>
          </p:cNvSpPr>
          <p:nvPr/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Irodalom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970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6CDD8"/>
            </a:gs>
            <a:gs pos="100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4A6D560-1AE7-4AA0-9070-3444DD804E0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95F3CD-0D40-4AC6-B28E-0331E9EB0199}"/>
              </a:ext>
            </a:extLst>
          </p:cNvPr>
          <p:cNvSpPr txBox="1"/>
          <p:nvPr/>
        </p:nvSpPr>
        <p:spPr>
          <a:xfrm>
            <a:off x="2062162" y="1190625"/>
            <a:ext cx="8067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Mi </a:t>
            </a:r>
            <a:r>
              <a:rPr lang="en-US" sz="4400" dirty="0" err="1"/>
              <a:t>az</a:t>
            </a:r>
            <a:r>
              <a:rPr lang="en-US" sz="4400" dirty="0"/>
              <a:t> UML?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824A9F-A421-4F5E-904C-BD2755154B1A}"/>
              </a:ext>
            </a:extLst>
          </p:cNvPr>
          <p:cNvSpPr txBox="1"/>
          <p:nvPr/>
        </p:nvSpPr>
        <p:spPr>
          <a:xfrm>
            <a:off x="457200" y="2457912"/>
            <a:ext cx="846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Modellező</a:t>
            </a:r>
            <a:r>
              <a:rPr lang="en-US" dirty="0"/>
              <a:t> </a:t>
            </a:r>
            <a:r>
              <a:rPr lang="en-US" dirty="0" err="1"/>
              <a:t>nyelv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rendszerek</a:t>
            </a:r>
            <a:r>
              <a:rPr lang="en-US" dirty="0"/>
              <a:t> </a:t>
            </a:r>
            <a:r>
              <a:rPr lang="en-US" dirty="0" err="1"/>
              <a:t>modelljeinek</a:t>
            </a:r>
            <a:r>
              <a:rPr lang="en-US" dirty="0"/>
              <a:t> </a:t>
            </a:r>
            <a:r>
              <a:rPr lang="en-US" dirty="0" err="1"/>
              <a:t>vizuális</a:t>
            </a:r>
            <a:r>
              <a:rPr lang="en-US" dirty="0"/>
              <a:t> </a:t>
            </a:r>
            <a:r>
              <a:rPr lang="en-US" dirty="0" err="1"/>
              <a:t>dokumentálását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 </a:t>
            </a:r>
            <a:r>
              <a:rPr lang="en-US" dirty="0" err="1"/>
              <a:t>lehetővé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3AAB1B-3909-4BD0-BD7D-4459B277D0BF}"/>
              </a:ext>
            </a:extLst>
          </p:cNvPr>
          <p:cNvSpPr txBox="1"/>
          <p:nvPr/>
        </p:nvSpPr>
        <p:spPr>
          <a:xfrm>
            <a:off x="457200" y="3325090"/>
            <a:ext cx="51538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“The Unified Modeling Language (UML) is a language for specifying, visualizing, constructing, and documenting the artifacts of software systems, as well as for business modeling and other non-software systems. The UML represents a collection of the best engineering practices that have proven successful in the modeling of large and complex systems.”</a:t>
            </a:r>
            <a:endParaRPr lang="en-US" dirty="0"/>
          </a:p>
        </p:txBody>
      </p:sp>
      <p:pic>
        <p:nvPicPr>
          <p:cNvPr id="13" name="Picture 12" descr="Diagram, timeline&#10;&#10;Description automatically generated">
            <a:extLst>
              <a:ext uri="{FF2B5EF4-FFF2-40B4-BE49-F238E27FC236}">
                <a16:creationId xmlns:a16="http://schemas.microsoft.com/office/drawing/2014/main" id="{DB78DA56-91BC-433E-888E-20C57E95AD5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605" y="2992582"/>
            <a:ext cx="3568464" cy="357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428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5;p18">
            <a:extLst>
              <a:ext uri="{FF2B5EF4-FFF2-40B4-BE49-F238E27FC236}">
                <a16:creationId xmlns:a16="http://schemas.microsoft.com/office/drawing/2014/main" id="{850E288E-1144-4072-81DB-424D8C914EF5}"/>
              </a:ext>
            </a:extLst>
          </p:cNvPr>
          <p:cNvSpPr txBox="1">
            <a:spLocks/>
          </p:cNvSpPr>
          <p:nvPr/>
        </p:nvSpPr>
        <p:spPr>
          <a:xfrm>
            <a:off x="415600" y="15366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28600" marR="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indent="-457189">
              <a:buSzPts val="1800"/>
              <a:buFont typeface="Arial"/>
              <a:buChar char="●"/>
            </a:pP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programozási</a:t>
            </a:r>
            <a:r>
              <a:rPr lang="en-US" b="1" dirty="0"/>
              <a:t> </a:t>
            </a:r>
            <a:r>
              <a:rPr lang="en-US" b="1" dirty="0" err="1"/>
              <a:t>nyelv</a:t>
            </a:r>
            <a:endParaRPr lang="en-US" b="1" dirty="0"/>
          </a:p>
          <a:p>
            <a:pPr marL="609585" indent="-457189">
              <a:buSzPts val="1800"/>
              <a:buFont typeface="Arial"/>
              <a:buChar char="●"/>
            </a:pP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szoftverfejlesztési</a:t>
            </a:r>
            <a:r>
              <a:rPr lang="en-US" b="1" dirty="0"/>
              <a:t> </a:t>
            </a:r>
            <a:r>
              <a:rPr lang="en-US" b="1" dirty="0" err="1"/>
              <a:t>módszertan</a:t>
            </a:r>
            <a:endParaRPr lang="en-US" b="1" dirty="0"/>
          </a:p>
          <a:p>
            <a:pPr marL="609585" indent="-457189">
              <a:buSzPts val="1800"/>
              <a:buFont typeface="Arial"/>
              <a:buChar char="●"/>
            </a:pP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általános</a:t>
            </a:r>
            <a:r>
              <a:rPr lang="en-US" b="1" dirty="0"/>
              <a:t> </a:t>
            </a:r>
            <a:r>
              <a:rPr lang="en-US" b="1" dirty="0" err="1"/>
              <a:t>folyamatmodell</a:t>
            </a:r>
            <a:endParaRPr lang="en-US" b="1" dirty="0"/>
          </a:p>
          <a:p>
            <a:pPr marL="609585" indent="-457189">
              <a:buSzPts val="1800"/>
              <a:buFont typeface="Arial"/>
              <a:buChar char="●"/>
            </a:pP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televíziós</a:t>
            </a:r>
            <a:r>
              <a:rPr lang="en-US" dirty="0"/>
              <a:t> </a:t>
            </a:r>
            <a:r>
              <a:rPr lang="en-US" dirty="0" err="1"/>
              <a:t>sorozat</a:t>
            </a:r>
            <a:endParaRPr lang="en-US" dirty="0"/>
          </a:p>
          <a:p>
            <a:pPr marL="609585" indent="-457189">
              <a:buSzPts val="1800"/>
              <a:buFont typeface="Arial"/>
              <a:buChar char="●"/>
            </a:pP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étel</a:t>
            </a:r>
            <a:endParaRPr lang="en-US" dirty="0"/>
          </a:p>
          <a:p>
            <a:pPr marL="609585" indent="-457189">
              <a:buSzPts val="1800"/>
              <a:buFont typeface="Arial"/>
              <a:buChar char="●"/>
            </a:pPr>
            <a:r>
              <a:rPr lang="en-US" dirty="0" err="1"/>
              <a:t>Nem</a:t>
            </a:r>
            <a:r>
              <a:rPr lang="en-US" dirty="0"/>
              <a:t> ...</a:t>
            </a:r>
          </a:p>
          <a:p>
            <a:pPr marL="0" indent="0">
              <a:spcBef>
                <a:spcPts val="2133"/>
              </a:spcBef>
              <a:buFont typeface="Arial"/>
              <a:buNone/>
            </a:pPr>
            <a:endParaRPr lang="en-US" dirty="0"/>
          </a:p>
          <a:p>
            <a:pPr marL="0" indent="0">
              <a:spcBef>
                <a:spcPts val="2133"/>
              </a:spcBef>
              <a:spcAft>
                <a:spcPts val="2133"/>
              </a:spcAft>
              <a:buFont typeface="Arial"/>
              <a:buNone/>
            </a:pPr>
            <a:r>
              <a:rPr lang="en-US" sz="1600" dirty="0"/>
              <a:t>(Az </a:t>
            </a:r>
            <a:r>
              <a:rPr lang="en-US" sz="1600" dirty="0" err="1"/>
              <a:t>igazsághoz</a:t>
            </a:r>
            <a:r>
              <a:rPr lang="en-US" sz="1600" dirty="0"/>
              <a:t> </a:t>
            </a:r>
            <a:r>
              <a:rPr lang="en-US" sz="1600" dirty="0" err="1"/>
              <a:t>hozzátartozik</a:t>
            </a:r>
            <a:r>
              <a:rPr lang="en-US" sz="1600" dirty="0"/>
              <a:t>, </a:t>
            </a:r>
            <a:r>
              <a:rPr lang="en-US" sz="1600" dirty="0" err="1"/>
              <a:t>hogy</a:t>
            </a:r>
            <a:r>
              <a:rPr lang="en-US" sz="1600" dirty="0"/>
              <a:t> </a:t>
            </a:r>
            <a:r>
              <a:rPr lang="en-US" sz="1600" dirty="0" err="1"/>
              <a:t>az</a:t>
            </a:r>
            <a:r>
              <a:rPr lang="en-US" sz="1600" dirty="0"/>
              <a:t> UML </a:t>
            </a:r>
            <a:r>
              <a:rPr lang="en-US" sz="1600" dirty="0" err="1"/>
              <a:t>rövidíti</a:t>
            </a:r>
            <a:r>
              <a:rPr lang="en-US" sz="1600" dirty="0"/>
              <a:t> a Unconditional Maximum Likelihood </a:t>
            </a:r>
            <a:r>
              <a:rPr lang="en-US" sz="1600" dirty="0" err="1"/>
              <a:t>módszert</a:t>
            </a:r>
            <a:r>
              <a:rPr lang="en-US" sz="1600" dirty="0"/>
              <a:t> is, </a:t>
            </a:r>
            <a:r>
              <a:rPr lang="en-US" sz="1600" dirty="0" err="1"/>
              <a:t>ami</a:t>
            </a:r>
            <a:r>
              <a:rPr lang="en-US" sz="1600" dirty="0"/>
              <a:t> </a:t>
            </a:r>
            <a:r>
              <a:rPr lang="en-US" sz="1600" dirty="0" err="1"/>
              <a:t>egy</a:t>
            </a:r>
            <a:r>
              <a:rPr lang="en-US" sz="1600" dirty="0"/>
              <a:t> </a:t>
            </a:r>
            <a:r>
              <a:rPr lang="en-US" sz="1600" dirty="0" err="1"/>
              <a:t>statisztikai</a:t>
            </a:r>
            <a:r>
              <a:rPr lang="en-US" sz="1600" dirty="0"/>
              <a:t> </a:t>
            </a:r>
            <a:r>
              <a:rPr lang="en-US" sz="1600" dirty="0" err="1"/>
              <a:t>becslési</a:t>
            </a:r>
            <a:r>
              <a:rPr lang="en-US" sz="1600" dirty="0"/>
              <a:t> </a:t>
            </a:r>
            <a:r>
              <a:rPr lang="en-US" sz="1600" dirty="0" err="1"/>
              <a:t>módszer</a:t>
            </a:r>
            <a:r>
              <a:rPr lang="en-US" sz="1600" dirty="0"/>
              <a:t>, de mi </a:t>
            </a:r>
            <a:r>
              <a:rPr lang="en-US" sz="1600" dirty="0" err="1"/>
              <a:t>jelenleg</a:t>
            </a:r>
            <a:r>
              <a:rPr lang="en-US" sz="1600" dirty="0"/>
              <a:t> </a:t>
            </a:r>
            <a:r>
              <a:rPr lang="en-US" sz="1600" dirty="0" err="1"/>
              <a:t>nem</a:t>
            </a:r>
            <a:r>
              <a:rPr lang="en-US" sz="1600" dirty="0"/>
              <a:t> </a:t>
            </a:r>
            <a:r>
              <a:rPr lang="en-US" sz="1600" dirty="0" err="1"/>
              <a:t>ebben</a:t>
            </a:r>
            <a:r>
              <a:rPr lang="en-US" sz="1600" dirty="0"/>
              <a:t> a </a:t>
            </a:r>
            <a:r>
              <a:rPr lang="en-US" sz="1600" dirty="0" err="1"/>
              <a:t>jelentésében</a:t>
            </a:r>
            <a:r>
              <a:rPr lang="en-US" sz="1600" dirty="0"/>
              <a:t> </a:t>
            </a:r>
            <a:r>
              <a:rPr lang="en-US" sz="1600" dirty="0" err="1"/>
              <a:t>tárgyaljuk</a:t>
            </a:r>
            <a:r>
              <a:rPr lang="en-US" sz="1600" dirty="0"/>
              <a:t> </a:t>
            </a:r>
            <a:r>
              <a:rPr lang="en-US" sz="1600" dirty="0" err="1"/>
              <a:t>az</a:t>
            </a:r>
            <a:r>
              <a:rPr lang="en-US" sz="1600" dirty="0"/>
              <a:t> UML-t.)</a:t>
            </a:r>
          </a:p>
        </p:txBody>
      </p:sp>
      <p:sp>
        <p:nvSpPr>
          <p:cNvPr id="3" name="Google Shape;84;p18">
            <a:extLst>
              <a:ext uri="{FF2B5EF4-FFF2-40B4-BE49-F238E27FC236}">
                <a16:creationId xmlns:a16="http://schemas.microsoft.com/office/drawing/2014/main" id="{24909AB4-9F56-4B82-A510-2FDDC465C2C1}"/>
              </a:ext>
            </a:extLst>
          </p:cNvPr>
          <p:cNvSpPr txBox="1">
            <a:spLocks/>
          </p:cNvSpPr>
          <p:nvPr/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400" dirty="0"/>
              <a:t>Mi </a:t>
            </a:r>
            <a:r>
              <a:rPr lang="en-US" sz="4400" dirty="0" err="1"/>
              <a:t>nem</a:t>
            </a:r>
            <a:r>
              <a:rPr lang="en-US" sz="4400" dirty="0"/>
              <a:t> </a:t>
            </a:r>
            <a:r>
              <a:rPr lang="en-US" sz="4400" dirty="0" err="1"/>
              <a:t>az</a:t>
            </a:r>
            <a:r>
              <a:rPr lang="en-US" sz="4400" dirty="0"/>
              <a:t> UML?</a:t>
            </a:r>
            <a:endParaRPr lang="hu" sz="4400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554BD67-602F-44B4-9833-5D8FDD2C8AE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25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8E9621B-71BC-49B3-AF53-813611079DE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  <p:sp>
        <p:nvSpPr>
          <p:cNvPr id="3" name="Google Shape;91;p19">
            <a:extLst>
              <a:ext uri="{FF2B5EF4-FFF2-40B4-BE49-F238E27FC236}">
                <a16:creationId xmlns:a16="http://schemas.microsoft.com/office/drawing/2014/main" id="{15F9D09E-5AA8-41A2-9C1B-F884921222FA}"/>
              </a:ext>
            </a:extLst>
          </p:cNvPr>
          <p:cNvSpPr txBox="1">
            <a:spLocks/>
          </p:cNvSpPr>
          <p:nvPr/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28600" marR="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indent="-423323">
              <a:buSzPts val="1400"/>
              <a:buFont typeface="Arial"/>
              <a:buChar char="●"/>
            </a:pPr>
            <a:r>
              <a:rPr lang="en-US" dirty="0"/>
              <a:t>Az 1970-es </a:t>
            </a:r>
            <a:r>
              <a:rPr lang="en-US" dirty="0" err="1"/>
              <a:t>években</a:t>
            </a:r>
            <a:r>
              <a:rPr lang="en-US" dirty="0"/>
              <a:t> </a:t>
            </a:r>
            <a:r>
              <a:rPr lang="en-US" dirty="0" err="1"/>
              <a:t>megjelennek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első</a:t>
            </a:r>
            <a:r>
              <a:rPr lang="en-US" dirty="0"/>
              <a:t> </a:t>
            </a:r>
            <a:r>
              <a:rPr lang="en-US" dirty="0" err="1"/>
              <a:t>strukturált</a:t>
            </a:r>
            <a:r>
              <a:rPr lang="en-US" dirty="0"/>
              <a:t> </a:t>
            </a:r>
            <a:r>
              <a:rPr lang="en-US" dirty="0" err="1"/>
              <a:t>szoftverfejlsztési</a:t>
            </a:r>
            <a:r>
              <a:rPr lang="en-US" dirty="0"/>
              <a:t> </a:t>
            </a:r>
            <a:r>
              <a:rPr lang="en-US" dirty="0" err="1"/>
              <a:t>módszertanok</a:t>
            </a:r>
            <a:endParaRPr lang="en-US" dirty="0"/>
          </a:p>
          <a:p>
            <a:pPr marL="609585" indent="-423323">
              <a:buSzPts val="1400"/>
              <a:buFont typeface="Arial"/>
              <a:buChar char="●"/>
            </a:pPr>
            <a:r>
              <a:rPr lang="en-US" dirty="0"/>
              <a:t>A 1980-as </a:t>
            </a:r>
            <a:r>
              <a:rPr lang="en-US" dirty="0" err="1"/>
              <a:t>években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első</a:t>
            </a:r>
            <a:r>
              <a:rPr lang="en-US" dirty="0"/>
              <a:t> </a:t>
            </a:r>
            <a:r>
              <a:rPr lang="en-US" dirty="0" err="1"/>
              <a:t>objektumorientált</a:t>
            </a:r>
            <a:r>
              <a:rPr lang="en-US" dirty="0"/>
              <a:t> </a:t>
            </a:r>
            <a:r>
              <a:rPr lang="en-US" b="1" dirty="0" err="1"/>
              <a:t>módszerek</a:t>
            </a:r>
            <a:endParaRPr lang="en-US" b="1" dirty="0"/>
          </a:p>
          <a:p>
            <a:pPr marL="609585" indent="-423323">
              <a:buSzPts val="1400"/>
              <a:buFont typeface="Arial"/>
              <a:buChar char="●"/>
            </a:pPr>
            <a:r>
              <a:rPr lang="en-US" dirty="0"/>
              <a:t>A </a:t>
            </a:r>
            <a:r>
              <a:rPr lang="en-US" dirty="0" err="1"/>
              <a:t>módszerek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 </a:t>
            </a:r>
            <a:r>
              <a:rPr lang="en-US" dirty="0" err="1"/>
              <a:t>apróbb</a:t>
            </a:r>
            <a:r>
              <a:rPr lang="en-US" dirty="0"/>
              <a:t> </a:t>
            </a:r>
            <a:r>
              <a:rPr lang="en-US" dirty="0" err="1"/>
              <a:t>eltérések</a:t>
            </a:r>
            <a:r>
              <a:rPr lang="en-US" dirty="0"/>
              <a:t> is </a:t>
            </a:r>
            <a:r>
              <a:rPr lang="en-US" dirty="0" err="1"/>
              <a:t>komoly</a:t>
            </a:r>
            <a:r>
              <a:rPr lang="en-US" dirty="0"/>
              <a:t> </a:t>
            </a:r>
            <a:r>
              <a:rPr lang="en-US" dirty="0" err="1"/>
              <a:t>vitákat</a:t>
            </a:r>
            <a:r>
              <a:rPr lang="en-US" dirty="0"/>
              <a:t> </a:t>
            </a:r>
            <a:r>
              <a:rPr lang="en-US" dirty="0" err="1"/>
              <a:t>váltottak</a:t>
            </a:r>
            <a:r>
              <a:rPr lang="en-US" dirty="0"/>
              <a:t> ki a </a:t>
            </a:r>
            <a:r>
              <a:rPr lang="en-US" dirty="0" err="1"/>
              <a:t>terület</a:t>
            </a:r>
            <a:r>
              <a:rPr lang="en-US" dirty="0"/>
              <a:t> </a:t>
            </a:r>
            <a:r>
              <a:rPr lang="en-US" dirty="0" err="1"/>
              <a:t>szakértői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 (War of Methodologies)</a:t>
            </a:r>
          </a:p>
          <a:p>
            <a:pPr marL="609585" indent="-423323">
              <a:buSzPts val="1400"/>
              <a:buFont typeface="Arial"/>
              <a:buChar char="●"/>
            </a:pPr>
            <a:r>
              <a:rPr lang="en-US" dirty="0" err="1"/>
              <a:t>Szükséges</a:t>
            </a:r>
            <a:r>
              <a:rPr lang="en-US" dirty="0"/>
              <a:t> volt </a:t>
            </a:r>
            <a:r>
              <a:rPr lang="en-US" dirty="0" err="1"/>
              <a:t>közelíteni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egyes</a:t>
            </a:r>
            <a:r>
              <a:rPr lang="en-US" dirty="0"/>
              <a:t> </a:t>
            </a:r>
            <a:r>
              <a:rPr lang="en-US" dirty="0" err="1"/>
              <a:t>irányzatokat</a:t>
            </a:r>
            <a:r>
              <a:rPr lang="en-US" dirty="0"/>
              <a:t> </a:t>
            </a:r>
            <a:r>
              <a:rPr lang="en-US" dirty="0" err="1"/>
              <a:t>egymáshoz</a:t>
            </a:r>
            <a:endParaRPr lang="en-US" dirty="0"/>
          </a:p>
          <a:p>
            <a:pPr marL="1219170" lvl="1" indent="-423323">
              <a:buSzPts val="1400"/>
              <a:buFont typeface="Arial"/>
              <a:buChar char="○"/>
            </a:pPr>
            <a:r>
              <a:rPr lang="en-US" dirty="0"/>
              <a:t> „Three Amigos”</a:t>
            </a:r>
          </a:p>
          <a:p>
            <a:pPr marL="1828754" lvl="2" indent="-423323">
              <a:buSzPts val="1400"/>
              <a:buFont typeface="Arial"/>
              <a:buChar char="■"/>
            </a:pPr>
            <a:r>
              <a:rPr lang="en-US" dirty="0"/>
              <a:t>Grandy </a:t>
            </a:r>
            <a:r>
              <a:rPr lang="en-US" dirty="0" err="1"/>
              <a:t>Booch</a:t>
            </a:r>
            <a:endParaRPr lang="en-US" dirty="0"/>
          </a:p>
          <a:p>
            <a:pPr marL="1828754" lvl="2" indent="-423323">
              <a:buSzPts val="1400"/>
              <a:buFont typeface="Arial"/>
              <a:buChar char="■"/>
            </a:pPr>
            <a:r>
              <a:rPr lang="en-US" dirty="0"/>
              <a:t>Jim Rumbaugh (OMT)</a:t>
            </a:r>
          </a:p>
          <a:p>
            <a:pPr marL="1828754" lvl="2" indent="-423323">
              <a:buSzPts val="1400"/>
              <a:buFont typeface="Arial"/>
              <a:buChar char="■"/>
            </a:pPr>
            <a:r>
              <a:rPr lang="en-US" dirty="0"/>
              <a:t>Ivar Jacobson (OOSE)</a:t>
            </a:r>
          </a:p>
          <a:p>
            <a:pPr marL="609585" indent="-423323">
              <a:buSzPts val="1400"/>
              <a:buFont typeface="Arial"/>
              <a:buChar char="●"/>
            </a:pPr>
            <a:r>
              <a:rPr lang="en-US" dirty="0"/>
              <a:t>A </a:t>
            </a:r>
            <a:r>
              <a:rPr lang="en-US" dirty="0" err="1"/>
              <a:t>szabványosítási</a:t>
            </a:r>
            <a:r>
              <a:rPr lang="en-US" dirty="0"/>
              <a:t> </a:t>
            </a:r>
            <a:r>
              <a:rPr lang="en-US" dirty="0" err="1"/>
              <a:t>törekvés</a:t>
            </a:r>
            <a:r>
              <a:rPr lang="en-US" dirty="0"/>
              <a:t> </a:t>
            </a:r>
            <a:r>
              <a:rPr lang="en-US" dirty="0" err="1"/>
              <a:t>eredményeként</a:t>
            </a:r>
            <a:r>
              <a:rPr lang="en-US" dirty="0"/>
              <a:t> 1995-ben </a:t>
            </a:r>
            <a:r>
              <a:rPr lang="en-US" dirty="0" err="1"/>
              <a:t>az</a:t>
            </a:r>
            <a:r>
              <a:rPr lang="en-US" dirty="0"/>
              <a:t> OMG (Object Management Group) </a:t>
            </a:r>
            <a:r>
              <a:rPr lang="en-US" dirty="0" err="1"/>
              <a:t>kiadja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UML 0.9 </a:t>
            </a:r>
            <a:r>
              <a:rPr lang="en-US" dirty="0" err="1"/>
              <a:t>verziót</a:t>
            </a:r>
            <a:r>
              <a:rPr lang="en-US" dirty="0"/>
              <a:t>.</a:t>
            </a:r>
          </a:p>
          <a:p>
            <a:pPr marL="609585" indent="-423323">
              <a:buSzPts val="1400"/>
              <a:buFont typeface="Arial"/>
              <a:buChar char="●"/>
            </a:pPr>
            <a:r>
              <a:rPr lang="en-US" dirty="0" err="1"/>
              <a:t>Jelenleg</a:t>
            </a:r>
            <a:r>
              <a:rPr lang="en-US" dirty="0"/>
              <a:t> a </a:t>
            </a:r>
            <a:r>
              <a:rPr lang="en-US" dirty="0" err="1"/>
              <a:t>legfrissebb</a:t>
            </a:r>
            <a:r>
              <a:rPr lang="en-US" dirty="0"/>
              <a:t> </a:t>
            </a:r>
            <a:r>
              <a:rPr lang="en-US" dirty="0" err="1"/>
              <a:t>verziója</a:t>
            </a:r>
            <a:r>
              <a:rPr lang="en-US" dirty="0"/>
              <a:t> a 2.5.1 </a:t>
            </a:r>
            <a:r>
              <a:rPr lang="en-US" dirty="0" err="1"/>
              <a:t>verzió</a:t>
            </a:r>
            <a:r>
              <a:rPr lang="en-US" dirty="0"/>
              <a:t>, </a:t>
            </a:r>
            <a:r>
              <a:rPr lang="en-US" dirty="0" err="1"/>
              <a:t>melyet</a:t>
            </a:r>
            <a:r>
              <a:rPr lang="en-US" dirty="0"/>
              <a:t> 2017. </a:t>
            </a:r>
            <a:r>
              <a:rPr lang="en-US" dirty="0" err="1"/>
              <a:t>decemberben</a:t>
            </a:r>
            <a:r>
              <a:rPr lang="en-US" dirty="0"/>
              <a:t> </a:t>
            </a:r>
            <a:r>
              <a:rPr lang="en-US" dirty="0" err="1"/>
              <a:t>adtak</a:t>
            </a:r>
            <a:r>
              <a:rPr lang="en-US" dirty="0"/>
              <a:t> ki </a:t>
            </a:r>
          </a:p>
        </p:txBody>
      </p:sp>
      <p:sp>
        <p:nvSpPr>
          <p:cNvPr id="4" name="Google Shape;90;p19">
            <a:extLst>
              <a:ext uri="{FF2B5EF4-FFF2-40B4-BE49-F238E27FC236}">
                <a16:creationId xmlns:a16="http://schemas.microsoft.com/office/drawing/2014/main" id="{4577BEAD-2446-4D0F-A641-99F6BB107E85}"/>
              </a:ext>
            </a:extLst>
          </p:cNvPr>
          <p:cNvSpPr txBox="1">
            <a:spLocks/>
          </p:cNvSpPr>
          <p:nvPr/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400" dirty="0"/>
              <a:t>Az UML </a:t>
            </a:r>
            <a:r>
              <a:rPr lang="en-US" sz="4400" dirty="0" err="1"/>
              <a:t>rövid</a:t>
            </a:r>
            <a:r>
              <a:rPr lang="en-US" sz="4400" dirty="0"/>
              <a:t> </a:t>
            </a:r>
            <a:r>
              <a:rPr lang="en-US" sz="4400" dirty="0" err="1"/>
              <a:t>története</a:t>
            </a:r>
            <a:r>
              <a:rPr lang="hu" sz="4400" dirty="0">
                <a:solidFill>
                  <a:srgbClr val="333333"/>
                </a:solidFill>
                <a:highlight>
                  <a:srgbClr val="FFFFFF"/>
                </a:highlight>
              </a:rPr>
              <a:t>  </a:t>
            </a:r>
            <a:endParaRPr lang="hu" sz="4400" dirty="0"/>
          </a:p>
        </p:txBody>
      </p:sp>
    </p:spTree>
    <p:extLst>
      <p:ext uri="{BB962C8B-B14F-4D97-AF65-F5344CB8AC3E}">
        <p14:creationId xmlns:p14="http://schemas.microsoft.com/office/powerpoint/2010/main" val="1528456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Mi a modell?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A modell egy “eredeti” leképezése, mely alapján könnyebben, olcsóbban, gyorsabban vagy egyáltalán korábban tehetők előrejelzések az eredetiről.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0"/>
              </a:spcBef>
            </a:pPr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szervezeti és/vagy műszaki folyamatok → elmezés és tervezés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0"/>
              </a:spcBef>
            </a:pPr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egy meglévő alkalmazásrendszer → dokumentáció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A rendszert minden esetben egy adott nézőpontból írja le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A modellezés értelmezhető a szoftverfejlesztési életciklus minden fázisában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0"/>
              </a:spcBef>
            </a:pPr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Jelentős hangsúlya azo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ban a korai szakaszokban van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68757364-8718-49CA-8AA0-6C2CDE3B98E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A modell fontossága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hu" i="1"/>
              <a:t>“leggyakrabban a követelmények felállításánál, vagy a tervezésnél csúsznak be hibák, és minnél később kerülnek eltávolításra, az annál költségesebb” </a:t>
            </a:r>
            <a:r>
              <a:rPr lang="hu"/>
              <a:t>(Endres és Romback, 2003)</a:t>
            </a:r>
            <a:endParaRPr/>
          </a:p>
          <a:p>
            <a:pPr>
              <a:spcBef>
                <a:spcPts val="2133"/>
              </a:spcBef>
            </a:pPr>
            <a:r>
              <a:rPr lang="hu" i="1"/>
              <a:t>A megfelelő, valid modellre fordított idő megtérül.</a:t>
            </a:r>
            <a:endParaRPr i="1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909FE4B-EA5C-41F7-9A0B-FBF9818D5B0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95433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Mi a meta modell?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/>
              <a:t>A metamodell a modell modelje.</a:t>
            </a:r>
            <a:endParaRPr/>
          </a:p>
          <a:p>
            <a:pPr lvl="1">
              <a:spcBef>
                <a:spcPts val="0"/>
              </a:spcBef>
            </a:pPr>
            <a:r>
              <a:rPr lang="hu"/>
              <a:t>Az UML metamodellje egy olyan modell, amely teljes egészében modellezi önmagát </a:t>
            </a:r>
            <a:endParaRPr/>
          </a:p>
          <a:p>
            <a:pPr lvl="1">
              <a:spcBef>
                <a:spcPts val="0"/>
              </a:spcBef>
            </a:pPr>
            <a:r>
              <a:rPr lang="hu"/>
              <a:t>Egy megfelelő metamodell további modellek kialakítását is lehetővé teszi</a:t>
            </a:r>
            <a:endParaRPr/>
          </a:p>
          <a:p>
            <a:r>
              <a:rPr lang="hu"/>
              <a:t>Meta Object Facility</a:t>
            </a:r>
            <a:endParaRPr/>
          </a:p>
          <a:p>
            <a:pPr lvl="1">
              <a:spcBef>
                <a:spcPts val="0"/>
              </a:spcBef>
            </a:pPr>
            <a:r>
              <a:rPr lang="hu"/>
              <a:t>A MOF egy nyílt és platformfüggetlen metaadat kezelő keretrendszert és kapcsolódó metaadat szolgáltatásokat biztosít, melyek lehetővé teszik modell- és metaadat vezérelt rendszerek fejlesztését és együttműködését.</a:t>
            </a:r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F9D246C-6389-4120-9B89-2A8B43D2D0E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Az UML felépítése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/>
              <a:t>Rétegzett metamodellezési koncepció, az UML “magja” rendkívül tömör, egyszerű és nagy</a:t>
            </a:r>
            <a:r>
              <a:rPr lang="en-US" dirty="0"/>
              <a:t>on</a:t>
            </a:r>
            <a:r>
              <a:rPr lang="hu" dirty="0"/>
              <a:t> kifejező erejű</a:t>
            </a:r>
            <a:endParaRPr dirty="0"/>
          </a:p>
          <a:p>
            <a:r>
              <a:rPr lang="hu" dirty="0"/>
              <a:t>Minden rendszer egy modell példánya</a:t>
            </a:r>
            <a:endParaRPr dirty="0"/>
          </a:p>
          <a:p>
            <a:r>
              <a:rPr lang="hu" dirty="0"/>
              <a:t>Minden modell egy metamodell példánya</a:t>
            </a:r>
            <a:endParaRPr dirty="0"/>
          </a:p>
          <a:p>
            <a:r>
              <a:rPr lang="hu" dirty="0"/>
              <a:t>Minden metamodel egy meta-metamodell példánya</a:t>
            </a:r>
            <a:endParaRPr dirty="0"/>
          </a:p>
          <a:p>
            <a:pPr indent="0">
              <a:spcBef>
                <a:spcPts val="2133"/>
              </a:spcBef>
              <a:spcAft>
                <a:spcPts val="2133"/>
              </a:spcAft>
              <a:buNone/>
            </a:pPr>
            <a:endParaRPr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B083BF8C-7FE8-4797-A23B-50905DE9B6A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Az UML metamodel-architektúrája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8632" y="1560167"/>
            <a:ext cx="6119101" cy="5259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AEC9AAB-A78D-4036-947A-5EEF3BF93F3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Diagramok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Google Shape;134;p2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/>
              <a:t>Lehetővé teszi grafikus jelölésmódok modellezését és cseréjét, speciálisan gráf jellegű diagramokét, melyeket például az UML, a SysML és a BPMN használ, ahol a jelölésmód a MOF-fal definiált absztrakt szintaxishoz kötődik. (Jeszenszky, 2018) </a:t>
            </a:r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18A86DE-5191-4127-BEA5-FE719B6434B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UML diagramok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Google Shape;140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hu"/>
              <a:t> A diagramoknak két fő típusa van: </a:t>
            </a:r>
            <a:endParaRPr/>
          </a:p>
          <a:p>
            <a:pPr>
              <a:spcBef>
                <a:spcPts val="2133"/>
              </a:spcBef>
            </a:pPr>
            <a:r>
              <a:rPr lang="hu"/>
              <a:t>Szerkezeti diagramok: statikus viselkedést, állapotot ír le </a:t>
            </a:r>
            <a:endParaRPr/>
          </a:p>
          <a:p>
            <a:r>
              <a:rPr lang="hu"/>
              <a:t>Viselkedési diagramok: egy rendszeren belüli dinamikus viselkedését írják, együttműködést, tevékenységeket, állapotváltozásokat. </a:t>
            </a:r>
            <a:endParaRPr/>
          </a:p>
          <a:p>
            <a:pPr marL="0" indent="0">
              <a:spcBef>
                <a:spcPts val="2133"/>
              </a:spcBef>
              <a:buNone/>
            </a:pPr>
            <a:r>
              <a:rPr lang="hu"/>
              <a:t>A rendszer dinamikus viselkedése a rendszerben történő időbeli változások sorozataként írható le. </a:t>
            </a: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hu"/>
              <a:t>A fenti felosztás nem zárja ki a különböző fajta diagramtípusok keverését.</a:t>
            </a:r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E92CFDC-AA39-473E-B7D8-D0C3A1B7713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UML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Google Shape;146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/>
              <a:t>“Üres diagram”</a:t>
            </a:r>
            <a:endParaRPr/>
          </a:p>
        </p:txBody>
      </p:sp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732" y="2277900"/>
            <a:ext cx="2716933" cy="1566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7F2F8081-6E73-467E-87B1-4620B6CA53B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UML diagramok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2601" y="519234"/>
            <a:ext cx="5485833" cy="594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5F656C96-A937-449B-983B-2BDB5AB8366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UML diagramok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Google Shape;160;p3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/>
              <a:t>Szerkezeti diagramok (structure diagrams):</a:t>
            </a:r>
            <a:endParaRPr/>
          </a:p>
          <a:p>
            <a:pPr lvl="1">
              <a:spcBef>
                <a:spcPts val="0"/>
              </a:spcBef>
            </a:pPr>
            <a:r>
              <a:rPr lang="hu"/>
              <a:t>Csomagdiagram (package diagram)</a:t>
            </a:r>
            <a:endParaRPr/>
          </a:p>
          <a:p>
            <a:pPr lvl="1">
              <a:spcBef>
                <a:spcPts val="0"/>
              </a:spcBef>
            </a:pPr>
            <a:r>
              <a:rPr lang="hu"/>
              <a:t>Profil diagram (profile diagram) </a:t>
            </a:r>
            <a:endParaRPr/>
          </a:p>
          <a:p>
            <a:pPr lvl="1">
              <a:spcBef>
                <a:spcPts val="0"/>
              </a:spcBef>
            </a:pPr>
            <a:r>
              <a:rPr lang="hu"/>
              <a:t>Telepítési diagram (deployment diagram) </a:t>
            </a:r>
            <a:endParaRPr/>
          </a:p>
          <a:p>
            <a:pPr lvl="1">
              <a:spcBef>
                <a:spcPts val="0"/>
              </a:spcBef>
              <a:buClr>
                <a:srgbClr val="FF00FF"/>
              </a:buClr>
            </a:pPr>
            <a:r>
              <a:rPr lang="hu">
                <a:solidFill>
                  <a:srgbClr val="FF00FF"/>
                </a:solidFill>
              </a:rPr>
              <a:t>Komponensdiagram (component diagram) </a:t>
            </a:r>
            <a:endParaRPr>
              <a:solidFill>
                <a:srgbClr val="FF00FF"/>
              </a:solidFill>
            </a:endParaRPr>
          </a:p>
          <a:p>
            <a:pPr lvl="1">
              <a:spcBef>
                <a:spcPts val="0"/>
              </a:spcBef>
            </a:pPr>
            <a:r>
              <a:rPr lang="hu"/>
              <a:t>Objektum diagram (object diagram) </a:t>
            </a:r>
            <a:endParaRPr/>
          </a:p>
          <a:p>
            <a:pPr lvl="1">
              <a:spcBef>
                <a:spcPts val="0"/>
              </a:spcBef>
              <a:buClr>
                <a:srgbClr val="FF0000"/>
              </a:buClr>
            </a:pPr>
            <a:r>
              <a:rPr lang="hu">
                <a:solidFill>
                  <a:srgbClr val="FF0000"/>
                </a:solidFill>
              </a:rPr>
              <a:t>Osztálydiagram (class diagram) </a:t>
            </a:r>
            <a:endParaRPr>
              <a:solidFill>
                <a:srgbClr val="FF0000"/>
              </a:solidFill>
            </a:endParaRPr>
          </a:p>
          <a:p>
            <a:pPr lvl="1">
              <a:spcBef>
                <a:spcPts val="0"/>
              </a:spcBef>
            </a:pPr>
            <a:r>
              <a:rPr lang="hu"/>
              <a:t>Összetett struktúra diagram (composite structure diagram) </a:t>
            </a:r>
            <a:endParaRPr/>
          </a:p>
          <a:p>
            <a:pPr marL="1219170" indent="0">
              <a:spcBef>
                <a:spcPts val="2133"/>
              </a:spcBef>
              <a:buNone/>
            </a:pPr>
            <a:endParaRPr/>
          </a:p>
          <a:p>
            <a:pPr indent="0">
              <a:spcBef>
                <a:spcPts val="2133"/>
              </a:spcBef>
              <a:spcAft>
                <a:spcPts val="2133"/>
              </a:spcAft>
              <a:buNone/>
            </a:pPr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2323C92-0F45-41DE-97AB-CE167849ADE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UML diagramok</a:t>
            </a:r>
            <a:endParaRPr dirty="0"/>
          </a:p>
        </p:txBody>
      </p:sp>
      <p:sp>
        <p:nvSpPr>
          <p:cNvPr id="166" name="Google Shape;166;p3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/>
              <a:t>Viselkedési diagramok (behavior diagrams): </a:t>
            </a:r>
            <a:endParaRPr/>
          </a:p>
          <a:p>
            <a:pPr lvl="1">
              <a:spcBef>
                <a:spcPts val="0"/>
              </a:spcBef>
              <a:buClr>
                <a:srgbClr val="FF0000"/>
              </a:buClr>
            </a:pPr>
            <a:r>
              <a:rPr lang="hu">
                <a:solidFill>
                  <a:srgbClr val="FF00FF"/>
                </a:solidFill>
              </a:rPr>
              <a:t>Állapotgép diagram (state machine diagram)</a:t>
            </a:r>
            <a:r>
              <a:rPr lang="hu">
                <a:solidFill>
                  <a:srgbClr val="FF0000"/>
                </a:solidFill>
              </a:rPr>
              <a:t> </a:t>
            </a:r>
            <a:endParaRPr>
              <a:solidFill>
                <a:srgbClr val="FF0000"/>
              </a:solidFill>
            </a:endParaRPr>
          </a:p>
          <a:p>
            <a:pPr lvl="1">
              <a:spcBef>
                <a:spcPts val="0"/>
              </a:spcBef>
              <a:buClr>
                <a:srgbClr val="FF0000"/>
              </a:buClr>
            </a:pPr>
            <a:r>
              <a:rPr lang="hu">
                <a:solidFill>
                  <a:srgbClr val="FF0000"/>
                </a:solidFill>
              </a:rPr>
              <a:t>Használati eset diagram (use case diagram) </a:t>
            </a:r>
            <a:endParaRPr>
              <a:solidFill>
                <a:srgbClr val="FF0000"/>
              </a:solidFill>
            </a:endParaRPr>
          </a:p>
          <a:p>
            <a:pPr lvl="1">
              <a:spcBef>
                <a:spcPts val="0"/>
              </a:spcBef>
              <a:buClr>
                <a:srgbClr val="FF0000"/>
              </a:buClr>
            </a:pPr>
            <a:r>
              <a:rPr lang="hu">
                <a:solidFill>
                  <a:srgbClr val="FF0000"/>
                </a:solidFill>
              </a:rPr>
              <a:t>Aktivitás diagram (activity diagram) </a:t>
            </a:r>
            <a:endParaRPr>
              <a:solidFill>
                <a:srgbClr val="FF0000"/>
              </a:solidFill>
            </a:endParaRPr>
          </a:p>
          <a:p>
            <a:pPr lvl="1">
              <a:spcBef>
                <a:spcPts val="0"/>
              </a:spcBef>
            </a:pPr>
            <a:r>
              <a:rPr lang="hu"/>
              <a:t>Kölcsönhatás diagram (interaction diagram): </a:t>
            </a:r>
            <a:endParaRPr/>
          </a:p>
          <a:p>
            <a:pPr lvl="2">
              <a:spcBef>
                <a:spcPts val="0"/>
              </a:spcBef>
            </a:pPr>
            <a:r>
              <a:rPr lang="hu"/>
              <a:t>Kölcsönhatás áttekintő diagram (interaction overview diagram)</a:t>
            </a:r>
            <a:endParaRPr/>
          </a:p>
          <a:p>
            <a:pPr lvl="2">
              <a:spcBef>
                <a:spcPts val="0"/>
              </a:spcBef>
              <a:buClr>
                <a:srgbClr val="FF0000"/>
              </a:buClr>
            </a:pPr>
            <a:r>
              <a:rPr lang="hu">
                <a:solidFill>
                  <a:srgbClr val="FF0000"/>
                </a:solidFill>
              </a:rPr>
              <a:t>Szekvenciadiagram (sequence diagram)</a:t>
            </a:r>
            <a:endParaRPr>
              <a:solidFill>
                <a:srgbClr val="FF0000"/>
              </a:solidFill>
            </a:endParaRPr>
          </a:p>
          <a:p>
            <a:pPr lvl="2">
              <a:spcBef>
                <a:spcPts val="0"/>
              </a:spcBef>
            </a:pPr>
            <a:r>
              <a:rPr lang="hu"/>
              <a:t>Időzítési diagram (timing diagram) </a:t>
            </a:r>
            <a:endParaRPr/>
          </a:p>
          <a:p>
            <a:pPr lvl="2">
              <a:spcBef>
                <a:spcPts val="0"/>
              </a:spcBef>
              <a:buClr>
                <a:srgbClr val="FF00FF"/>
              </a:buClr>
            </a:pPr>
            <a:r>
              <a:rPr lang="hu">
                <a:solidFill>
                  <a:srgbClr val="FF00FF"/>
                </a:solidFill>
              </a:rPr>
              <a:t>Kommunikációs diagram (communication diagram) </a:t>
            </a:r>
            <a:endParaRPr>
              <a:solidFill>
                <a:srgbClr val="FF00FF"/>
              </a:solidFill>
            </a:endParaRPr>
          </a:p>
          <a:p>
            <a:pPr marL="1828754" indent="0">
              <a:spcBef>
                <a:spcPts val="2133"/>
              </a:spcBef>
              <a:buNone/>
            </a:pPr>
            <a:endParaRPr>
              <a:solidFill>
                <a:srgbClr val="FF0000"/>
              </a:solidFill>
            </a:endParaRPr>
          </a:p>
          <a:p>
            <a:pPr indent="0">
              <a:spcBef>
                <a:spcPts val="2133"/>
              </a:spcBef>
              <a:spcAft>
                <a:spcPts val="2133"/>
              </a:spcAft>
              <a:buNone/>
            </a:pPr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98FF82C0-6E4F-4E35-81F9-21E2BF25248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Általános grafikus jelölő elemek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Google Shape;172;p3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/>
              <a:t>Megjegyzés (Comment)</a:t>
            </a:r>
            <a:endParaRPr dirty="0"/>
          </a:p>
          <a:p>
            <a:pPr lvl="1">
              <a:spcBef>
                <a:spcPts val="0"/>
              </a:spcBef>
            </a:pPr>
            <a:r>
              <a:rPr lang="hu" dirty="0"/>
              <a:t>“Szamárfüles téglalap”</a:t>
            </a:r>
            <a:endParaRPr dirty="0"/>
          </a:p>
          <a:p>
            <a:pPr marL="0" indent="0">
              <a:spcBef>
                <a:spcPts val="2133"/>
              </a:spcBef>
              <a:buNone/>
            </a:pPr>
            <a:endParaRPr dirty="0"/>
          </a:p>
          <a:p>
            <a:pPr marL="0" indent="0">
              <a:spcBef>
                <a:spcPts val="2133"/>
              </a:spcBef>
              <a:buNone/>
            </a:pPr>
            <a:endParaRPr dirty="0"/>
          </a:p>
          <a:p>
            <a:pPr>
              <a:spcBef>
                <a:spcPts val="2133"/>
              </a:spcBef>
            </a:pPr>
            <a:r>
              <a:rPr lang="hu" dirty="0"/>
              <a:t>Megszorítás (Constraint)</a:t>
            </a:r>
            <a:endParaRPr dirty="0"/>
          </a:p>
          <a:p>
            <a:pPr lvl="1">
              <a:spcBef>
                <a:spcPts val="0"/>
              </a:spcBef>
            </a:pPr>
            <a:r>
              <a:rPr lang="hu" dirty="0"/>
              <a:t>“Szamárfüles téglalap”, mely tetszőleges nyelvet vagy OCL-t használ.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(Pl.: Az ember </a:t>
            </a:r>
            <a:r>
              <a:rPr lang="en-US" dirty="0" err="1"/>
              <a:t>életkora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negatív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Ennek</a:t>
            </a:r>
            <a:r>
              <a:rPr lang="en-US" dirty="0"/>
              <a:t> OCL </a:t>
            </a:r>
            <a:r>
              <a:rPr lang="en-US" dirty="0" err="1"/>
              <a:t>megfelelője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context Person inv: </a:t>
            </a:r>
            <a:r>
              <a:rPr lang="en-US" dirty="0" err="1"/>
              <a:t>self.age</a:t>
            </a:r>
            <a:r>
              <a:rPr lang="en-US" dirty="0"/>
              <a:t> &gt;= 0)</a:t>
            </a:r>
            <a:endParaRPr dirty="0"/>
          </a:p>
        </p:txBody>
      </p:sp>
      <p:pic>
        <p:nvPicPr>
          <p:cNvPr id="173" name="Google Shape;1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4267" y="1602297"/>
            <a:ext cx="3315267" cy="139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6189" y="4774769"/>
            <a:ext cx="2710211" cy="139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1E16518-4D29-4219-A721-27659C4F423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Általános grafikus jelölő elemek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Google Shape;180;p3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/>
              <a:t>Csomag</a:t>
            </a:r>
            <a:endParaRPr dirty="0"/>
          </a:p>
          <a:p>
            <a:pPr lvl="1">
              <a:spcBef>
                <a:spcPts val="0"/>
              </a:spcBef>
            </a:pPr>
            <a:r>
              <a:rPr lang="hu" dirty="0"/>
              <a:t>Modell elemek csoportosítására szolgál</a:t>
            </a:r>
            <a:endParaRPr dirty="0"/>
          </a:p>
          <a:p>
            <a:pPr marL="0" indent="0">
              <a:spcBef>
                <a:spcPts val="2133"/>
              </a:spcBef>
              <a:buNone/>
            </a:pPr>
            <a:endParaRPr dirty="0"/>
          </a:p>
          <a:p>
            <a:pPr marL="0" indent="0">
              <a:spcBef>
                <a:spcPts val="2133"/>
              </a:spcBef>
              <a:buNone/>
            </a:pPr>
            <a:endParaRPr dirty="0"/>
          </a:p>
          <a:p>
            <a:pPr>
              <a:spcBef>
                <a:spcPts val="2133"/>
              </a:spcBef>
            </a:pPr>
            <a:r>
              <a:rPr lang="hu" dirty="0"/>
              <a:t>Sz</a:t>
            </a:r>
            <a:r>
              <a:rPr lang="en-US" dirty="0"/>
              <a:t>t</a:t>
            </a:r>
            <a:r>
              <a:rPr lang="hu" dirty="0"/>
              <a:t>ereotípia</a:t>
            </a:r>
            <a:endParaRPr dirty="0"/>
          </a:p>
          <a:p>
            <a:pPr lvl="1">
              <a:spcBef>
                <a:spcPts val="0"/>
              </a:spcBef>
            </a:pPr>
            <a:r>
              <a:rPr lang="hu" dirty="0"/>
              <a:t>Egy vagy több metaosztály kiterjesztését definiálja, lehetővé teszi platform- vagy területspecifikus terminológia vagy jelölésmód használatát a kiterjesztett metaosztályhoz használt helyett, vagy annak kiegészítéseként. A sztereotípiát alkalmazásakor a modellelem neve fölött vagy előtt kell megadni. (Jeszenszky, 2018)</a:t>
            </a:r>
            <a:endParaRPr dirty="0"/>
          </a:p>
          <a:p>
            <a:pPr lvl="1">
              <a:spcBef>
                <a:spcPts val="0"/>
              </a:spcBef>
            </a:pPr>
            <a:r>
              <a:rPr lang="hu" dirty="0"/>
              <a:t>Jelölése: </a:t>
            </a:r>
            <a:r>
              <a:rPr lang="hu" b="1" i="1" dirty="0"/>
              <a:t>&lt;&lt; &gt;&gt;</a:t>
            </a:r>
            <a:endParaRPr b="1" i="1" dirty="0"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 dirty="0"/>
          </a:p>
        </p:txBody>
      </p:sp>
      <p:pic>
        <p:nvPicPr>
          <p:cNvPr id="181" name="Google Shape;18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7434" y="1477034"/>
            <a:ext cx="2646967" cy="2714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C4B750F3-ED1D-4876-AACD-6F0D2BDDAF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Osztálydiagramok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Google Shape;187;p3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/>
              <a:t>A modellben szereplő osztályok és az osztályok között kölcsönhatások leírását szolgáló eszköz</a:t>
            </a:r>
            <a:endParaRPr/>
          </a:p>
          <a:p>
            <a:r>
              <a:rPr lang="hu"/>
              <a:t>Statikus </a:t>
            </a:r>
            <a:endParaRPr/>
          </a:p>
          <a:p>
            <a:r>
              <a:rPr lang="hu"/>
              <a:t>Három típusát különítünk el:</a:t>
            </a:r>
            <a:endParaRPr/>
          </a:p>
          <a:p>
            <a:pPr lvl="1">
              <a:spcBef>
                <a:spcPts val="0"/>
              </a:spcBef>
            </a:pPr>
            <a:r>
              <a:rPr lang="hu"/>
              <a:t>elemzési osztálydiagram: </a:t>
            </a:r>
            <a:endParaRPr/>
          </a:p>
          <a:p>
            <a:pPr lvl="2">
              <a:spcBef>
                <a:spcPts val="0"/>
              </a:spcBef>
            </a:pPr>
            <a:r>
              <a:rPr lang="hu"/>
              <a:t>a szakterület felépítését reprezentálja</a:t>
            </a:r>
            <a:endParaRPr/>
          </a:p>
          <a:p>
            <a:pPr lvl="1">
              <a:spcBef>
                <a:spcPts val="0"/>
              </a:spcBef>
            </a:pPr>
            <a:r>
              <a:rPr lang="hu"/>
              <a:t>tervezési osztálydiagram: </a:t>
            </a:r>
            <a:endParaRPr/>
          </a:p>
          <a:p>
            <a:pPr lvl="2">
              <a:spcBef>
                <a:spcPts val="0"/>
              </a:spcBef>
            </a:pPr>
            <a:r>
              <a:rPr lang="hu"/>
              <a:t>a megvalósítás jövőbeli részletei is megjelennek a modellben</a:t>
            </a:r>
            <a:endParaRPr/>
          </a:p>
          <a:p>
            <a:pPr lvl="1">
              <a:spcBef>
                <a:spcPts val="0"/>
              </a:spcBef>
            </a:pPr>
            <a:r>
              <a:rPr lang="hu"/>
              <a:t>megvalósítási osztálydiagram: </a:t>
            </a:r>
            <a:endParaRPr/>
          </a:p>
          <a:p>
            <a:pPr lvl="2">
              <a:spcBef>
                <a:spcPts val="0"/>
              </a:spcBef>
            </a:pPr>
            <a:r>
              <a:rPr lang="hu"/>
              <a:t>már egy valós implementációs nyelv osztály fogalmával ekvivalens modell</a:t>
            </a:r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E5D08D7-C378-4B30-8EE0-D709D5E0C24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Osztálydiagram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/>
          </a:p>
        </p:txBody>
      </p:sp>
      <p:pic>
        <p:nvPicPr>
          <p:cNvPr id="194" name="Google Shape;19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0983" y="593367"/>
            <a:ext cx="6662570" cy="5598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6F53D938-1D39-4AE0-A970-5EDFB43DE21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Osztályok jelölései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Google Shape;200;p3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/>
              <a:t>Osztály (Class)</a:t>
            </a:r>
            <a:endParaRPr dirty="0"/>
          </a:p>
          <a:p>
            <a:r>
              <a:rPr lang="hu" dirty="0"/>
              <a:t>Absztrakt osztály (Abstract class)</a:t>
            </a:r>
            <a:endParaRPr dirty="0"/>
          </a:p>
          <a:p>
            <a:pPr lvl="1" indent="-389457">
              <a:spcBef>
                <a:spcPts val="0"/>
              </a:spcBef>
              <a:buSzPts val="1000"/>
            </a:pPr>
            <a:r>
              <a:rPr lang="hu" sz="1333" dirty="0"/>
              <a:t>olyan osztály amely nem példányosítható</a:t>
            </a:r>
            <a:endParaRPr sz="1333" dirty="0"/>
          </a:p>
          <a:p>
            <a:r>
              <a:rPr lang="hu" dirty="0"/>
              <a:t>Aktív osztály (Active Class)</a:t>
            </a:r>
            <a:endParaRPr dirty="0"/>
          </a:p>
          <a:p>
            <a:pPr lvl="1" indent="-406390">
              <a:spcBef>
                <a:spcPts val="0"/>
              </a:spcBef>
              <a:buSzPts val="1200"/>
            </a:pPr>
            <a:r>
              <a:rPr lang="hu" sz="1600" dirty="0"/>
              <a:t>olyan osztály, mely önmagában is aktív (nem külső esemény hatására)</a:t>
            </a:r>
            <a:endParaRPr sz="1600" dirty="0"/>
          </a:p>
          <a:p>
            <a:r>
              <a:rPr lang="hu" dirty="0"/>
              <a:t>Interfész</a:t>
            </a:r>
            <a:endParaRPr dirty="0"/>
          </a:p>
        </p:txBody>
      </p:sp>
      <p:pic>
        <p:nvPicPr>
          <p:cNvPr id="201" name="Google Shape;20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3233" y="362183"/>
            <a:ext cx="3048000" cy="139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3233" y="1891133"/>
            <a:ext cx="3048000" cy="139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83233" y="3418800"/>
            <a:ext cx="3048000" cy="139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6"/>
          <p:cNvPicPr preferRelativeResize="0"/>
          <p:nvPr/>
        </p:nvPicPr>
        <p:blipFill rotWithShape="1">
          <a:blip r:embed="rId6">
            <a:alphaModFix/>
          </a:blip>
          <a:srcRect l="-2350" r="2349"/>
          <a:stretch/>
        </p:blipFill>
        <p:spPr>
          <a:xfrm>
            <a:off x="7313233" y="4951850"/>
            <a:ext cx="4318000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449C162-35AF-49BC-96FB-685DF24DD30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Osztályok jelölései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/>
          </a:p>
        </p:txBody>
      </p:sp>
      <p:sp>
        <p:nvSpPr>
          <p:cNvPr id="210" name="Google Shape;210;p37"/>
          <p:cNvSpPr txBox="1">
            <a:spLocks noGrp="1"/>
          </p:cNvSpPr>
          <p:nvPr>
            <p:ph type="body" idx="1"/>
          </p:nvPr>
        </p:nvSpPr>
        <p:spPr>
          <a:xfrm>
            <a:off x="469633" y="1527367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/>
              <a:t>Irányított kapcsolatok</a:t>
            </a:r>
            <a:endParaRPr dirty="0"/>
          </a:p>
          <a:p>
            <a:pPr marL="1828754" lvl="1">
              <a:spcBef>
                <a:spcPts val="0"/>
              </a:spcBef>
            </a:pPr>
            <a:r>
              <a:rPr lang="hu" dirty="0"/>
              <a:t>Kompozíció (Composition)</a:t>
            </a:r>
            <a:endParaRPr dirty="0"/>
          </a:p>
          <a:p>
            <a:pPr marL="1828754" lvl="1">
              <a:spcBef>
                <a:spcPts val="0"/>
              </a:spcBef>
            </a:pPr>
            <a:r>
              <a:rPr lang="hu" dirty="0"/>
              <a:t>Aggregáció (Aggregation)</a:t>
            </a:r>
            <a:endParaRPr dirty="0"/>
          </a:p>
          <a:p>
            <a:pPr marL="599985"/>
            <a:r>
              <a:rPr lang="hu" dirty="0"/>
              <a:t>Irányítatlan kapcsolatok</a:t>
            </a:r>
            <a:endParaRPr dirty="0"/>
          </a:p>
          <a:p>
            <a:pPr marL="1828754" lvl="1">
              <a:spcBef>
                <a:spcPts val="0"/>
              </a:spcBef>
            </a:pPr>
            <a:r>
              <a:rPr lang="hu" dirty="0"/>
              <a:t>Generalizáció (Generalization)</a:t>
            </a:r>
            <a:endParaRPr dirty="0"/>
          </a:p>
          <a:p>
            <a:pPr marL="1828754" lvl="1">
              <a:spcBef>
                <a:spcPts val="0"/>
              </a:spcBef>
            </a:pPr>
            <a:r>
              <a:rPr lang="hu" dirty="0"/>
              <a:t>Implementáció (Implementation)</a:t>
            </a:r>
            <a:endParaRPr dirty="0"/>
          </a:p>
          <a:p>
            <a:pPr marL="1828754" lvl="1">
              <a:spcBef>
                <a:spcPts val="0"/>
              </a:spcBef>
            </a:pPr>
            <a:r>
              <a:rPr lang="hu" dirty="0"/>
              <a:t>Realizáció (Realization)</a:t>
            </a:r>
            <a:endParaRPr dirty="0"/>
          </a:p>
        </p:txBody>
      </p:sp>
      <p:pic>
        <p:nvPicPr>
          <p:cNvPr id="211" name="Google Shape;21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6333" y="1930702"/>
            <a:ext cx="1994200" cy="606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6333" y="2357276"/>
            <a:ext cx="1994200" cy="606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8786" y="3017058"/>
            <a:ext cx="1902033" cy="4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8786" y="3278410"/>
            <a:ext cx="1902033" cy="661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58786" y="3772077"/>
            <a:ext cx="1902032" cy="606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B02CD522-A66A-4385-863C-3FAD58B4626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Osztályok jelölései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" dirty="0"/>
              <a:t> </a:t>
            </a:r>
            <a:endParaRPr dirty="0"/>
          </a:p>
        </p:txBody>
      </p:sp>
      <p:sp>
        <p:nvSpPr>
          <p:cNvPr id="221" name="Google Shape;221;p3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/>
              <a:t>Láthatóság</a:t>
            </a:r>
            <a:endParaRPr/>
          </a:p>
          <a:p>
            <a:pPr marL="1828754" lvl="1">
              <a:spcBef>
                <a:spcPts val="0"/>
              </a:spcBef>
            </a:pPr>
            <a:r>
              <a:rPr lang="hu"/>
              <a:t>+ (nyilvános) </a:t>
            </a:r>
            <a:endParaRPr/>
          </a:p>
          <a:p>
            <a:pPr marL="1828754" lvl="1">
              <a:spcBef>
                <a:spcPts val="0"/>
              </a:spcBef>
            </a:pPr>
            <a:r>
              <a:rPr lang="hu"/>
              <a:t>- (privát) </a:t>
            </a:r>
            <a:endParaRPr/>
          </a:p>
          <a:p>
            <a:pPr marL="1828754" lvl="1">
              <a:spcBef>
                <a:spcPts val="0"/>
              </a:spcBef>
            </a:pPr>
            <a:r>
              <a:rPr lang="hu"/>
              <a:t># (védett) </a:t>
            </a:r>
            <a:endParaRPr/>
          </a:p>
          <a:p>
            <a:pPr marL="1828754" lvl="1">
              <a:spcBef>
                <a:spcPts val="0"/>
              </a:spcBef>
            </a:pPr>
            <a:r>
              <a:rPr lang="hu"/>
              <a:t>~ (csomagszintű)</a:t>
            </a:r>
            <a:endParaRPr/>
          </a:p>
        </p:txBody>
      </p:sp>
      <p:pic>
        <p:nvPicPr>
          <p:cNvPr id="222" name="Google Shape;22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500" y="1781668"/>
            <a:ext cx="3515333" cy="3089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478564E-BD98-4D3D-9259-0B87DE191DF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Aktivitás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8" name="Google Shape;228;p3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endParaRPr sz="1867" dirty="0">
              <a:solidFill>
                <a:srgbClr val="000000"/>
              </a:solidFill>
            </a:endParaRPr>
          </a:p>
          <a:p>
            <a:r>
              <a:rPr lang="hu" dirty="0"/>
              <a:t>folyamatok, üzleti folyamatok modellezése</a:t>
            </a:r>
            <a:endParaRPr dirty="0"/>
          </a:p>
          <a:p>
            <a:r>
              <a:rPr lang="hu" dirty="0"/>
              <a:t>a rendszer “belső logikájának”  reprezentációja</a:t>
            </a:r>
            <a:endParaRPr dirty="0"/>
          </a:p>
          <a:p>
            <a:r>
              <a:rPr lang="hu" dirty="0"/>
              <a:t>Megmutatják</a:t>
            </a:r>
            <a:endParaRPr dirty="0"/>
          </a:p>
          <a:p>
            <a:pPr lvl="1">
              <a:spcBef>
                <a:spcPts val="0"/>
              </a:spcBef>
            </a:pPr>
            <a:r>
              <a:rPr lang="hu" dirty="0"/>
              <a:t>milyen elemi tevékenységekből épül fel egy komplex üzleti folyamat</a:t>
            </a:r>
            <a:endParaRPr dirty="0"/>
          </a:p>
          <a:p>
            <a:pPr lvl="1">
              <a:spcBef>
                <a:spcPts val="0"/>
              </a:spcBef>
            </a:pPr>
            <a:r>
              <a:rPr lang="hu" dirty="0"/>
              <a:t>mi hajtható végre párhuzamosan</a:t>
            </a:r>
            <a:endParaRPr dirty="0"/>
          </a:p>
          <a:p>
            <a:pPr lvl="1">
              <a:spcBef>
                <a:spcPts val="0"/>
              </a:spcBef>
            </a:pPr>
            <a:r>
              <a:rPr lang="hu" dirty="0"/>
              <a:t>léteznek-e alternatív útvonalak az üzleti folyamatgráfjában</a:t>
            </a:r>
            <a:endParaRPr dirty="0"/>
          </a:p>
          <a:p>
            <a:r>
              <a:rPr lang="hu" dirty="0"/>
              <a:t>A tevékenységdiagramok sok hasonlóságot mutatnak a strukturált rendszerfejlesztés talán legismertebb technikájával,</a:t>
            </a:r>
            <a:r>
              <a:rPr lang="en-US" dirty="0"/>
              <a:t> </a:t>
            </a:r>
            <a:r>
              <a:rPr lang="hu" dirty="0"/>
              <a:t>az adatfolyam ábrákkal.</a:t>
            </a:r>
            <a:endParaRPr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BA2CFAE-7FF9-426F-B7C5-7790DCBA5AB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>
            <a:spLocks noGrp="1"/>
          </p:cNvSpPr>
          <p:nvPr>
            <p:ph type="title"/>
          </p:nvPr>
        </p:nvSpPr>
        <p:spPr>
          <a:xfrm>
            <a:off x="369367" y="2684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Aktivitás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4" name="Google Shape;234;p4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endParaRPr sz="1867">
              <a:solidFill>
                <a:srgbClr val="000000"/>
              </a:solidFill>
            </a:endParaRPr>
          </a:p>
          <a:p>
            <a:pPr indent="0">
              <a:spcAft>
                <a:spcPts val="2133"/>
              </a:spcAft>
              <a:buNone/>
            </a:pPr>
            <a:endParaRPr/>
          </a:p>
        </p:txBody>
      </p:sp>
      <p:pic>
        <p:nvPicPr>
          <p:cNvPr id="235" name="Google Shape;2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078649"/>
            <a:ext cx="6687001" cy="5471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854BD911-42EC-4D55-9341-FF40F399AF0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>
            <a:spLocks noGrp="1"/>
          </p:cNvSpPr>
          <p:nvPr>
            <p:ph type="title"/>
          </p:nvPr>
        </p:nvSpPr>
        <p:spPr>
          <a:xfrm>
            <a:off x="369367" y="2684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Aktivitás diagram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Google Shape;241;p41"/>
          <p:cNvSpPr txBox="1">
            <a:spLocks noGrp="1"/>
          </p:cNvSpPr>
          <p:nvPr>
            <p:ph type="body" idx="1"/>
          </p:nvPr>
        </p:nvSpPr>
        <p:spPr>
          <a:xfrm>
            <a:off x="415600" y="1573600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b="1"/>
              <a:t>Tevékenység (Action)</a:t>
            </a:r>
            <a:endParaRPr b="1"/>
          </a:p>
          <a:p>
            <a:r>
              <a:rPr lang="hu" b="1"/>
              <a:t>Beérkezési esemény (Accept Signal Action)</a:t>
            </a:r>
            <a:endParaRPr b="1"/>
          </a:p>
          <a:p>
            <a:r>
              <a:rPr lang="hu" b="1"/>
              <a:t>Küldési esemény (Send Signal Action)</a:t>
            </a:r>
            <a:endParaRPr b="1"/>
          </a:p>
          <a:p>
            <a:r>
              <a:rPr lang="hu"/>
              <a:t>Esetválasztó csomópont (Conditional Node)</a:t>
            </a:r>
            <a:endParaRPr>
              <a:solidFill>
                <a:srgbClr val="000000"/>
              </a:solidFill>
            </a:endParaRPr>
          </a:p>
          <a:p>
            <a:r>
              <a:rPr lang="hu"/>
              <a:t>Ciklusszervező csomópont (Loop Node)</a:t>
            </a:r>
            <a:endParaRPr/>
          </a:p>
          <a:p>
            <a:pPr marL="0" indent="0">
              <a:lnSpc>
                <a:spcPct val="100000"/>
              </a:lnSpc>
              <a:spcBef>
                <a:spcPts val="2133"/>
              </a:spcBef>
              <a:buNone/>
            </a:pPr>
            <a:endParaRPr sz="160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sz="1867">
              <a:solidFill>
                <a:srgbClr val="000000"/>
              </a:solidFill>
            </a:endParaRPr>
          </a:p>
          <a:p>
            <a:pPr marL="0" indent="0">
              <a:buNone/>
            </a:pP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/>
          </a:p>
        </p:txBody>
      </p:sp>
      <p:pic>
        <p:nvPicPr>
          <p:cNvPr id="242" name="Google Shape;24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2166" y="2344450"/>
            <a:ext cx="1989500" cy="1086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92166" y="3429000"/>
            <a:ext cx="1989543" cy="1136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92166" y="1209066"/>
            <a:ext cx="1989500" cy="1136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389621F2-14A8-4039-A3DE-0EBAD8FE175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>
            <a:spLocks noGrp="1"/>
          </p:cNvSpPr>
          <p:nvPr>
            <p:ph type="title"/>
          </p:nvPr>
        </p:nvSpPr>
        <p:spPr>
          <a:xfrm>
            <a:off x="369367" y="2684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/>
              <a:t>Aktivitás diagram</a:t>
            </a:r>
            <a:endParaRPr dirty="0"/>
          </a:p>
        </p:txBody>
      </p:sp>
      <p:sp>
        <p:nvSpPr>
          <p:cNvPr id="250" name="Google Shape;250;p4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endParaRPr sz="1867">
              <a:solidFill>
                <a:srgbClr val="000000"/>
              </a:solidFill>
            </a:endParaRPr>
          </a:p>
          <a:p>
            <a:r>
              <a:rPr lang="hu" b="1"/>
              <a:t>Tevékenység él (Contol Flow)</a:t>
            </a:r>
            <a:endParaRPr b="1"/>
          </a:p>
          <a:p>
            <a:r>
              <a:rPr lang="hu" b="1"/>
              <a:t>Elágaztató csomópont (Fork Node) </a:t>
            </a:r>
            <a:endParaRPr b="1"/>
          </a:p>
          <a:p>
            <a:r>
              <a:rPr lang="hu" b="1"/>
              <a:t>Szinkronizációs csomópont (Join Node)</a:t>
            </a:r>
            <a:endParaRPr b="1"/>
          </a:p>
          <a:p>
            <a:r>
              <a:rPr lang="hu" b="1"/>
              <a:t>Esetválasztó csomópont (Decision Node)</a:t>
            </a:r>
            <a:endParaRPr b="1"/>
          </a:p>
          <a:p>
            <a:r>
              <a:rPr lang="hu" b="1"/>
              <a:t>Egyesítő csomópont (Merge Node)</a:t>
            </a:r>
            <a:endParaRPr b="1"/>
          </a:p>
          <a:p>
            <a:r>
              <a:rPr lang="hu" b="1"/>
              <a:t>Folyamvég (Flow Final)</a:t>
            </a:r>
            <a:endParaRPr b="1"/>
          </a:p>
          <a:p>
            <a:r>
              <a:rPr lang="hu" b="1"/>
              <a:t>Kezdő állapot (Initial State)</a:t>
            </a:r>
            <a:endParaRPr b="1"/>
          </a:p>
          <a:p>
            <a:r>
              <a:rPr lang="hu" b="1"/>
              <a:t>Végállapot (Final State)</a:t>
            </a:r>
            <a:endParaRPr b="1"/>
          </a:p>
        </p:txBody>
      </p:sp>
      <p:pic>
        <p:nvPicPr>
          <p:cNvPr id="251" name="Google Shape;25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8933" y="2335500"/>
            <a:ext cx="342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8933" y="-3387"/>
            <a:ext cx="2159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9212" y="0"/>
            <a:ext cx="1548721" cy="236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8933" y="4160000"/>
            <a:ext cx="342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14403" y="4967161"/>
            <a:ext cx="762000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FB045E84-9F41-44D2-B713-47B207724459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569" y="0"/>
            <a:ext cx="71251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1CF0F2A4-FDB6-473F-B461-648A3AA6B80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Használati eset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/>
          </a:p>
        </p:txBody>
      </p:sp>
      <p:sp>
        <p:nvSpPr>
          <p:cNvPr id="268" name="Google Shape;268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/>
              <a:t>Azonosítja a rendszerrel interakcióba lépő szereplőket.</a:t>
            </a:r>
            <a:endParaRPr dirty="0"/>
          </a:p>
          <a:p>
            <a:r>
              <a:rPr lang="hu" dirty="0"/>
              <a:t>Azonosítja a rendszerben interaktáló osztályokat, és azok kapcsolatát és kölcsönhatásait:</a:t>
            </a:r>
            <a:endParaRPr dirty="0"/>
          </a:p>
          <a:p>
            <a:pPr lvl="1">
              <a:spcBef>
                <a:spcPts val="0"/>
              </a:spcBef>
            </a:pPr>
            <a:r>
              <a:rPr lang="hu" dirty="0"/>
              <a:t>Valós képet ad</a:t>
            </a:r>
            <a:r>
              <a:rPr lang="en-US" dirty="0"/>
              <a:t> </a:t>
            </a:r>
            <a:r>
              <a:rPr lang="hu" dirty="0"/>
              <a:t>a rendszer működéséről, arról, hogy a rendszer használói hogyan használják a rendszert.</a:t>
            </a:r>
            <a:endParaRPr dirty="0"/>
          </a:p>
          <a:p>
            <a:pPr lvl="1" indent="-457189">
              <a:spcBef>
                <a:spcPts val="0"/>
              </a:spcBef>
              <a:buSzPts val="1800"/>
            </a:pPr>
            <a:r>
              <a:rPr lang="hu" dirty="0"/>
              <a:t>Segítségével meghatározhatók a rendszerek “határai”</a:t>
            </a:r>
            <a:endParaRPr dirty="0"/>
          </a:p>
          <a:p>
            <a:pPr lvl="1" indent="-457189">
              <a:spcBef>
                <a:spcPts val="0"/>
              </a:spcBef>
              <a:buSzPts val="1800"/>
            </a:pPr>
            <a:r>
              <a:rPr lang="hu" dirty="0"/>
              <a:t>A rendszerhasználói mindig kívül esenek a rendszeren</a:t>
            </a:r>
            <a:endParaRPr dirty="0"/>
          </a:p>
          <a:p>
            <a:r>
              <a:rPr lang="hu" dirty="0"/>
              <a:t>A követelményfeltárás hatékony eszköze. (Ha nem a leghatékonyabb.)</a:t>
            </a:r>
            <a:endParaRPr dirty="0"/>
          </a:p>
          <a:p>
            <a:pPr indent="0">
              <a:spcBef>
                <a:spcPts val="2133"/>
              </a:spcBef>
              <a:spcAft>
                <a:spcPts val="2133"/>
              </a:spcAft>
              <a:buNone/>
            </a:pPr>
            <a:endParaRPr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DAB9637C-B6D3-4F4F-9BD5-7E2C0BFC79A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Használati eset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/>
          </a:p>
        </p:txBody>
      </p:sp>
      <p:sp>
        <p:nvSpPr>
          <p:cNvPr id="274" name="Google Shape;274;p4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 err="1"/>
              <a:t>Cselekvő</a:t>
            </a:r>
            <a:r>
              <a:rPr lang="en-US" dirty="0"/>
              <a:t> / </a:t>
            </a:r>
            <a:r>
              <a:rPr lang="en-US" dirty="0" err="1"/>
              <a:t>aktor</a:t>
            </a:r>
            <a:r>
              <a:rPr lang="hu" dirty="0"/>
              <a:t> (actor)</a:t>
            </a:r>
            <a:endParaRPr dirty="0"/>
          </a:p>
          <a:p>
            <a:pPr marL="0" indent="0">
              <a:spcBef>
                <a:spcPts val="2133"/>
              </a:spcBef>
              <a:buNone/>
            </a:pPr>
            <a:endParaRPr dirty="0"/>
          </a:p>
          <a:p>
            <a:pPr>
              <a:spcBef>
                <a:spcPts val="2133"/>
              </a:spcBef>
            </a:pPr>
            <a:r>
              <a:rPr lang="hu" dirty="0"/>
              <a:t>Használati eset (use case)</a:t>
            </a:r>
            <a:endParaRPr dirty="0"/>
          </a:p>
          <a:p>
            <a:pPr indent="0">
              <a:spcBef>
                <a:spcPts val="2133"/>
              </a:spcBef>
              <a:spcAft>
                <a:spcPts val="2133"/>
              </a:spcAft>
              <a:buNone/>
            </a:pPr>
            <a:endParaRPr dirty="0"/>
          </a:p>
        </p:txBody>
      </p:sp>
      <p:pic>
        <p:nvPicPr>
          <p:cNvPr id="275" name="Google Shape;27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867" y="1536633"/>
            <a:ext cx="1270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2233" y="3621300"/>
            <a:ext cx="2032000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D701183-49E0-43D0-847C-112850347F1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Használati eset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/>
          </a:p>
        </p:txBody>
      </p:sp>
      <p:sp>
        <p:nvSpPr>
          <p:cNvPr id="282" name="Google Shape;282;p4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/>
              <a:t>Magábafoglalás (Includes)</a:t>
            </a:r>
            <a:endParaRPr/>
          </a:p>
          <a:p>
            <a:r>
              <a:rPr lang="hu"/>
              <a:t>Kiterjesztés (Extends)</a:t>
            </a:r>
            <a:endParaRPr/>
          </a:p>
          <a:p>
            <a:r>
              <a:rPr lang="hu"/>
              <a:t>Kiterjesztési pont (Extension point)</a:t>
            </a:r>
            <a:endParaRPr/>
          </a:p>
          <a:p>
            <a:pPr indent="0">
              <a:spcBef>
                <a:spcPts val="2133"/>
              </a:spcBef>
              <a:spcAft>
                <a:spcPts val="2133"/>
              </a:spcAft>
              <a:buNone/>
            </a:pPr>
            <a:endParaRPr/>
          </a:p>
        </p:txBody>
      </p:sp>
      <p:pic>
        <p:nvPicPr>
          <p:cNvPr id="283" name="Google Shape;28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5900" y="1604800"/>
            <a:ext cx="2540000" cy="35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91D91EE6-0CAB-4238-8A03-1128C821556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/>
              <a:t>Használati eset diagram</a:t>
            </a:r>
            <a:endParaRPr dirty="0"/>
          </a:p>
          <a:p>
            <a:endParaRPr dirty="0"/>
          </a:p>
        </p:txBody>
      </p:sp>
      <p:pic>
        <p:nvPicPr>
          <p:cNvPr id="290" name="Google Shape;29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000" y="1651000"/>
            <a:ext cx="10414000" cy="35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253EBD7-6735-465D-AD76-13EF7887298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689" y="0"/>
            <a:ext cx="908462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89F347DE-B88A-434D-97F4-CA1BA0227C4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1" y="625061"/>
            <a:ext cx="8257312" cy="4718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43669EF-6787-4D99-9F51-C4D45B00CCE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  <p:pic>
        <p:nvPicPr>
          <p:cNvPr id="6" name="Google Shape;311;p50">
            <a:extLst>
              <a:ext uri="{FF2B5EF4-FFF2-40B4-BE49-F238E27FC236}">
                <a16:creationId xmlns:a16="http://schemas.microsoft.com/office/drawing/2014/main" id="{197DE485-4785-4B37-83D8-3D7D8EB3EEA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86411" y="625061"/>
            <a:ext cx="3048000" cy="520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Állapotgép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" name="Google Shape;317;p5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/>
              <a:t>Az állapotgép diagram egy osztály objektumainak az életciklusuk alatt felvehető lehetséges állapotait és az állapotok közötti lehetséges átmeneteket ábrázolja. </a:t>
            </a:r>
            <a:endParaRPr dirty="0"/>
          </a:p>
          <a:p>
            <a:r>
              <a:rPr lang="hu" dirty="0"/>
              <a:t>Az állapotgép diagram esetén absztrakt állapotokkal foglalkozunk. </a:t>
            </a:r>
            <a:endParaRPr dirty="0"/>
          </a:p>
          <a:p>
            <a:r>
              <a:rPr lang="hu" dirty="0"/>
              <a:t>Az objektum orientált szemlélet szerint egy objektum állapotát az attribútumainak a pillanatnyi értékhalmaza határozza meg. → Konkrét állapot </a:t>
            </a:r>
            <a:endParaRPr dirty="0"/>
          </a:p>
          <a:p>
            <a:r>
              <a:rPr lang="hu" dirty="0"/>
              <a:t>A modellezés során egy bizonyos szempontból a konkrét állapotok meghatározott halmazai egyenértékűnek tekinthetők, egy állapot jelleget határoznak meg. </a:t>
            </a:r>
            <a:endParaRPr dirty="0"/>
          </a:p>
          <a:p>
            <a:pPr indent="0">
              <a:spcBef>
                <a:spcPts val="2133"/>
              </a:spcBef>
              <a:spcAft>
                <a:spcPts val="2133"/>
              </a:spcAft>
              <a:buNone/>
            </a:pPr>
            <a:endParaRPr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5CF5189-9D61-4CB3-9CDF-A972B52D4FB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Állapotgép diagram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3" name="Google Shape;323;p5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/>
              <a:t>Ezt absztrakt állapotnak nevezzük. Például egy hallgatónak abból a szempontból, hogy teljesítette-e a tárgyat, két absztrakt állapota lehet:</a:t>
            </a:r>
            <a:endParaRPr dirty="0"/>
          </a:p>
          <a:p>
            <a:pPr lvl="1">
              <a:spcBef>
                <a:spcPts val="0"/>
              </a:spcBef>
            </a:pPr>
            <a:r>
              <a:rPr lang="hu" dirty="0"/>
              <a:t>teljesítette: aláírása és legalább elégséges vizsgajegye van (ez négy lehetséges konkrét állapotot fog össze),</a:t>
            </a:r>
            <a:endParaRPr dirty="0"/>
          </a:p>
          <a:p>
            <a:pPr lvl="1">
              <a:spcBef>
                <a:spcPts val="0"/>
              </a:spcBef>
            </a:pPr>
            <a:r>
              <a:rPr lang="hu" dirty="0"/>
              <a:t>nem teljesítette: nincs aláírása, vagy van aláírása, de nincs vizsgajegye, vagy elégtelen vizsgajegye van (ami három lehetséges konkrét állapot).</a:t>
            </a:r>
            <a:endParaRPr dirty="0"/>
          </a:p>
          <a:p>
            <a:r>
              <a:rPr lang="hu" dirty="0"/>
              <a:t>Ez a két absztrakt állapot elegendő ahhoz, hogy eldönthessük, egy ráépülő tárgyat felvehet-e. (Bár természetesen más szempontból nem lényegtelen, hogy a vizsgajegye elégséges vagy jeles</a:t>
            </a:r>
            <a:r>
              <a:rPr lang="hu" dirty="0" smtClean="0"/>
              <a:t>.)</a:t>
            </a:r>
          </a:p>
          <a:p>
            <a:r>
              <a:rPr lang="hu" dirty="0" smtClean="0"/>
              <a:t>Másik példa: „Hétvége vagy hétköznap van ma?”</a:t>
            </a:r>
          </a:p>
          <a:p>
            <a:pPr lvl="1"/>
            <a:r>
              <a:rPr lang="hu" dirty="0" smtClean="0"/>
              <a:t>Hétköznap van, ez egy absztrakt, és 5 konkrét állapot</a:t>
            </a:r>
            <a:br>
              <a:rPr lang="hu" dirty="0" smtClean="0"/>
            </a:br>
            <a:r>
              <a:rPr lang="hu" dirty="0" smtClean="0"/>
              <a:t>Hétvége van, ez szintén egy absztrakt, de már csak 2 konkrét állapot</a:t>
            </a:r>
            <a:endParaRPr dirty="0"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F274AB1-B575-432D-AF6E-C95C92BA676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Állapotgép diagram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9" name="Google Shape;329;p5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/>
              <a:t>Állapot (State)</a:t>
            </a:r>
            <a:endParaRPr/>
          </a:p>
          <a:p>
            <a:r>
              <a:rPr lang="hu"/>
              <a:t>Összetett állapot (Composite State)</a:t>
            </a:r>
            <a:endParaRPr/>
          </a:p>
          <a:p>
            <a:r>
              <a:rPr lang="hu"/>
              <a:t>Alállapot (Submachine State)</a:t>
            </a:r>
            <a:endParaRPr/>
          </a:p>
        </p:txBody>
      </p:sp>
      <p:pic>
        <p:nvPicPr>
          <p:cNvPr id="330" name="Google Shape;33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700" y="1333500"/>
            <a:ext cx="27940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41860DB-60C8-4B0E-9C7D-C9D8BF553B3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Állapotgép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6" name="Google Shape;336;p5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/>
              <a:t>Kezdő állapot (Initial  </a:t>
            </a:r>
            <a:r>
              <a:rPr lang="hu" dirty="0" smtClean="0"/>
              <a:t>pseudostate)</a:t>
            </a:r>
            <a:br>
              <a:rPr lang="hu" dirty="0" smtClean="0"/>
            </a:br>
            <a:r>
              <a:rPr lang="hu" dirty="0" smtClean="0"/>
              <a:t>	</a:t>
            </a:r>
            <a:r>
              <a:rPr lang="hu" sz="2000" dirty="0" smtClean="0">
                <a:solidFill>
                  <a:srgbClr val="FF0000"/>
                </a:solidFill>
              </a:rPr>
              <a:t>Ennek mindig léteznie kell</a:t>
            </a:r>
            <a:endParaRPr sz="2000" dirty="0">
              <a:solidFill>
                <a:srgbClr val="FF0000"/>
              </a:solidFill>
            </a:endParaRPr>
          </a:p>
          <a:p>
            <a:pPr lvl="0"/>
            <a:r>
              <a:rPr lang="hu" dirty="0" smtClean="0"/>
              <a:t>Végállapot (Final state)</a:t>
            </a:r>
            <a:br>
              <a:rPr lang="hu" dirty="0" smtClean="0"/>
            </a:br>
            <a:r>
              <a:rPr lang="hu" dirty="0" smtClean="0"/>
              <a:t>	</a:t>
            </a:r>
            <a:r>
              <a:rPr lang="hu-HU" sz="2000" dirty="0" smtClean="0">
                <a:solidFill>
                  <a:srgbClr val="FF0000"/>
                </a:solidFill>
              </a:rPr>
              <a:t>Ennek </a:t>
            </a:r>
            <a:r>
              <a:rPr lang="hu-HU" sz="2000" dirty="0">
                <a:solidFill>
                  <a:srgbClr val="FF0000"/>
                </a:solidFill>
              </a:rPr>
              <a:t>mindig léteznie </a:t>
            </a:r>
            <a:r>
              <a:rPr lang="hu-HU" sz="2000" dirty="0" smtClean="0">
                <a:solidFill>
                  <a:srgbClr val="FF0000"/>
                </a:solidFill>
              </a:rPr>
              <a:t>kell</a:t>
            </a:r>
            <a:endParaRPr dirty="0" smtClean="0"/>
          </a:p>
          <a:p>
            <a:r>
              <a:rPr lang="hu" b="1" dirty="0" smtClean="0"/>
              <a:t>Elágaztató </a:t>
            </a:r>
            <a:r>
              <a:rPr lang="hu" b="1" dirty="0"/>
              <a:t>csúcs (fork pseudostate)</a:t>
            </a:r>
            <a:endParaRPr b="1" dirty="0"/>
          </a:p>
          <a:p>
            <a:r>
              <a:rPr lang="hu" b="1" dirty="0"/>
              <a:t>Szinkronizációs csúcs (join pseudostate)</a:t>
            </a:r>
            <a:endParaRPr b="1" dirty="0"/>
          </a:p>
          <a:p>
            <a:r>
              <a:rPr lang="hu" b="1" dirty="0"/>
              <a:t>Szétválasztó csúcs (choice pseudostate)</a:t>
            </a:r>
            <a:endParaRPr b="1" dirty="0"/>
          </a:p>
          <a:p>
            <a:r>
              <a:rPr lang="hu" b="1" dirty="0"/>
              <a:t>Összefuttató csúcs (merge pseudostate)</a:t>
            </a:r>
            <a:endParaRPr b="1" dirty="0"/>
          </a:p>
        </p:txBody>
      </p:sp>
      <p:pic>
        <p:nvPicPr>
          <p:cNvPr id="337" name="Google Shape;33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0933" y="2295133"/>
            <a:ext cx="3719592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0933" y="136133"/>
            <a:ext cx="2159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49525" y="136133"/>
            <a:ext cx="16510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80933" y="4054868"/>
            <a:ext cx="3719592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89FA3B73-C292-4943-BA01-512FEA6D0B4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Állapotgép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7" name="Google Shape;34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8218" y="2116567"/>
            <a:ext cx="90043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F524E0E-725D-457C-A482-A0E4F156C35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Állapotgép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4" name="Google Shape;35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967" y="1476670"/>
            <a:ext cx="10016867" cy="5094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2FB2A5A-5061-4A9E-9328-F644C215372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Szekvencia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7" name="Google Shape;367;p5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/>
              <a:t>Feladata objektumok egymás közti üzenetváltásainak ábrázolása egy időtengely mentén elhelyezve.</a:t>
            </a:r>
            <a:endParaRPr/>
          </a:p>
          <a:p>
            <a:r>
              <a:rPr lang="hu"/>
              <a:t>Életvonal: a diagram függőleges tengelye</a:t>
            </a:r>
            <a:endParaRPr/>
          </a:p>
          <a:p>
            <a:pPr indent="0">
              <a:spcBef>
                <a:spcPts val="2133"/>
              </a:spcBef>
              <a:spcAft>
                <a:spcPts val="2133"/>
              </a:spcAft>
              <a:buNone/>
            </a:pPr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DE37D23-687A-4591-B965-76F3C821D1D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2466" y="642118"/>
            <a:ext cx="6570167" cy="53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3DF6FDB2-E457-4ADD-8747-ECC42FA184D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Csomagdiagram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" name="Google Shape;378;p6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/>
              <a:t> A rendszer elemeinek logikai csoportokra való osztását és azok összefüggéseit ábrázolja.</a:t>
            </a:r>
            <a:endParaRPr/>
          </a:p>
          <a:p>
            <a:r>
              <a:rPr lang="hu"/>
              <a:t>A csomag, mint általános jelölés az UML a modell elemek csoportosítására használható, msás diagramoknál is használható.</a:t>
            </a:r>
            <a:endParaRPr/>
          </a:p>
          <a:p>
            <a:pPr lvl="1">
              <a:spcBef>
                <a:spcPts val="0"/>
              </a:spcBef>
            </a:pPr>
            <a:r>
              <a:rPr lang="hu"/>
              <a:t>pl: use case inventory - használati eset leltár</a:t>
            </a:r>
            <a:endParaRPr/>
          </a:p>
          <a:p>
            <a:pPr marL="0" indent="0">
              <a:spcBef>
                <a:spcPts val="2133"/>
              </a:spcBef>
              <a:buNone/>
            </a:pP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139A80D6-9C39-4A75-B969-07C297B5B45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Csomagdiagram</a:t>
            </a:r>
            <a:r>
              <a:rPr lang="hu" dirty="0"/>
              <a:t> </a:t>
            </a:r>
            <a:endParaRPr dirty="0"/>
          </a:p>
        </p:txBody>
      </p:sp>
      <p:pic>
        <p:nvPicPr>
          <p:cNvPr id="385" name="Google Shape;38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2767" y="227634"/>
            <a:ext cx="5408067" cy="6174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78768614-5172-4E0B-96AD-75664D6D9B3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Komponens diagram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1" name="Google Shape;391;p6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u"/>
              <a:t>A komponens az UML-ben egy olyan univerzális egység, amely valamilyen szolgáltatás halmazt képvisel, azokat egy egységbe zárja. </a:t>
            </a:r>
            <a:endParaRPr/>
          </a:p>
          <a:p>
            <a:r>
              <a:rPr lang="hu"/>
              <a:t>A szolgáltatásokat más komponensek interfészeken keresztül érhetik el.</a:t>
            </a:r>
            <a:endParaRPr/>
          </a:p>
          <a:p>
            <a:r>
              <a:rPr lang="hu"/>
              <a:t> Egy komponens kicserélhető egy másikkal, ha ugyanolyan interfésszel rendelkezik, és ugyanazokat a szolgáltatásokat nyújtja.</a:t>
            </a:r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B085C68-34D4-4FA6-A0CD-B9BC7F66B0F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Komponens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8" name="Google Shape;39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9934" y="1682333"/>
            <a:ext cx="7487401" cy="385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2355E2A-1961-424B-B7AC-AEB17674435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Időzítési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5" name="Google Shape;40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8834" y="1425033"/>
            <a:ext cx="7366900" cy="5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E38081F7-6129-4348-B5BA-E36CFD83F3F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hu" dirty="0">
                <a:latin typeface="Arial" panose="020B0604020202020204" pitchFamily="34" charset="0"/>
                <a:cs typeface="Arial" panose="020B0604020202020204" pitchFamily="34" charset="0"/>
              </a:rPr>
              <a:t>Telepítési diagram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2" name="Google Shape;41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500" y="1604000"/>
            <a:ext cx="3683000" cy="46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7B97E70-4719-4FA7-9CBF-5A5ECD7E9CF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3975"/>
            <a:ext cx="742950" cy="26165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41238" y="2415388"/>
            <a:ext cx="8509525" cy="1626909"/>
          </a:xfrm>
        </p:spPr>
        <p:txBody>
          <a:bodyPr/>
          <a:lstStyle/>
          <a:p>
            <a:r>
              <a:rPr lang="hu-HU" sz="3733" dirty="0" smtClean="0"/>
              <a:t>Köszönöm a figyelmet!</a:t>
            </a:r>
            <a:endParaRPr lang="en-US" sz="3733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203D6-46B2-544A-AEDD-86624A2E7D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61085" y="6434667"/>
            <a:ext cx="1830916" cy="423333"/>
          </a:xfrm>
          <a:prstGeom prst="rect">
            <a:avLst/>
          </a:prstGeom>
        </p:spPr>
        <p:txBody>
          <a:bodyPr/>
          <a:lstStyle/>
          <a:p>
            <a:pPr defTabSz="914377"/>
            <a:fld id="{3A707DD9-E92B-45E8-BE0A-E6B2EDF345EB}" type="slidenum">
              <a:rPr lang="en-US">
                <a:solidFill>
                  <a:srgbClr val="222222"/>
                </a:solidFill>
                <a:latin typeface="Calibri"/>
              </a:rPr>
              <a:pPr defTabSz="914377"/>
              <a:t>49</a:t>
            </a:fld>
            <a:endParaRPr lang="en-US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A1A1E5D2-FE5B-DB46-B583-C05E8E74E17D}"/>
              </a:ext>
            </a:extLst>
          </p:cNvPr>
          <p:cNvSpPr txBox="1">
            <a:spLocks/>
          </p:cNvSpPr>
          <p:nvPr/>
        </p:nvSpPr>
        <p:spPr>
          <a:xfrm>
            <a:off x="1851559" y="4170298"/>
            <a:ext cx="8509525" cy="1626909"/>
          </a:xfrm>
          <a:prstGeom prst="rect">
            <a:avLst/>
          </a:prstGeom>
          <a:ln w="6350">
            <a:solidFill>
              <a:schemeClr val="bg1"/>
            </a:solidFill>
          </a:ln>
        </p:spPr>
        <p:txBody>
          <a:bodyPr vert="horz" wrap="square" lIns="121920" tIns="60960" rIns="121920" bIns="60960" rtlCol="0" anchor="ctr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buNone/>
              <a:defRPr sz="1600" b="1" kern="1200" cap="all" spc="20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defTabSz="1219170">
              <a:spcBef>
                <a:spcPts val="507"/>
              </a:spcBef>
              <a:spcAft>
                <a:spcPts val="400"/>
              </a:spcAft>
            </a:pPr>
            <a:r>
              <a:rPr lang="en-US" sz="3733" spc="267" dirty="0">
                <a:solidFill>
                  <a:srgbClr val="FFFFFF"/>
                </a:solidFill>
                <a:latin typeface="Calibri"/>
              </a:rPr>
              <a:t>Official Contacts:</a:t>
            </a:r>
          </a:p>
          <a:p>
            <a:pPr defTabSz="1219170">
              <a:spcBef>
                <a:spcPts val="507"/>
              </a:spcBef>
              <a:spcAft>
                <a:spcPts val="400"/>
              </a:spcAft>
            </a:pPr>
            <a:r>
              <a:rPr lang="en-US" sz="1333" spc="267" dirty="0">
                <a:solidFill>
                  <a:srgbClr val="FFFFFF"/>
                </a:solidFill>
                <a:latin typeface="Calibri"/>
              </a:rPr>
              <a:t>Email: BALAZS_RADOCZ@epam.com</a:t>
            </a:r>
          </a:p>
        </p:txBody>
      </p:sp>
    </p:spTree>
    <p:extLst>
      <p:ext uri="{BB962C8B-B14F-4D97-AF65-F5344CB8AC3E}">
        <p14:creationId xmlns:p14="http://schemas.microsoft.com/office/powerpoint/2010/main" val="4150519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vers">
  <a:themeElements>
    <a:clrScheme name="Custom 6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464547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740A320D-646C-4C12-89B1-0B127236B0F7}"/>
    </a:ext>
  </a:extLst>
</a:theme>
</file>

<file path=ppt/theme/theme3.xml><?xml version="1.0" encoding="utf-8"?>
<a:theme xmlns:a="http://schemas.openxmlformats.org/drawingml/2006/main" name="Breakers">
  <a:themeElements>
    <a:clrScheme name="Custom 8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67367244-F583-44E6-8F01-4BEACD68663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CA334FE686704CAC98A9E3E69BAA5C" ma:contentTypeVersion="10" ma:contentTypeDescription="Create a new document." ma:contentTypeScope="" ma:versionID="1f41fe012a3fe536623fcb0662c281bf">
  <xsd:schema xmlns:xsd="http://www.w3.org/2001/XMLSchema" xmlns:xs="http://www.w3.org/2001/XMLSchema" xmlns:p="http://schemas.microsoft.com/office/2006/metadata/properties" xmlns:ns2="a0dd759c-32c4-4035-bc4d-98911fa752ec" xmlns:ns3="81ee9c2e-6268-45a0-bd0a-c80bd3a55b67" targetNamespace="http://schemas.microsoft.com/office/2006/metadata/properties" ma:root="true" ma:fieldsID="84d5171e3779a8514ed5631b7d68e5a8" ns2:_="" ns3:_="">
    <xsd:import namespace="a0dd759c-32c4-4035-bc4d-98911fa752ec"/>
    <xsd:import namespace="81ee9c2e-6268-45a0-bd0a-c80bd3a55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d759c-32c4-4035-bc4d-98911fa752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5e7e27f-e892-4f83-94e1-90b55e231c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ee9c2e-6268-45a0-bd0a-c80bd3a55b6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a8c420-a9fc-42be-9aed-b6ca13ba4a74}" ma:internalName="TaxCatchAll" ma:showField="CatchAllData" ma:web="81ee9c2e-6268-45a0-bd0a-c80bd3a55b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ee9c2e-6268-45a0-bd0a-c80bd3a55b67" xsi:nil="true"/>
    <lcf76f155ced4ddcb4097134ff3c332f xmlns="a0dd759c-32c4-4035-bc4d-98911fa752e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54A3F72-D66D-454F-A43C-7964CAA15DDD}"/>
</file>

<file path=customXml/itemProps2.xml><?xml version="1.0" encoding="utf-8"?>
<ds:datastoreItem xmlns:ds="http://schemas.openxmlformats.org/officeDocument/2006/customXml" ds:itemID="{6D3044FC-203D-41E8-9E5B-F0AE4F91F8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A85D99-9857-4AF0-B511-E41EBE15EC8E}">
  <ds:schemaRefs>
    <ds:schemaRef ds:uri="http://schemas.microsoft.com/office/2006/metadata/properties"/>
    <ds:schemaRef ds:uri="http://schemas.microsoft.com/office/infopath/2007/PartnerControls"/>
    <ds:schemaRef ds:uri="ba7f2db4-a52b-4d74-9216-ebf707ef889e"/>
    <ds:schemaRef ds:uri="11a5dca0-3636-42de-813f-044b243ee2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29430</TotalTime>
  <Words>1550</Words>
  <Application>Microsoft Office PowerPoint</Application>
  <PresentationFormat>Widescreen</PresentationFormat>
  <Paragraphs>224</Paragraphs>
  <Slides>49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Calibri Light</vt:lpstr>
      <vt:lpstr>Verdana</vt:lpstr>
      <vt:lpstr>Office Theme</vt:lpstr>
      <vt:lpstr>Covers</vt:lpstr>
      <vt:lpstr>Breakers</vt:lpstr>
      <vt:lpstr>UML - Unified Modeling Language</vt:lpstr>
      <vt:lpstr>PowerPoint Presentation</vt:lpstr>
      <vt:lpstr>PowerPoint Presentation</vt:lpstr>
      <vt:lpstr>PowerPoint Presentation</vt:lpstr>
      <vt:lpstr>PowerPoint Presentation</vt:lpstr>
      <vt:lpstr>Mi a modell?</vt:lpstr>
      <vt:lpstr>A modell fontossága</vt:lpstr>
      <vt:lpstr>Mi a meta modell?</vt:lpstr>
      <vt:lpstr>Az UML felépítése</vt:lpstr>
      <vt:lpstr>Az UML metamodel-architektúrája </vt:lpstr>
      <vt:lpstr>Diagramok</vt:lpstr>
      <vt:lpstr>UML diagramok</vt:lpstr>
      <vt:lpstr>UML diagram</vt:lpstr>
      <vt:lpstr>UML diagramok </vt:lpstr>
      <vt:lpstr>UML diagramok</vt:lpstr>
      <vt:lpstr>UML diagramok</vt:lpstr>
      <vt:lpstr>Általános grafikus jelölő elemek </vt:lpstr>
      <vt:lpstr>Általános grafikus jelölő elemek</vt:lpstr>
      <vt:lpstr>Osztálydiagramok </vt:lpstr>
      <vt:lpstr>Osztálydiagram </vt:lpstr>
      <vt:lpstr>Osztályok jelölései </vt:lpstr>
      <vt:lpstr>Osztályok jelölései </vt:lpstr>
      <vt:lpstr>Osztályok jelölései  </vt:lpstr>
      <vt:lpstr>Aktivitás diagram</vt:lpstr>
      <vt:lpstr>Aktivitás diagram</vt:lpstr>
      <vt:lpstr>Aktivitás diagram </vt:lpstr>
      <vt:lpstr>Aktivitás diagram</vt:lpstr>
      <vt:lpstr>PowerPoint Presentation</vt:lpstr>
      <vt:lpstr>Használati eset diagram </vt:lpstr>
      <vt:lpstr>Használati eset diagram </vt:lpstr>
      <vt:lpstr>Használati eset diagram </vt:lpstr>
      <vt:lpstr>Használati eset diagram </vt:lpstr>
      <vt:lpstr>PowerPoint Presentation</vt:lpstr>
      <vt:lpstr>PowerPoint Presentation</vt:lpstr>
      <vt:lpstr>Állapotgép diagram</vt:lpstr>
      <vt:lpstr>Állapotgép diagram </vt:lpstr>
      <vt:lpstr>Állapotgép diagram </vt:lpstr>
      <vt:lpstr>Állapotgép diagram</vt:lpstr>
      <vt:lpstr>Állapotgép diagram</vt:lpstr>
      <vt:lpstr>Állapotgép diagram</vt:lpstr>
      <vt:lpstr>Szekvencia diagram</vt:lpstr>
      <vt:lpstr>PowerPoint Presentation</vt:lpstr>
      <vt:lpstr>Csomagdiagram </vt:lpstr>
      <vt:lpstr>Csomagdiagram </vt:lpstr>
      <vt:lpstr>Komponens diagram </vt:lpstr>
      <vt:lpstr>Komponens diagram</vt:lpstr>
      <vt:lpstr>Időzítési diagram  </vt:lpstr>
      <vt:lpstr>Telepítési diagram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Balazs Radocz</dc:creator>
  <cp:lastModifiedBy>Radócz Balázs</cp:lastModifiedBy>
  <cp:revision>17</cp:revision>
  <dcterms:created xsi:type="dcterms:W3CDTF">2021-10-11T10:53:05Z</dcterms:created>
  <dcterms:modified xsi:type="dcterms:W3CDTF">2025-10-13T12:04:03Z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0x0101002FCA334FE686704CAC98A9E3E69BAA5C</vt:lpwstr>
  </property>
</Properties>
</file>