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4EC99AB-0E06-457E-900F-12EDA47CDF4A}">
  <a:tblStyle styleId="{84EC99AB-0E06-457E-900F-12EDA47CDF4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9137" autoAdjust="0"/>
  </p:normalViewPr>
  <p:slideViewPr>
    <p:cSldViewPr snapToGrid="0">
      <p:cViewPr varScale="1">
        <p:scale>
          <a:sx n="112" d="100"/>
          <a:sy n="112" d="100"/>
        </p:scale>
        <p:origin x="150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hu.wikipedia.org/wiki/Vill%C3%A1msakk"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inst.eecs.berkeley.edu/~cs61b/fa14/ta-materials/apps/ab_tree_practice/"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www.247backgammon.org/" TargetMode="External"/><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s://en.wikipedia.org/wiki/TD-Gammon" TargetMode="External"/><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Már az ötvenes években is felmerült az, hogy milyen jó lenne, ha a számítógéppel lehetne sakkozni, dámázni. Igaz, ekkor a számítógép több ruhásszekrény méretű volt, jellemzően lyukszalagot és lyukkártyát használt.</a:t>
            </a:r>
            <a:endParaRPr/>
          </a:p>
          <a:p>
            <a:pPr marL="0" lvl="0" indent="0" algn="l" rtl="0">
              <a:spcBef>
                <a:spcPts val="0"/>
              </a:spcBef>
              <a:spcAft>
                <a:spcPts val="0"/>
              </a:spcAft>
              <a:buNone/>
            </a:pPr>
            <a:r>
              <a:rPr lang="hu"/>
              <a:t>Az elmúlt hetven évben igen sokat léptünk előre, és a kezdeti célok megvalósultak. Ma azt nézzük meg, hogy mi is van a háttérben, hogyan működnek az ellenfeleink.</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20eee70724_0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20eee70724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Először megnézzük, hogy mit is tekintünk játéknak, és ezeket a játékokat miképp csoportosíthatjuk – ahol a csoportosítás alapja a játék implementációjának bonyolultsága.</a:t>
            </a:r>
            <a:endParaRPr/>
          </a:p>
          <a:p>
            <a:pPr marL="0" lvl="0" indent="0" algn="l" rtl="0">
              <a:spcBef>
                <a:spcPts val="0"/>
              </a:spcBef>
              <a:spcAft>
                <a:spcPts val="0"/>
              </a:spcAft>
              <a:buNone/>
            </a:pPr>
            <a:r>
              <a:rPr lang="hu"/>
              <a:t>Majd megmutatjuk, hogyan készíthető el – elvileg – a tökéletes ellenfél</a:t>
            </a:r>
            <a:endParaRPr/>
          </a:p>
          <a:p>
            <a:pPr marL="0" lvl="0" indent="0" algn="l" rtl="0">
              <a:spcBef>
                <a:spcPts val="0"/>
              </a:spcBef>
              <a:spcAft>
                <a:spcPts val="0"/>
              </a:spcAft>
              <a:buNone/>
            </a:pPr>
            <a:r>
              <a:rPr lang="hu"/>
              <a:t>Aztán át kell lépnünk a gyakorlatba, mert nem minden valósítható meg hatékonyan, ami az elméletben működik.</a:t>
            </a:r>
            <a:endParaRPr/>
          </a:p>
          <a:p>
            <a:pPr marL="0" lvl="0" indent="0" algn="l" rtl="0">
              <a:spcBef>
                <a:spcPts val="0"/>
              </a:spcBef>
              <a:spcAft>
                <a:spcPts val="0"/>
              </a:spcAft>
              <a:buNone/>
            </a:pPr>
            <a:r>
              <a:rPr lang="hu"/>
              <a:t>Aztán tekintünk pár technikailag bonyolultabb játékot, illetve a kezelésének módszerét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20eee70724_0_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20eee70724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Miután nem tudjuk, hogy az ellenfél hogyan fog lépni, mi alapján dönt (gondoljunk a pókerre, ahol a blöff bevett szokás), fel kell készülni mindenre, azaz az ellenfél minden egyes lépésére tudni kell válaszolni, azaz egy stratégiát kell kidolgozni, meg kell adnunk, hogy ha eljutunk egy állapotba, akkor hogyan tovább.</a:t>
            </a:r>
            <a:endParaRPr/>
          </a:p>
          <a:p>
            <a:pPr marL="0" lvl="0" indent="0" algn="l" rtl="0">
              <a:spcBef>
                <a:spcPts val="0"/>
              </a:spcBef>
              <a:spcAft>
                <a:spcPts val="0"/>
              </a:spcAft>
              <a:buNone/>
            </a:pPr>
            <a:endParaRPr/>
          </a:p>
          <a:p>
            <a:pPr marL="0" lvl="0" indent="0" algn="l" rtl="0">
              <a:spcBef>
                <a:spcPts val="0"/>
              </a:spcBef>
              <a:spcAft>
                <a:spcPts val="0"/>
              </a:spcAft>
              <a:buNone/>
            </a:pPr>
            <a:r>
              <a:rPr lang="hu">
                <a:solidFill>
                  <a:schemeClr val="dk1"/>
                </a:solidFill>
              </a:rPr>
              <a:t>Bizonyos játékoknál adott időn belül lépni kell (pl. </a:t>
            </a:r>
            <a:r>
              <a:rPr lang="hu" u="sng">
                <a:solidFill>
                  <a:schemeClr val="hlink"/>
                </a:solidFill>
                <a:hlinkClick r:id="rId3"/>
              </a:rPr>
              <a:t>villámsakk</a:t>
            </a:r>
            <a:r>
              <a:rPr lang="hu">
                <a:solidFill>
                  <a:schemeClr val="dk1"/>
                </a:solidFill>
              </a:rPr>
              <a:t>). Ez nem teszi lehetővé, hogy a játékhoz tartozó játékfát teljes mértékben bejárja a programunk, csak egy része alapján kell meghozni a döntést. </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r>
              <a:rPr lang="hu">
                <a:solidFill>
                  <a:schemeClr val="dk1"/>
                </a:solidFill>
              </a:rPr>
              <a:t>A játékok matematikai megközelítése elég régen elkezdődött. A több mint 170 év alatt lépésről-lépés egyre közelebb jutottunk ahhoz, hogy hatékonyan játszó programokat írhassunk.</a:t>
            </a:r>
            <a:endParaRPr>
              <a:solidFill>
                <a:schemeClr val="dk1"/>
              </a:solidFill>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20eee70724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0eee70724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Itt pár, többé-kevésbé ismert játékot soroltunk fel. Két tulajdonság szerint csoportosítottuk a játékokat. Első esetben azt néztük, hogy a játékban valamilyen úton-módon teret kap-e a szerencse, vagy sem. Ez történhet kockadobással, kártyalapok húzásával, stb. </a:t>
            </a:r>
            <a:endParaRPr/>
          </a:p>
          <a:p>
            <a:pPr marL="0" lvl="0" indent="0" algn="l" rtl="0">
              <a:spcBef>
                <a:spcPts val="0"/>
              </a:spcBef>
              <a:spcAft>
                <a:spcPts val="0"/>
              </a:spcAft>
              <a:buNone/>
            </a:pPr>
            <a:endParaRPr/>
          </a:p>
          <a:p>
            <a:pPr marL="0" lvl="0" indent="0" algn="l" rtl="0">
              <a:spcBef>
                <a:spcPts val="0"/>
              </a:spcBef>
              <a:spcAft>
                <a:spcPts val="0"/>
              </a:spcAft>
              <a:buNone/>
            </a:pPr>
            <a:r>
              <a:rPr lang="hu"/>
              <a:t>A másik ismérv pedig az, hogy a játék minden információja elérhető minden játékos számára, vagy sem. A sakktábla minden figurája ismert, viszont torpedónál nem tudjuk, hogy hol vannak az ellenfél hajói, vagy milyen kártyái vannak a többieknél pókerben.</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7180894762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7180894762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Mielőtt továbblép, rajzoljon le egy (játék)fát, melynek a gyökerében a 6 szerepel, és a minden egyes csúcs gyerekei azok az állapotok, melyeket onnan egy lépésben el lehet érni.</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7180894762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7180894762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Hogyan lehetne általánosan megfogalmazni – ha van egy ilyen játékfánk – hogy merre érdemes egy adott állapotban lépni?</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7180894762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7180894762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Milyen színt kaphat a két még fehér csúcs?</a:t>
            </a:r>
            <a:endParaRPr/>
          </a:p>
          <a:p>
            <a:pPr marL="0" lvl="0" indent="0" algn="l" rtl="0">
              <a:spcBef>
                <a:spcPts val="0"/>
              </a:spcBef>
              <a:spcAft>
                <a:spcPts val="0"/>
              </a:spcAft>
              <a:buNone/>
            </a:pPr>
            <a:endParaRPr/>
          </a:p>
          <a:p>
            <a:pPr marL="0" lvl="0" indent="0" algn="l" rtl="0">
              <a:spcBef>
                <a:spcPts val="0"/>
              </a:spcBef>
              <a:spcAft>
                <a:spcPts val="0"/>
              </a:spcAft>
              <a:buNone/>
            </a:pPr>
            <a:r>
              <a:rPr lang="hu"/>
              <a:t>Amikor a Min következik lépni, eldöntheti, hogy az ellenfele veszítsen (piros), azaz ő nyerjen, vagy pedig az ellenfele nyerjen (kék). Mivel ez egy zérusösszegű játék (ha az egyik nyer, akkor a másik veszít), a Min is nyerni akar, így a 4,1,1 állapottal folytatja, tehát az 5,1-et pirosra kell fessük. </a:t>
            </a:r>
            <a:endParaRPr/>
          </a:p>
          <a:p>
            <a:pPr marL="0" lvl="0" indent="0" algn="l" rtl="0">
              <a:spcBef>
                <a:spcPts val="0"/>
              </a:spcBef>
              <a:spcAft>
                <a:spcPts val="0"/>
              </a:spcAft>
              <a:buNone/>
            </a:pPr>
            <a:r>
              <a:rPr lang="hu"/>
              <a:t>Ha számokat használnánk, a +1 és -1 lehetőség közül az utóbbit, a kisebbet választja, ezért is kapta a Min elnevezést.</a:t>
            </a:r>
            <a:endParaRPr/>
          </a:p>
          <a:p>
            <a:pPr marL="0" lvl="0" indent="0" algn="l" rtl="0">
              <a:spcBef>
                <a:spcPts val="0"/>
              </a:spcBef>
              <a:spcAft>
                <a:spcPts val="0"/>
              </a:spcAft>
              <a:buNone/>
            </a:pPr>
            <a:r>
              <a:rPr lang="hu"/>
              <a:t>A gyökér esetén a Max játékos a győzelem és vesztés közül választhat, amiből persze az előbbit választja, így ezt az állapotot kékre festhetjük.</a:t>
            </a:r>
            <a:endParaRPr/>
          </a:p>
          <a:p>
            <a:pPr marL="0" lvl="0" indent="0" algn="l" rtl="0">
              <a:spcBef>
                <a:spcPts val="0"/>
              </a:spcBef>
              <a:spcAft>
                <a:spcPts val="0"/>
              </a:spcAft>
              <a:buNone/>
            </a:pPr>
            <a:r>
              <a:rPr lang="hu"/>
              <a:t>Ha az ábrán látható láncok vannak – ahol nincs választási lehetőség – akkor a gyerek címkéjét kapja meg a szülő is (max({a}) = </a:t>
            </a:r>
            <a:r>
              <a:rPr lang="hu">
                <a:solidFill>
                  <a:schemeClr val="dk1"/>
                </a:solidFill>
              </a:rPr>
              <a:t>min({a}) = </a:t>
            </a:r>
            <a:r>
              <a:rPr lang="hu"/>
              <a:t>a), egyébként a szintnek megfelelő függényt kell alkalmazni a gyerekek címkéire, hogy megkapjuk a szülő címkéjét.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20eee70724_0_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0eee70724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Ez így működik minden kétszemélyes, determinisztikus és zérusösszegű játék esetén.</a:t>
            </a:r>
            <a:endParaRPr/>
          </a:p>
          <a:p>
            <a:pPr marL="0" lvl="0" indent="0" algn="l" rtl="0">
              <a:spcBef>
                <a:spcPts val="0"/>
              </a:spcBef>
              <a:spcAft>
                <a:spcPts val="0"/>
              </a:spcAft>
              <a:buNone/>
            </a:pPr>
            <a:endParaRPr/>
          </a:p>
          <a:p>
            <a:pPr marL="0" lvl="0" indent="0" algn="l" rtl="0">
              <a:spcBef>
                <a:spcPts val="0"/>
              </a:spcBef>
              <a:spcAft>
                <a:spcPts val="0"/>
              </a:spcAft>
              <a:buNone/>
            </a:pPr>
            <a:r>
              <a:rPr lang="hu"/>
              <a:t>A képen a TicTacToe (miniamőba) játékfája van felvázolva. A kezdő játékosnak 9 lépéslehetősége van. Erre az ellenfél 8-8 módon válaszolhat, amire az ellenválasz 7-7 módon jöhet, stb.</a:t>
            </a:r>
            <a:endParaRPr/>
          </a:p>
          <a:p>
            <a:pPr marL="0" lvl="0" indent="0" algn="l" rtl="0">
              <a:spcBef>
                <a:spcPts val="0"/>
              </a:spcBef>
              <a:spcAft>
                <a:spcPts val="0"/>
              </a:spcAft>
              <a:buNone/>
            </a:pPr>
            <a:endParaRPr/>
          </a:p>
          <a:p>
            <a:pPr marL="0" lvl="0" indent="0" algn="l" rtl="0">
              <a:spcBef>
                <a:spcPts val="0"/>
              </a:spcBef>
              <a:spcAft>
                <a:spcPts val="0"/>
              </a:spcAft>
              <a:buNone/>
            </a:pPr>
            <a:r>
              <a:rPr lang="hu"/>
              <a:t>Akinek van hozzá energiája és tehetsége, egy programmal elkészítheti a teljes játékfát, és megvizsgálhatja, hogy mi a legjobb kezdő lépés, az első játékos okos játékkal tud nyerni, vagy sem.</a:t>
            </a:r>
            <a:endParaRPr/>
          </a:p>
          <a:p>
            <a:pPr marL="0" lvl="0" indent="0" algn="l" rtl="0">
              <a:spcBef>
                <a:spcPts val="0"/>
              </a:spcBef>
              <a:spcAft>
                <a:spcPts val="0"/>
              </a:spcAft>
              <a:buNone/>
            </a:pPr>
            <a:endParaRPr/>
          </a:p>
          <a:p>
            <a:pPr marL="0" lvl="0" indent="0" algn="l" rtl="0">
              <a:spcBef>
                <a:spcPts val="0"/>
              </a:spcBef>
              <a:spcAft>
                <a:spcPts val="0"/>
              </a:spcAft>
              <a:buNone/>
            </a:pPr>
            <a:r>
              <a:rPr lang="hu"/>
              <a:t>A kép alsó része kicsit csal. A 0 (döntetlen) címkéjű csúcs a 10. szinten található. A -1 (vesztett) állapotban három üres mező van, tehát ez a 7. szinten van; míg a +1 (nyert) mező a 8. szinten.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20eee70724_0_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20eee70724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Ha adott egy játékfa, akkor ezzel a címkézéssel meg lehet határozni, hogy melyik a legjobb kezdőlépés.</a:t>
            </a:r>
            <a:endParaRPr/>
          </a:p>
          <a:p>
            <a:pPr marL="0" lvl="0" indent="0" algn="l" rtl="0">
              <a:spcBef>
                <a:spcPts val="0"/>
              </a:spcBef>
              <a:spcAft>
                <a:spcPts val="0"/>
              </a:spcAft>
              <a:buNone/>
            </a:pPr>
            <a:endParaRPr/>
          </a:p>
          <a:p>
            <a:pPr marL="0" lvl="0" indent="0" algn="l" rtl="0">
              <a:spcBef>
                <a:spcPts val="0"/>
              </a:spcBef>
              <a:spcAft>
                <a:spcPts val="0"/>
              </a:spcAft>
              <a:buNone/>
            </a:pPr>
            <a:r>
              <a:rPr lang="hu"/>
              <a:t>Sőt ez működőképes olyan játékok esetén is, ahol a játék végén történő kifizetés nem konstans. A fenti ábrán az látható a leveleknél, hogy a kezdő játékos mennyit zsebel be, ha ott ér véget a játék. (Igen igazságtalan, mert mindegyik pozitív mennyiség, azaz csak ő győzhet). </a:t>
            </a:r>
            <a:endParaRPr/>
          </a:p>
          <a:p>
            <a:pPr marL="0" lvl="0" indent="0" algn="l" rtl="0">
              <a:spcBef>
                <a:spcPts val="0"/>
              </a:spcBef>
              <a:spcAft>
                <a:spcPts val="0"/>
              </a:spcAft>
              <a:buNone/>
            </a:pPr>
            <a:r>
              <a:rPr lang="hu"/>
              <a:t>Ekkor a feladat megoldása a max(min(3,12,8), min(2,4,6), min(14,5,2)) értékének kiszámítását igényli. Ez megadja a gyökér minimax értékét, már csak a kérdés, hogy a gyökér gyerekei közül hol ekkora a minimax érték?</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20eee70724_0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20eee70724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Hogyan lehet a legjobb lépést meghatározni programmal?</a:t>
            </a:r>
            <a:endParaRPr/>
          </a:p>
          <a:p>
            <a:pPr marL="0" lvl="0" indent="0" algn="l" rtl="0">
              <a:spcBef>
                <a:spcPts val="0"/>
              </a:spcBef>
              <a:spcAft>
                <a:spcPts val="0"/>
              </a:spcAft>
              <a:buNone/>
            </a:pPr>
            <a:r>
              <a:rPr lang="hu"/>
              <a:t>A gyökér gyerekei Min csúcsok, így minimummal kell indítani a minimax érték számítását.</a:t>
            </a:r>
            <a:endParaRPr/>
          </a:p>
          <a:p>
            <a:pPr marL="0" lvl="0" indent="0" algn="l" rtl="0">
              <a:spcBef>
                <a:spcPts val="0"/>
              </a:spcBef>
              <a:spcAft>
                <a:spcPts val="0"/>
              </a:spcAft>
              <a:buNone/>
            </a:pPr>
            <a:r>
              <a:rPr lang="hu"/>
              <a:t>Ha gyökérhez érünk, az ott található értéket kell felhasználni, egyébként az aktuális csúcs gyerekeire kell a minimax értéket kiszámolni, és a szintnek megfelelően ezek közül a legnagyobbat illetve a legkisebbet kell visszaadni.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20eee70724_0_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20eee70724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Kérdés, hogy a korábban is szereplő négy ismérv szerint hogyan osztályozhatjuk ezt a keresést?</a:t>
            </a:r>
            <a:endParaRPr/>
          </a:p>
          <a:p>
            <a:pPr marL="457200" lvl="0" indent="-317500" algn="l" rtl="0">
              <a:spcBef>
                <a:spcPts val="0"/>
              </a:spcBef>
              <a:spcAft>
                <a:spcPts val="0"/>
              </a:spcAft>
              <a:buSzPts val="1400"/>
              <a:buChar char="●"/>
            </a:pPr>
            <a:r>
              <a:rPr lang="hu"/>
              <a:t>Képes meghatározni a legjobb lépésünket? (Teljes?) </a:t>
            </a:r>
            <a:endParaRPr/>
          </a:p>
          <a:p>
            <a:pPr marL="914400" lvl="1" indent="-317500" algn="l" rtl="0">
              <a:spcBef>
                <a:spcPts val="0"/>
              </a:spcBef>
              <a:spcAft>
                <a:spcPts val="0"/>
              </a:spcAft>
              <a:buSzPts val="1400"/>
              <a:buChar char="○"/>
            </a:pPr>
            <a:r>
              <a:rPr lang="hu"/>
              <a:t>Ha be tudjuk járni a fát, mert nem végtelen, akkor igen.</a:t>
            </a:r>
            <a:endParaRPr/>
          </a:p>
          <a:p>
            <a:pPr marL="457200" lvl="0" indent="-317500" algn="l" rtl="0">
              <a:spcBef>
                <a:spcPts val="0"/>
              </a:spcBef>
              <a:spcAft>
                <a:spcPts val="0"/>
              </a:spcAft>
              <a:buSzPts val="1400"/>
              <a:buChar char="●"/>
            </a:pPr>
            <a:r>
              <a:rPr lang="hu"/>
              <a:t>Ez a módszer segít elérni a lehető legjobb eredményt? (optimális)</a:t>
            </a:r>
            <a:endParaRPr/>
          </a:p>
          <a:p>
            <a:pPr marL="914400" lvl="1" indent="-317500" algn="l" rtl="0">
              <a:spcBef>
                <a:spcPts val="0"/>
              </a:spcBef>
              <a:spcAft>
                <a:spcPts val="0"/>
              </a:spcAft>
              <a:buSzPts val="1400"/>
              <a:buChar char="○"/>
            </a:pPr>
            <a:r>
              <a:rPr lang="hu"/>
              <a:t>Ha a másik játékos is így játszik, akkor igen. Ha nem, akkor pedig még inkább, mert a számunkra legrosszabb lépés helyet másikat választ, így a kapott minimax érték nagyobb lehet.</a:t>
            </a:r>
            <a:endParaRPr/>
          </a:p>
          <a:p>
            <a:pPr marL="457200" lvl="0" indent="-317500" algn="l" rtl="0">
              <a:spcBef>
                <a:spcPts val="0"/>
              </a:spcBef>
              <a:spcAft>
                <a:spcPts val="0"/>
              </a:spcAft>
              <a:buSzPts val="1400"/>
              <a:buChar char="●"/>
            </a:pPr>
            <a:r>
              <a:rPr lang="hu"/>
              <a:t>A teljes játékfát be kell járnunk ennél a módszernél, így mélységnek exponenciális függvénye lesz az időbonyolultság.</a:t>
            </a:r>
            <a:endParaRPr/>
          </a:p>
          <a:p>
            <a:pPr marL="457200" lvl="0" indent="-317500" algn="l" rtl="0">
              <a:spcBef>
                <a:spcPts val="0"/>
              </a:spcBef>
              <a:spcAft>
                <a:spcPts val="0"/>
              </a:spcAft>
              <a:buSzPts val="1400"/>
              <a:buChar char="●"/>
            </a:pPr>
            <a:r>
              <a:rPr lang="hu"/>
              <a:t>Viszont nem kell minden csúcsot a memóriában tartani, csak amelyeket éppen használunk. A mélységi kereséshez hasonlóan csak lineáris tárfoglalásra van szükség.</a:t>
            </a:r>
            <a:endParaRPr/>
          </a:p>
          <a:p>
            <a:pPr marL="0" lvl="0" indent="0" algn="l" rtl="0">
              <a:spcBef>
                <a:spcPts val="0"/>
              </a:spcBef>
              <a:spcAft>
                <a:spcPts val="0"/>
              </a:spcAft>
              <a:buNone/>
            </a:pPr>
            <a:r>
              <a:rPr lang="hu"/>
              <a:t>Ha a sakkban gondolkodunk, az időbonyolultság nagyobb lesz, mint ahány atom van az univerzumban. Tehát spórolni kellene valahogy a megvizsgált csúcsokkal.</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20eee70724_0_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20eee70724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Az ötvenes évekből származik McCarthy módszere, mellyel sprórolhatunk a csúcsokkal.</a:t>
            </a:r>
            <a:endParaRPr/>
          </a:p>
          <a:p>
            <a:pPr marL="0" lvl="0" indent="0" algn="l" rtl="0">
              <a:spcBef>
                <a:spcPts val="0"/>
              </a:spcBef>
              <a:spcAft>
                <a:spcPts val="0"/>
              </a:spcAft>
              <a:buNone/>
            </a:pPr>
            <a:endParaRPr/>
          </a:p>
          <a:p>
            <a:pPr marL="0" lvl="0" indent="0" algn="l" rtl="0">
              <a:spcBef>
                <a:spcPts val="0"/>
              </a:spcBef>
              <a:spcAft>
                <a:spcPts val="0"/>
              </a:spcAft>
              <a:buNone/>
            </a:pPr>
            <a:r>
              <a:rPr lang="hu"/>
              <a:t>Vegyük a csúcs első gyerekét! Ha meghatároztuk ennek minimax értékét, akkor a gyökér értéke ennél kisebb biztos nem lehet, mert ez az érték is szerepel azok között, melynek vesszük a maximumát.</a:t>
            </a:r>
            <a:endParaRPr/>
          </a:p>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20eee70724_0_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20eee70724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Ha az derül ki, hogy a gyökér második gyereke első gyerekének az értéke kisebb ennél, akkor a gyökér második gyerekének minimax értéke ennél biztos nem lesz nagyobb, és ez az oka, hogy az első játékos biztos nem fogja választani a második lépéslehetőséget. Emiatt az X-szel jelölt csúcsok értékének kiszámítása nyugodtan kihagyható, nem tartalmaz számunkra hasznos információt.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20eee70724_0_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20eee70724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Induljunk el a gyökér harmadik gyerekének irányába. Ennek egyik gyereke 14 értékkel rendelkezik – mivel Min csúcsról van szó – ez felső korlát a gyerek minimax értékére.</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20eee70724_0_1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20eee70724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Ha a soron következő gyerek értéke kisebb, akkor frissíteni kell a korábbi becslésünket.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20eee70724_0_1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20eee70724_0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Sőt ha a harmadik gyerek értéke még kisebb, akkor újabb frissítésre van szükség. Mivel nincs további gyerek (unoka), így a gyökér harmadik gyereke értékének már nem becslése van, hanem ismert a konkrét érték, ennek megfelelően a gyökér értéke is pontosan adott.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20eee70724_0_1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20eee70724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Valójában két értéket kell folyamatosan nyilván tartanunk, illetve folyamatosan frissítenünk. Ezekről kapta a nevét a módszer is. </a:t>
            </a:r>
            <a:endParaRPr/>
          </a:p>
          <a:p>
            <a:pPr marL="0" lvl="0" indent="0" algn="l" rtl="0">
              <a:spcBef>
                <a:spcPts val="0"/>
              </a:spcBef>
              <a:spcAft>
                <a:spcPts val="0"/>
              </a:spcAft>
              <a:buNone/>
            </a:pPr>
            <a:r>
              <a:rPr lang="hu"/>
              <a:t>Az alfa legjobb alternatíva értékét jelöi Max számára. Ha egy új irány ennél kevesebbet igér, nem vesszük figyelembe. A béta hasonlóan számolódik, de az ellenfél számára.</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20eee70724_0_1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20eee70724_0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A minimax módszer programjához kísértetiesen hasonlít ez a program is. Mivel a legjobb lépésre vagyunk kíváncsiak, a gyökér gyerekeinek alfa-béta értékét határozzuk meg, és döntünk a legjobb mellett.</a:t>
            </a:r>
            <a:endParaRPr/>
          </a:p>
          <a:p>
            <a:pPr marL="0" lvl="0" indent="0" algn="l" rtl="0">
              <a:spcBef>
                <a:spcPts val="0"/>
              </a:spcBef>
              <a:spcAft>
                <a:spcPts val="0"/>
              </a:spcAft>
              <a:buNone/>
            </a:pPr>
            <a:r>
              <a:rPr lang="hu"/>
              <a:t>A korábbiakhoz hasonlóan két egymást hívogató függvényünk van. Levél esetén ezek is visszaadják a levélhez rendelt értéket. Ezután sorraveszik a gyerekek alfa-béta értékeit. Max csúcs esetén a csúcs értékét (</a:t>
            </a:r>
            <a:r>
              <a:rPr lang="hu" i="1"/>
              <a:t>v</a:t>
            </a:r>
            <a:r>
              <a:rPr lang="hu"/>
              <a:t>) egyre növeljük, ám ha ez túllépte a béta értékét, akkor ezt adjuk vissza, figyelmen kívül hagyva a többi gyerek értékét. Egyébként próbáljuk alfát is egyre feljebb tornászni. Min csúcs esetén sem teszünk mást, de ekkor egyre csökkentjük a csúcs értékét, míg alfa alá nem megyünk. Ez megint befejezi a csúcs értékének számítását. Ha erre nem kerül sor, akkor béta értékét aktualizáljuk.</a:t>
            </a:r>
            <a:endParaRPr/>
          </a:p>
          <a:p>
            <a:pPr marL="0" lvl="0" indent="0" algn="l" rtl="0">
              <a:spcBef>
                <a:spcPts val="0"/>
              </a:spcBef>
              <a:spcAft>
                <a:spcPts val="0"/>
              </a:spcAft>
              <a:buNone/>
            </a:pPr>
            <a:endParaRPr/>
          </a:p>
          <a:p>
            <a:pPr marL="0" lvl="0" indent="0" algn="l" rtl="0">
              <a:spcBef>
                <a:spcPts val="0"/>
              </a:spcBef>
              <a:spcAft>
                <a:spcPts val="0"/>
              </a:spcAft>
              <a:buNone/>
            </a:pPr>
            <a:r>
              <a:rPr lang="hu"/>
              <a:t>A megértést segíti a </a:t>
            </a:r>
            <a:r>
              <a:rPr lang="hu" u="sng">
                <a:solidFill>
                  <a:schemeClr val="hlink"/>
                </a:solidFill>
                <a:hlinkClick r:id="rId3"/>
              </a:rPr>
              <a:t>http://inst.eecs.berkeley.edu/~cs61b/fa14/ta-materials/apps/ab_tree_practice/</a:t>
            </a:r>
            <a:r>
              <a:rPr lang="hu"/>
              <a:t> oldalon történő játszadozás, próbálkozás. Ehhez hasonló tesztre lehet számítani gyakorlaton, illetve vizsgán is.</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20eee70724_0_1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20eee70724_0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Azért tudunk lenyesni ágakat, részfákat, mert nincsenek hatással a végeredményre, azaz felesleges számolást hagyunk ki.</a:t>
            </a:r>
            <a:endParaRPr/>
          </a:p>
          <a:p>
            <a:pPr marL="0" lvl="0" indent="0" algn="l" rtl="0">
              <a:spcBef>
                <a:spcPts val="0"/>
              </a:spcBef>
              <a:spcAft>
                <a:spcPts val="0"/>
              </a:spcAft>
              <a:buNone/>
            </a:pPr>
            <a:endParaRPr/>
          </a:p>
          <a:p>
            <a:pPr marL="0" lvl="0" indent="0" algn="l" rtl="0">
              <a:spcBef>
                <a:spcPts val="0"/>
              </a:spcBef>
              <a:spcAft>
                <a:spcPts val="0"/>
              </a:spcAft>
              <a:buNone/>
            </a:pPr>
            <a:r>
              <a:rPr lang="hu"/>
              <a:t>Nem volt szó arról, hogy az aktuális csúcs gyerekeit milyen sorrendben látogatjuk meg. Jó sorrendek használata esetén jóval többet tudunk lenyesni. Elvileg a bonyolultság lényegesen csökkenthető, ez azt jelenti, hogy ha csak egy részfát akartunk volna bejárni, annak dupláját is bejárhatjuk. Azaz a sakk problémája kisebb lett, de még mindig kezelhetetlenül nagy</a:t>
            </a:r>
            <a:endParaRPr/>
          </a:p>
          <a:p>
            <a:pPr marL="0" lvl="0" indent="0" algn="l" rtl="0">
              <a:spcBef>
                <a:spcPts val="0"/>
              </a:spcBef>
              <a:spcAft>
                <a:spcPts val="0"/>
              </a:spcAft>
              <a:buNone/>
            </a:pPr>
            <a:endParaRPr/>
          </a:p>
          <a:p>
            <a:pPr marL="0" lvl="0" indent="0" algn="l" rtl="0">
              <a:spcBef>
                <a:spcPts val="0"/>
              </a:spcBef>
              <a:spcAft>
                <a:spcPts val="0"/>
              </a:spcAft>
              <a:buNone/>
            </a:pPr>
            <a:r>
              <a:rPr lang="hu"/>
              <a:t>Miért van olyan nagy felhajtás az alfa-béta vágás körül? Mert itt az ész nyer a nyers erővel szemben.</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20eee70724_0_1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20eee70724_0_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Ott tartunk, hogy még mindig hatalmas a játékfa, de szükségünk lenne valami megoldásra, hogy legyen egy játszható programunk.</a:t>
            </a:r>
            <a:endParaRPr/>
          </a:p>
          <a:p>
            <a:pPr marL="0" lvl="0" indent="0" algn="l" rtl="0">
              <a:spcBef>
                <a:spcPts val="0"/>
              </a:spcBef>
              <a:spcAft>
                <a:spcPts val="0"/>
              </a:spcAft>
              <a:buNone/>
            </a:pPr>
            <a:endParaRPr/>
          </a:p>
          <a:p>
            <a:pPr marL="0" lvl="0" indent="0" algn="l" rtl="0">
              <a:spcBef>
                <a:spcPts val="0"/>
              </a:spcBef>
              <a:spcAft>
                <a:spcPts val="0"/>
              </a:spcAft>
              <a:buNone/>
            </a:pPr>
            <a:r>
              <a:rPr lang="hu"/>
              <a:t>Egy megoldás lehet, hogy a fát tetejét egy adott magasságban levágjuk (hasonlóan a limitált mélységi kereséshez), és csak ebben a részfában dolgozunk. Nagyjából ezt tették a nyolcvanas évek sakkprogramjai is. Ezen még lehet finomítani, csak ott vágunk a fában, ahol lépés során nem igazán változnak az alfa-béta/minimax értékek.</a:t>
            </a:r>
            <a:endParaRPr/>
          </a:p>
          <a:p>
            <a:pPr marL="0" lvl="0" indent="0" algn="l" rtl="0">
              <a:spcBef>
                <a:spcPts val="0"/>
              </a:spcBef>
              <a:spcAft>
                <a:spcPts val="0"/>
              </a:spcAft>
              <a:buNone/>
            </a:pPr>
            <a:endParaRPr/>
          </a:p>
          <a:p>
            <a:pPr marL="0" lvl="0" indent="0" algn="l" rtl="0">
              <a:spcBef>
                <a:spcPts val="0"/>
              </a:spcBef>
              <a:spcAft>
                <a:spcPts val="0"/>
              </a:spcAft>
              <a:buNone/>
            </a:pPr>
            <a:r>
              <a:rPr lang="hu"/>
              <a:t>Aki odafigyel, az sejti, hogy csalok. Egy csúcs minimax értékét annak a részfának alapján lehet meghatározni, melynek az az a gyökere. Most nem akarjuk a csúcs alatti részt kifejteni, de valami értéket szeretnénk hozzá rendelni. Igen, ehhez egy külön függvényt kell csinálni, mely valójában egy állás jóságát adja meg minden egyes állapot esetén. Erről mindjárt szó lesz. </a:t>
            </a:r>
            <a:endParaRPr/>
          </a:p>
          <a:p>
            <a:pPr marL="0" lvl="0" indent="0" algn="l" rtl="0">
              <a:spcBef>
                <a:spcPts val="0"/>
              </a:spcBef>
              <a:spcAft>
                <a:spcPts val="0"/>
              </a:spcAft>
              <a:buNone/>
            </a:pPr>
            <a:endParaRPr/>
          </a:p>
          <a:p>
            <a:pPr marL="0" lvl="0" indent="0" algn="l" rtl="0">
              <a:spcBef>
                <a:spcPts val="0"/>
              </a:spcBef>
              <a:spcAft>
                <a:spcPts val="0"/>
              </a:spcAft>
              <a:buNone/>
            </a:pPr>
            <a:r>
              <a:rPr lang="hu"/>
              <a:t>Azelőtt lássuk mire vagyunk képesek egy viszonylag gyenge hardveren. Ezekkel a feltételekkel a nyolcvanas évek legjobb sakkprogramjait sikerül utolérni.</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20eee70724_0_1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20eee70724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Aki nemcsak a lépéseket ismeri, hanem egy kcsit többet is tud a sakkról, az talán már hallott az anyagi előnyről. Itt szokás mondani, hogy egy vezér nagyjából 9 gyalognak felel meg, egy bástya 5-nek, és így tovább. Ennek megfelelően egy állást értékelhetünk az anyagi előny oldaláról. De nem csak ez számít, hogynem hogy például melyik játékos uralja a tábla közepét – a centrumot –, illetve mennyire mozoghatnak szabadon a mi figuráink, vagy be vannak szorítva egyéb figurák közé, fenyegeti őket ütés, vagy sem. Több száz ilyen tulajdonság adható meg egy állás esetén, és az a művészet, hogy eldöntsük, melyik feltételt milyen súllyal kell figyelembe venni. A nyolcvanas évek nagy része ezen súlyok meghatározásával telt egyesek számára, míg mások a minél nagyobb részfát próbáltak bejárni.</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20eee70724_0_1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20eee70724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Ha már adott egy ilyen függvényünk, és bármilyen monoton függvényét alkalmazzuk, ugyanaz lesz végeredményben a stratégiánk, ugyanazokat a lépéseket fogjuk kiválasztani.</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20eee70724_0_1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20eee70724_0_1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Lássunk néhány játékot, ahol sem rejtett információ, sem véletlen nincs. </a:t>
            </a:r>
            <a:endParaRPr/>
          </a:p>
          <a:p>
            <a:pPr marL="0" lvl="0" indent="0" algn="l" rtl="0">
              <a:spcBef>
                <a:spcPts val="0"/>
              </a:spcBef>
              <a:spcAft>
                <a:spcPts val="0"/>
              </a:spcAft>
              <a:buNone/>
            </a:pPr>
            <a:endParaRPr/>
          </a:p>
          <a:p>
            <a:pPr marL="0" lvl="0" indent="0" algn="l" rtl="0">
              <a:spcBef>
                <a:spcPts val="0"/>
              </a:spcBef>
              <a:spcAft>
                <a:spcPts val="0"/>
              </a:spcAft>
              <a:buNone/>
            </a:pPr>
            <a:r>
              <a:rPr lang="hu"/>
              <a:t>Az oroszoknál és amerikaiaknál divatos dáma esetén negyed évszázada sikerült az ember fölé kerekedni, és nem volt szükség nagy számítási kapacitásra. Igaz készült egy szép végjáték-tár, hogy ott már ne kelljen keresgélni, hanem a legjobb lépéseket tehesse meg a program.</a:t>
            </a:r>
            <a:endParaRPr/>
          </a:p>
          <a:p>
            <a:pPr marL="0" lvl="0" indent="0" algn="l" rtl="0">
              <a:spcBef>
                <a:spcPts val="0"/>
              </a:spcBef>
              <a:spcAft>
                <a:spcPts val="0"/>
              </a:spcAft>
              <a:buNone/>
            </a:pPr>
            <a:endParaRPr/>
          </a:p>
          <a:p>
            <a:pPr marL="0" lvl="0" indent="0" algn="l" rtl="0">
              <a:spcBef>
                <a:spcPts val="0"/>
              </a:spcBef>
              <a:spcAft>
                <a:spcPts val="0"/>
              </a:spcAft>
              <a:buNone/>
            </a:pPr>
            <a:r>
              <a:rPr lang="hu"/>
              <a:t>Földrengésszerű volt, mikor ugyanez eljött a sakkban is, ám látjuk, hogy ehhez egy ma is jelentős számítási kapacitásra volt szükség, valamint számotterő nyitás- és végjáték-tárra.</a:t>
            </a:r>
            <a:endParaRPr/>
          </a:p>
          <a:p>
            <a:pPr marL="0" lvl="0" indent="0" algn="l" rtl="0">
              <a:spcBef>
                <a:spcPts val="0"/>
              </a:spcBef>
              <a:spcAft>
                <a:spcPts val="0"/>
              </a:spcAft>
              <a:buNone/>
            </a:pPr>
            <a:endParaRPr/>
          </a:p>
          <a:p>
            <a:pPr marL="0" lvl="0" indent="0" algn="l" rtl="0">
              <a:spcBef>
                <a:spcPts val="0"/>
              </a:spcBef>
              <a:spcAft>
                <a:spcPts val="0"/>
              </a:spcAft>
              <a:buNone/>
            </a:pPr>
            <a:r>
              <a:rPr lang="hu"/>
              <a:t>Az Othello viszonylag egyszerű játék, jó kérdés, hogy miért kellett ezzel ennyit várni.</a:t>
            </a:r>
            <a:endParaRPr/>
          </a:p>
          <a:p>
            <a:pPr marL="0" lvl="0" indent="0" algn="l" rtl="0">
              <a:spcBef>
                <a:spcPts val="0"/>
              </a:spcBef>
              <a:spcAft>
                <a:spcPts val="0"/>
              </a:spcAft>
              <a:buNone/>
            </a:pPr>
            <a:endParaRPr/>
          </a:p>
          <a:p>
            <a:pPr marL="0" lvl="0" indent="0" algn="l" rtl="0">
              <a:spcBef>
                <a:spcPts val="0"/>
              </a:spcBef>
              <a:spcAft>
                <a:spcPts val="0"/>
              </a:spcAft>
              <a:buNone/>
            </a:pPr>
            <a:r>
              <a:rPr lang="hu"/>
              <a:t>2030-ra tették sokáig, amikor a gép legyőzi Go-ban az embert. A hatalmas tábla miatt a lehetőségek exponenciális robbanása miatt esélytelennek tűnt a játékfa elegendő méretű bejárása. Viszont négy éve mégis sikerült legyőzni az embert, igaz más eszközzel, melyre az utolsó előadáson térünk ki.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20eee70724_0_1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20eee70724_0_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Az </a:t>
            </a:r>
            <a:r>
              <a:rPr lang="hu" u="sng">
                <a:solidFill>
                  <a:schemeClr val="hlink"/>
                </a:solidFill>
                <a:hlinkClick r:id="rId3"/>
              </a:rPr>
              <a:t>ostábla</a:t>
            </a:r>
            <a:r>
              <a:rPr lang="hu"/>
              <a:t> egy igen ősi játék, sokan a sakkdoboz belsejéből ismerik. A szabályok az előbb belinkelt oldalon megtalálhatóak, a lényeg az, hogy mennyit és hova léphet a soron következő játékos, az a kockákkal dobott eredmény alapján dől el. Tehát a véletlennek van szerepe a játékban, ám rejtett információ nincs, mind a figurák, mind a kockán szereplő számok ismertek mind a két játékos számára.</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20eee70724_0_1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20eee70724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Hasonlóképpen lehet játékfát építeni ebben az esetben is. A véletlenre viszont úgy kell gondolni mint egy új játékosra.</a:t>
            </a:r>
            <a:endParaRPr/>
          </a:p>
          <a:p>
            <a:pPr marL="0" lvl="0" indent="0" algn="l" rtl="0">
              <a:spcBef>
                <a:spcPts val="0"/>
              </a:spcBef>
              <a:spcAft>
                <a:spcPts val="0"/>
              </a:spcAft>
              <a:buNone/>
            </a:pPr>
            <a:endParaRPr/>
          </a:p>
          <a:p>
            <a:pPr marL="0" lvl="0" indent="0" algn="l" rtl="0">
              <a:spcBef>
                <a:spcPts val="0"/>
              </a:spcBef>
              <a:spcAft>
                <a:spcPts val="0"/>
              </a:spcAft>
              <a:buNone/>
            </a:pPr>
            <a:r>
              <a:rPr lang="hu"/>
              <a:t>Itt szerepel egy egyszerű játék. Az első játékos tesz egy lépést, amit egy pénzfeldobás követ, majd a másik játékos is lép. Hogyan válasszuk ki az első játékos számára a kezdő lépést? </a:t>
            </a:r>
            <a:endParaRPr/>
          </a:p>
          <a:p>
            <a:pPr marL="0" lvl="0" indent="0" algn="l" rtl="0">
              <a:spcBef>
                <a:spcPts val="0"/>
              </a:spcBef>
              <a:spcAft>
                <a:spcPts val="0"/>
              </a:spcAft>
              <a:buNone/>
            </a:pPr>
            <a:endParaRPr/>
          </a:p>
          <a:p>
            <a:pPr marL="0" lvl="0" indent="0" algn="l" rtl="0">
              <a:spcBef>
                <a:spcPts val="0"/>
              </a:spcBef>
              <a:spcAft>
                <a:spcPts val="0"/>
              </a:spcAft>
              <a:buNone/>
            </a:pPr>
            <a:r>
              <a:rPr lang="hu"/>
              <a:t>Azt nem biztosíthatjuk, hogy ha kétszer ugyanazt lépi a kezdő, a játék végeredménye ugyanaz lesz, mert a véletlen beleszólhat. Ezért ahogy a valószínűségszámításban, itt is a várható értéket kell használnunk.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20eee70724_0_1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20eee70724_0_1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A harmadik típusú csúcshoz harmadik függvény jár, az elérhető értékek (valószínűséggel) súlyozott értékét kell ekkor venni, egyébként ugyanaz, mint a hagyományos minimax.</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20eee70724_0_1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20eee70724_0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Az elmélet szép, hogyan néz ki ez a valós életben?</a:t>
            </a:r>
            <a:endParaRPr/>
          </a:p>
          <a:p>
            <a:pPr marL="0" lvl="0" indent="0" algn="l" rtl="0">
              <a:spcBef>
                <a:spcPts val="0"/>
              </a:spcBef>
              <a:spcAft>
                <a:spcPts val="0"/>
              </a:spcAft>
              <a:buNone/>
            </a:pPr>
            <a:endParaRPr/>
          </a:p>
          <a:p>
            <a:pPr marL="0" lvl="0" indent="0" algn="l" rtl="0">
              <a:spcBef>
                <a:spcPts val="0"/>
              </a:spcBef>
              <a:spcAft>
                <a:spcPts val="0"/>
              </a:spcAft>
              <a:buNone/>
            </a:pPr>
            <a:r>
              <a:rPr lang="hu"/>
              <a:t>Ebben a játékban nem az számít, hogy 7-et dobtunk, hanem az, hogy 2-t és 5-öt, vagy 3-at és 4-et, mert a dobásnak megfelelő lépéseket tehetünk. Így jön ki az, hogy 21 különféle kimenetre számíthatunk (36-15)</a:t>
            </a:r>
            <a:endParaRPr/>
          </a:p>
          <a:p>
            <a:pPr marL="0" lvl="0" indent="0" algn="l" rtl="0">
              <a:spcBef>
                <a:spcPts val="0"/>
              </a:spcBef>
              <a:spcAft>
                <a:spcPts val="0"/>
              </a:spcAft>
              <a:buNone/>
            </a:pPr>
            <a:r>
              <a:rPr lang="hu"/>
              <a:t>Az – hogy egy ilyen dobás után rendszerint 20 lépéslehetőségünk van – rendesen megnöveli a lehetséges kimenetek számát. Viszont ahogy lejjebb és lejjebb megyünk a fában az egyes kimenetelek valószínűsége egyre kisebb. Bármilyen kicsi a valószínűsége, mégis előfordulhat, tehát nem árt, ha számolunk vele. Emiatt túl nagy ritkítást nem tehetünk a dában. </a:t>
            </a:r>
            <a:endParaRPr/>
          </a:p>
          <a:p>
            <a:pPr marL="0" lvl="0" indent="0" algn="l" rtl="0">
              <a:spcBef>
                <a:spcPts val="0"/>
              </a:spcBef>
              <a:spcAft>
                <a:spcPts val="0"/>
              </a:spcAft>
              <a:buNone/>
            </a:pPr>
            <a:r>
              <a:rPr lang="hu"/>
              <a:t>Épp ezért a </a:t>
            </a:r>
            <a:r>
              <a:rPr lang="hu" u="sng">
                <a:solidFill>
                  <a:schemeClr val="hlink"/>
                </a:solidFill>
                <a:hlinkClick r:id="rId3"/>
              </a:rPr>
              <a:t>TD-Gammon</a:t>
            </a:r>
            <a:r>
              <a:rPr lang="hu"/>
              <a:t> nem arra törekedett, hogy minél nagyobb részét járja be a játékfának, hanem arra, hogy a kiértékelés a lehető legjobb legyen. Ezt nem jó backgammon játékosok tanácsait felhasználva, hanem önmaga ellen játszva – másfél millió játszma –, folyamatosan fejlődve érte el, és a mélyben egy neuronháló tanulta a játékot.</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20eee70724_0_1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 name="Google Shape;224;g20eee70724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Ha megnézzük az itt látható értékeléseket, a balra szereplő fánál az első játékos az első lépést választaná, míg a jobboldali fánál a másodikat. Emiatt a monoton transzformációk itt már nem használhatóak, csakis a lineárisak. Ehhez pedig a kiindulás a játék kifizetései jelenthetnek alapot.</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20eee70724_0_1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20eee70724_0_1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Soron következő kategória, amikor nem ismert minden részlete a játéknak, például nem ismerjük, hogy milyen lapjai vannak az ellenfélnek.</a:t>
            </a:r>
            <a:endParaRPr/>
          </a:p>
          <a:p>
            <a:pPr marL="0" lvl="0" indent="0" algn="l" rtl="0">
              <a:spcBef>
                <a:spcPts val="0"/>
              </a:spcBef>
              <a:spcAft>
                <a:spcPts val="0"/>
              </a:spcAft>
              <a:buNone/>
            </a:pPr>
            <a:endParaRPr/>
          </a:p>
          <a:p>
            <a:pPr marL="0" lvl="0" indent="0" algn="l" rtl="0">
              <a:spcBef>
                <a:spcPts val="0"/>
              </a:spcBef>
              <a:spcAft>
                <a:spcPts val="0"/>
              </a:spcAft>
              <a:buNone/>
            </a:pPr>
            <a:r>
              <a:rPr lang="hu"/>
              <a:t>Rendszerint itt elképesztően sok lehetőség van: milyen lapokat kaptunk mi, mit kapott az ellenfél, milyen sorrendben van a többi lap?</a:t>
            </a:r>
            <a:endParaRPr/>
          </a:p>
          <a:p>
            <a:pPr marL="0" lvl="0" indent="0" algn="l" rtl="0">
              <a:spcBef>
                <a:spcPts val="0"/>
              </a:spcBef>
              <a:spcAft>
                <a:spcPts val="0"/>
              </a:spcAft>
              <a:buNone/>
            </a:pPr>
            <a:endParaRPr/>
          </a:p>
          <a:p>
            <a:pPr marL="0" lvl="0" indent="0" algn="l" rtl="0">
              <a:spcBef>
                <a:spcPts val="0"/>
              </a:spcBef>
              <a:spcAft>
                <a:spcPts val="0"/>
              </a:spcAft>
              <a:buNone/>
            </a:pPr>
            <a:r>
              <a:rPr lang="hu"/>
              <a:t>Úgy kell döntenünk, hogy nem ismerjük az ellenfél lapjait, vagy a soron következő lapokat. Épp ezért ki kellene próbálni, hogy milyen hatása lehet az egyes lépéseinknek. Ha minden lehetséges esetet nem is tudunk figyelembe venni, egy véletlen mintával jól közelíthetjük. Teszteljük, hogy a minta egyes leosztásai esetén melyik lépés lesz a legjobb, és azt a lépést választjuk, amely a legjobban teljesít. Így működött az ezredfordulón a legjobb bridzsprogram is. Azóta ott is előtérbe került a gépi tanulás mint eszköz.</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20eee70724_0_1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 name="Google Shape;237;g20eee70724_0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Vegyünk egy egyszerű játékot, ahol felül láthatóak a Max lapjai, alul a Min lapjai. Mindketten négy lapot kapnak, ütni kötelező. Miután látják egymás összes lapját ha Max treff 8-cal kezd, akkor Min ezt a lapot üti. Majd ő hívja ki a pikk 2-t. Pikkje Max-nak nincs, ezért dobja a kőrt, mellyel Min-nek már lesz két ütése, de ezek után bármit tesz, Max erősebb lapokkal mind a két ütést viszi, tehát az állás döntetlen.</a:t>
            </a:r>
            <a:endParaRPr/>
          </a:p>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20eee70724_0_19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20eee70724_0_1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Ha Min-nek nem kőr 4-ese van, hanem káró 4-ese, akkor sincs lényeges különbség, csak ekkor a kőr 6-ot kell dobnia Max-nak, és az utolsó két ütés megint az övé.</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20eee70724_0_2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20eee70724_0_2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Viszont ha rejtve van az, hogy Min-nek milyen négyese van, a második ütésnél Max nem tudja, hogy jó lapot dobott, és kihozza döntetlenre a játékot, vagy rosszat, és elesik egy ütéstől.</a:t>
            </a:r>
            <a:endParaRPr/>
          </a:p>
          <a:p>
            <a:pPr marL="0" lvl="0" indent="0" algn="l" rtl="0">
              <a:spcBef>
                <a:spcPts val="0"/>
              </a:spcBef>
              <a:spcAft>
                <a:spcPts val="0"/>
              </a:spcAft>
              <a:buNone/>
            </a:pPr>
            <a:r>
              <a:rPr lang="hu"/>
              <a:t>Bármelyiket dobja el, így a várható eredmény -0.5 lesz. Tehát nem számolhatunk ekkor sima átlagokkal. A két nulla együtt nem adja ki a minusz felet.</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20eee70724_0_2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20eee70724_0_2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Az előző kártyás példa átfogalmazható egy másik esetre, ez van a fólián. Az első két nap racionális döntésnek tűnik a B választása, mert van annyi ismeretünk, hogy a halált elkerüljük.</a:t>
            </a:r>
            <a:endParaRPr/>
          </a:p>
          <a:p>
            <a:pPr marL="0" lvl="0" indent="0" algn="l" rtl="0">
              <a:spcBef>
                <a:spcPts val="0"/>
              </a:spcBef>
              <a:spcAft>
                <a:spcPts val="0"/>
              </a:spcAft>
              <a:buNone/>
            </a:pPr>
            <a:endParaRPr/>
          </a:p>
          <a:p>
            <a:pPr marL="0" lvl="0" indent="0" algn="l" rtl="0">
              <a:spcBef>
                <a:spcPts val="0"/>
              </a:spcBef>
              <a:spcAft>
                <a:spcPts val="0"/>
              </a:spcAft>
              <a:buNone/>
            </a:pPr>
            <a:r>
              <a:rPr lang="hu"/>
              <a:t>A harmadik nap hiába a korábbi döntések kombinációjának felel meg a B választás, az a plusz ismeretünk eltűnt, s lényegében a véletlenre vagyunk utalva.</a:t>
            </a:r>
            <a:endParaRPr/>
          </a:p>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20eee70724_0_2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20eee70724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Az előbbi feladatokban az átlagszámítás nem használható, hiába mondja azt az érzésünk.</a:t>
            </a:r>
            <a:endParaRPr/>
          </a:p>
          <a:p>
            <a:pPr marL="0" lvl="0" indent="0" algn="l" rtl="0">
              <a:spcBef>
                <a:spcPts val="0"/>
              </a:spcBef>
              <a:spcAft>
                <a:spcPts val="0"/>
              </a:spcAft>
              <a:buNone/>
            </a:pPr>
            <a:endParaRPr/>
          </a:p>
          <a:p>
            <a:pPr marL="0" lvl="0" indent="0" algn="l" rtl="0">
              <a:spcBef>
                <a:spcPts val="0"/>
              </a:spcBef>
              <a:spcAft>
                <a:spcPts val="0"/>
              </a:spcAft>
              <a:buNone/>
            </a:pPr>
            <a:r>
              <a:rPr lang="hu"/>
              <a:t>Az a fontos, hogy a játékos adott állapotban milyen információval, és milyen hiedelemmel bír. Ezek után ezekkel kell számolni, ebből kell játékfát építeni.</a:t>
            </a:r>
            <a:endParaRPr/>
          </a:p>
          <a:p>
            <a:pPr marL="0" lvl="0" indent="0" algn="l" rtl="0">
              <a:spcBef>
                <a:spcPts val="0"/>
              </a:spcBef>
              <a:spcAft>
                <a:spcPts val="0"/>
              </a:spcAft>
              <a:buNone/>
            </a:pPr>
            <a:endParaRPr/>
          </a:p>
          <a:p>
            <a:pPr marL="0" lvl="0" indent="0" algn="l" rtl="0">
              <a:spcBef>
                <a:spcPts val="0"/>
              </a:spcBef>
              <a:spcAft>
                <a:spcPts val="0"/>
              </a:spcAft>
              <a:buNone/>
            </a:pPr>
            <a:r>
              <a:rPr lang="hu"/>
              <a:t>Természetesen célunk, hogy minél több információt szerezzünk meg (a szabályoknak megfelelő, vagy attól eltérő módon), illetve gyakran úgy teszünk, hogy összezavarjuk az ellenfelet (pl. blöff)</a:t>
            </a:r>
            <a:endParaRPr/>
          </a:p>
          <a:p>
            <a:pPr marL="0" lvl="0" indent="0" algn="l" rtl="0">
              <a:spcBef>
                <a:spcPts val="0"/>
              </a:spcBef>
              <a:spcAft>
                <a:spcPts val="0"/>
              </a:spcAft>
              <a:buNone/>
            </a:pPr>
            <a:endParaRPr/>
          </a:p>
          <a:p>
            <a:pPr marL="0" lvl="0" indent="0" algn="l" rtl="0">
              <a:spcBef>
                <a:spcPts val="0"/>
              </a:spcBef>
              <a:spcAft>
                <a:spcPts val="0"/>
              </a:spcAft>
              <a:buNone/>
            </a:pPr>
            <a:r>
              <a:rPr lang="hu"/>
              <a:t>Fura módon napjaink mélytanuló játékosai ezt is eltanulták tőlünk, és szemtelenül tudnak blöffölni!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20eee70724_0_2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20eee70724_0_2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Általában mindenki szereti a játékokat, így a szakdolgozatok jelentős része különféle játékokhoz kapcsolódik.</a:t>
            </a:r>
            <a:endParaRPr/>
          </a:p>
          <a:p>
            <a:pPr marL="0" lvl="0" indent="0" algn="l" rtl="0">
              <a:spcBef>
                <a:spcPts val="0"/>
              </a:spcBef>
              <a:spcAft>
                <a:spcPts val="0"/>
              </a:spcAft>
              <a:buNone/>
            </a:pPr>
            <a:endParaRPr/>
          </a:p>
          <a:p>
            <a:pPr marL="0" lvl="0" indent="0" algn="l" rtl="0">
              <a:spcBef>
                <a:spcPts val="0"/>
              </a:spcBef>
              <a:spcAft>
                <a:spcPts val="0"/>
              </a:spcAft>
              <a:buNone/>
            </a:pPr>
            <a:r>
              <a:rPr lang="hu"/>
              <a:t>Amit eltűrünk egy ügyviteli szoftvernek, egy játéknál nem toleráljuk, gyors reagálást várunk el. Emiatt a gépi ellenfél nem tud tökéletesen játszani, de ezt a lehetőségekhez mérten meg kell közelíteni. A keresés felgyorsítására több lehetőséget is láttunk, valószínűleg az a leghatékonyabb, ha nem számolunk feleslegesen. Erre az alfa-béta egy szép példa.</a:t>
            </a:r>
            <a:endParaRPr/>
          </a:p>
          <a:p>
            <a:pPr marL="0" lvl="0" indent="0" algn="l" rtl="0">
              <a:spcBef>
                <a:spcPts val="0"/>
              </a:spcBef>
              <a:spcAft>
                <a:spcPts val="0"/>
              </a:spcAft>
              <a:buNone/>
            </a:pPr>
            <a:endParaRPr/>
          </a:p>
          <a:p>
            <a:pPr marL="0" lvl="0" indent="0" algn="l" rtl="0">
              <a:spcBef>
                <a:spcPts val="0"/>
              </a:spcBef>
              <a:spcAft>
                <a:spcPts val="0"/>
              </a:spcAft>
              <a:buNone/>
            </a:pPr>
            <a:r>
              <a:rPr lang="hu"/>
              <a:t>A bizonytalansággal is meggyűlhet a bajunk, minél távolabb jutunk a valószínűségek egyre kisebbek lesznek. </a:t>
            </a:r>
            <a:endParaRPr/>
          </a:p>
          <a:p>
            <a:pPr marL="0" lvl="0" indent="0" algn="l" rtl="0">
              <a:spcBef>
                <a:spcPts val="0"/>
              </a:spcBef>
              <a:spcAft>
                <a:spcPts val="0"/>
              </a:spcAft>
              <a:buNone/>
            </a:pPr>
            <a:endParaRPr/>
          </a:p>
          <a:p>
            <a:pPr marL="0" lvl="0" indent="0" algn="l" rtl="0">
              <a:spcBef>
                <a:spcPts val="0"/>
              </a:spcBef>
              <a:spcAft>
                <a:spcPts val="0"/>
              </a:spcAft>
              <a:buNone/>
            </a:pPr>
            <a:r>
              <a:rPr lang="hu"/>
              <a:t>Az ismerethiány miatt a hiedelmekkel kell dolgoznunk a valós adatok helyett/hiányában, erre tudjuk a döntésünket alapozni.</a:t>
            </a:r>
            <a:endParaRPr/>
          </a:p>
          <a:p>
            <a:pPr marL="0" lvl="0" indent="0" algn="l" rtl="0">
              <a:spcBef>
                <a:spcPts val="0"/>
              </a:spcBef>
              <a:spcAft>
                <a:spcPts val="0"/>
              </a:spcAft>
              <a:buNone/>
            </a:pPr>
            <a:endParaRPr/>
          </a:p>
          <a:p>
            <a:pPr marL="0" lvl="0" indent="0" algn="l" rtl="0">
              <a:spcBef>
                <a:spcPts val="0"/>
              </a:spcBef>
              <a:spcAft>
                <a:spcPts val="0"/>
              </a:spcAft>
              <a:buNone/>
            </a:pPr>
            <a:r>
              <a:rPr lang="hu"/>
              <a:t>A sok játékos, az egymással összemérhető programok miatt ez egy felkapott terület, a mesterséges intelligencia egyik legjobban fejlődő területe. Nem csoda, hogy itt szokás kipróbálni mindent, ami majd később az MI más területén is megjelenik, ha már egyszer jól teljesített.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FF0000"/>
              </a:buClr>
              <a:buSzPts val="5200"/>
              <a:buNone/>
              <a:defRPr sz="5200">
                <a:solidFill>
                  <a:srgbClr val="FF0000"/>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h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h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Clr>
                <a:srgbClr val="FF0000"/>
              </a:buClr>
              <a:buSzPts val="2800"/>
              <a:buNone/>
              <a:defRPr>
                <a:solidFill>
                  <a:srgbClr val="FF000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h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h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h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h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h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h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h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h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h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hu"/>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3"/>
            <a:ext cx="85206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hu"/>
              <a:t>A mesterséges intelligencia alapjai</a:t>
            </a:r>
            <a:endParaRPr/>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hu"/>
              <a:t>kétszemélyes játékok</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Áttekintés</a:t>
            </a:r>
            <a:endParaRPr/>
          </a:p>
        </p:txBody>
      </p:sp>
      <p:sp>
        <p:nvSpPr>
          <p:cNvPr id="61" name="Google Shape;61;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Char char="●"/>
            </a:pPr>
            <a:r>
              <a:rPr lang="hu">
                <a:solidFill>
                  <a:schemeClr val="dk1"/>
                </a:solidFill>
              </a:rPr>
              <a:t>játékok</a:t>
            </a:r>
            <a:endParaRPr>
              <a:solidFill>
                <a:schemeClr val="dk1"/>
              </a:solidFill>
            </a:endParaRPr>
          </a:p>
          <a:p>
            <a:pPr marL="457200" lvl="0" indent="-342900" algn="l" rtl="0">
              <a:spcBef>
                <a:spcPts val="0"/>
              </a:spcBef>
              <a:spcAft>
                <a:spcPts val="0"/>
              </a:spcAft>
              <a:buClr>
                <a:schemeClr val="dk1"/>
              </a:buClr>
              <a:buSzPts val="1800"/>
              <a:buChar char="●"/>
            </a:pPr>
            <a:r>
              <a:rPr lang="hu">
                <a:solidFill>
                  <a:schemeClr val="dk1"/>
                </a:solidFill>
              </a:rPr>
              <a:t>tökéletes játszás</a:t>
            </a:r>
            <a:endParaRPr>
              <a:solidFill>
                <a:schemeClr val="dk1"/>
              </a:solidFill>
            </a:endParaRPr>
          </a:p>
          <a:p>
            <a:pPr marL="914400" lvl="1" indent="-317500" algn="l" rtl="0">
              <a:spcBef>
                <a:spcPts val="0"/>
              </a:spcBef>
              <a:spcAft>
                <a:spcPts val="0"/>
              </a:spcAft>
              <a:buClr>
                <a:schemeClr val="dk1"/>
              </a:buClr>
              <a:buSzPts val="1400"/>
              <a:buChar char="○"/>
            </a:pPr>
            <a:r>
              <a:rPr lang="hu">
                <a:solidFill>
                  <a:schemeClr val="dk1"/>
                </a:solidFill>
              </a:rPr>
              <a:t>minimax döntés</a:t>
            </a:r>
            <a:endParaRPr>
              <a:solidFill>
                <a:schemeClr val="dk1"/>
              </a:solidFill>
            </a:endParaRPr>
          </a:p>
          <a:p>
            <a:pPr marL="914400" lvl="1" indent="-317500" algn="l" rtl="0">
              <a:spcBef>
                <a:spcPts val="0"/>
              </a:spcBef>
              <a:spcAft>
                <a:spcPts val="0"/>
              </a:spcAft>
              <a:buClr>
                <a:schemeClr val="dk1"/>
              </a:buClr>
              <a:buSzPts val="1400"/>
              <a:buChar char="○"/>
            </a:pPr>
            <a:r>
              <a:rPr lang="hu">
                <a:solidFill>
                  <a:schemeClr val="dk1"/>
                </a:solidFill>
              </a:rPr>
              <a:t>alfa-béta nyesés</a:t>
            </a:r>
            <a:endParaRPr>
              <a:solidFill>
                <a:schemeClr val="dk1"/>
              </a:solidFill>
            </a:endParaRPr>
          </a:p>
          <a:p>
            <a:pPr marL="457200" lvl="0" indent="-342900" algn="l" rtl="0">
              <a:spcBef>
                <a:spcPts val="0"/>
              </a:spcBef>
              <a:spcAft>
                <a:spcPts val="0"/>
              </a:spcAft>
              <a:buClr>
                <a:schemeClr val="dk1"/>
              </a:buClr>
              <a:buSzPts val="1800"/>
              <a:buChar char="●"/>
            </a:pPr>
            <a:r>
              <a:rPr lang="hu">
                <a:solidFill>
                  <a:schemeClr val="dk1"/>
                </a:solidFill>
              </a:rPr>
              <a:t>korlátozott erőforrások és közelítő értékelés</a:t>
            </a:r>
            <a:endParaRPr>
              <a:solidFill>
                <a:schemeClr val="dk1"/>
              </a:solidFill>
            </a:endParaRPr>
          </a:p>
          <a:p>
            <a:pPr marL="457200" lvl="0" indent="-342900" algn="l" rtl="0">
              <a:spcBef>
                <a:spcPts val="0"/>
              </a:spcBef>
              <a:spcAft>
                <a:spcPts val="0"/>
              </a:spcAft>
              <a:buClr>
                <a:schemeClr val="dk1"/>
              </a:buClr>
              <a:buSzPts val="1800"/>
              <a:buChar char="●"/>
            </a:pPr>
            <a:r>
              <a:rPr lang="hu">
                <a:solidFill>
                  <a:schemeClr val="dk1"/>
                </a:solidFill>
              </a:rPr>
              <a:t>véletlent tartalmazó játékok</a:t>
            </a:r>
            <a:endParaRPr>
              <a:solidFill>
                <a:schemeClr val="dk1"/>
              </a:solidFill>
            </a:endParaRPr>
          </a:p>
          <a:p>
            <a:pPr marL="457200" lvl="0" indent="-342900" algn="l" rtl="0">
              <a:spcBef>
                <a:spcPts val="0"/>
              </a:spcBef>
              <a:spcAft>
                <a:spcPts val="0"/>
              </a:spcAft>
              <a:buClr>
                <a:schemeClr val="dk1"/>
              </a:buClr>
              <a:buSzPts val="1800"/>
              <a:buChar char="●"/>
            </a:pPr>
            <a:r>
              <a:rPr lang="hu">
                <a:solidFill>
                  <a:schemeClr val="dk1"/>
                </a:solidFill>
              </a:rPr>
              <a:t>hiányos információjú játékok</a:t>
            </a: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Játékok </a:t>
            </a:r>
            <a:r>
              <a:rPr lang="hu" sz="1800"/>
              <a:t>kontra</a:t>
            </a:r>
            <a:r>
              <a:rPr lang="hu"/>
              <a:t> keresési problémák</a:t>
            </a:r>
            <a:endParaRPr/>
          </a:p>
        </p:txBody>
      </p:sp>
      <p:sp>
        <p:nvSpPr>
          <p:cNvPr id="67" name="Google Shape;67;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Char char="●"/>
            </a:pPr>
            <a:r>
              <a:rPr lang="hu">
                <a:solidFill>
                  <a:schemeClr val="dk1"/>
                </a:solidFill>
              </a:rPr>
              <a:t>„kiismerhetetlen” ellenfél ⇒ a megoldás egy </a:t>
            </a:r>
            <a:r>
              <a:rPr lang="hu" b="1">
                <a:solidFill>
                  <a:schemeClr val="dk1"/>
                </a:solidFill>
              </a:rPr>
              <a:t>stratégia</a:t>
            </a:r>
            <a:endParaRPr b="1">
              <a:solidFill>
                <a:schemeClr val="dk1"/>
              </a:solidFill>
            </a:endParaRPr>
          </a:p>
          <a:p>
            <a:pPr marL="914400" lvl="1" indent="-317500" algn="l" rtl="0">
              <a:spcBef>
                <a:spcPts val="0"/>
              </a:spcBef>
              <a:spcAft>
                <a:spcPts val="0"/>
              </a:spcAft>
              <a:buClr>
                <a:schemeClr val="dk1"/>
              </a:buClr>
              <a:buSzPts val="1400"/>
              <a:buChar char="○"/>
            </a:pPr>
            <a:r>
              <a:rPr lang="hu">
                <a:solidFill>
                  <a:schemeClr val="dk1"/>
                </a:solidFill>
              </a:rPr>
              <a:t>meg kell határozni a válaszlépést az ellenfél minden lehetséges lépésére	</a:t>
            </a:r>
            <a:endParaRPr>
              <a:solidFill>
                <a:schemeClr val="dk1"/>
              </a:solidFill>
            </a:endParaRPr>
          </a:p>
          <a:p>
            <a:pPr marL="457200" lvl="0" indent="-342900" algn="l" rtl="0">
              <a:spcBef>
                <a:spcPts val="0"/>
              </a:spcBef>
              <a:spcAft>
                <a:spcPts val="0"/>
              </a:spcAft>
              <a:buClr>
                <a:schemeClr val="dk1"/>
              </a:buClr>
              <a:buSzPts val="1800"/>
              <a:buChar char="●"/>
            </a:pPr>
            <a:r>
              <a:rPr lang="hu">
                <a:solidFill>
                  <a:schemeClr val="dk1"/>
                </a:solidFill>
              </a:rPr>
              <a:t>időkorlát ⇒ a célkereséstől eltérően közelítő megoldásra van szükség</a:t>
            </a:r>
            <a:endParaRPr>
              <a:solidFill>
                <a:schemeClr val="dk1"/>
              </a:solidFill>
            </a:endParaRPr>
          </a:p>
          <a:p>
            <a:pPr marL="457200" lvl="0" indent="-342900" algn="l" rtl="0">
              <a:spcBef>
                <a:spcPts val="0"/>
              </a:spcBef>
              <a:spcAft>
                <a:spcPts val="0"/>
              </a:spcAft>
              <a:buClr>
                <a:schemeClr val="dk1"/>
              </a:buClr>
              <a:buSzPts val="1800"/>
              <a:buChar char="●"/>
            </a:pPr>
            <a:r>
              <a:rPr lang="hu">
                <a:solidFill>
                  <a:schemeClr val="dk1"/>
                </a:solidFill>
              </a:rPr>
              <a:t>a támadás terve</a:t>
            </a:r>
            <a:endParaRPr>
              <a:solidFill>
                <a:schemeClr val="dk1"/>
              </a:solidFill>
            </a:endParaRPr>
          </a:p>
          <a:p>
            <a:pPr marL="914400" lvl="1" indent="-317500" algn="l" rtl="0">
              <a:spcBef>
                <a:spcPts val="0"/>
              </a:spcBef>
              <a:spcAft>
                <a:spcPts val="0"/>
              </a:spcAft>
              <a:buClr>
                <a:schemeClr val="dk1"/>
              </a:buClr>
              <a:buSzPts val="1400"/>
              <a:buChar char="○"/>
            </a:pPr>
            <a:r>
              <a:rPr lang="hu">
                <a:solidFill>
                  <a:schemeClr val="dk1"/>
                </a:solidFill>
              </a:rPr>
              <a:t>a gép figyelembe veszi a lehetséges játékmeneteket (Babbage, 1846)</a:t>
            </a:r>
            <a:endParaRPr>
              <a:solidFill>
                <a:schemeClr val="dk1"/>
              </a:solidFill>
            </a:endParaRPr>
          </a:p>
          <a:p>
            <a:pPr marL="914400" lvl="1" indent="-317500" algn="l" rtl="0">
              <a:spcBef>
                <a:spcPts val="0"/>
              </a:spcBef>
              <a:spcAft>
                <a:spcPts val="0"/>
              </a:spcAft>
              <a:buClr>
                <a:schemeClr val="dk1"/>
              </a:buClr>
              <a:buSzPts val="1400"/>
              <a:buChar char="○"/>
            </a:pPr>
            <a:r>
              <a:rPr lang="hu">
                <a:solidFill>
                  <a:schemeClr val="dk1"/>
                </a:solidFill>
              </a:rPr>
              <a:t>algoritmus a tökéletes játszásra (Zermelo 1912, Neumann J. 1944)</a:t>
            </a:r>
            <a:endParaRPr>
              <a:solidFill>
                <a:schemeClr val="dk1"/>
              </a:solidFill>
            </a:endParaRPr>
          </a:p>
          <a:p>
            <a:pPr marL="914400" lvl="1" indent="-317500" algn="l" rtl="0">
              <a:spcBef>
                <a:spcPts val="0"/>
              </a:spcBef>
              <a:spcAft>
                <a:spcPts val="0"/>
              </a:spcAft>
              <a:buClr>
                <a:schemeClr val="dk1"/>
              </a:buClr>
              <a:buSzPts val="1400"/>
              <a:buChar char="○"/>
            </a:pPr>
            <a:r>
              <a:rPr lang="hu">
                <a:solidFill>
                  <a:schemeClr val="dk1"/>
                </a:solidFill>
              </a:rPr>
              <a:t>véges horizont, közelítő kiértékelés (Zuse 1945, Wiener 1948, Shannon 1950)</a:t>
            </a:r>
            <a:endParaRPr>
              <a:solidFill>
                <a:schemeClr val="dk1"/>
              </a:solidFill>
            </a:endParaRPr>
          </a:p>
          <a:p>
            <a:pPr marL="914400" lvl="1" indent="-317500" algn="l" rtl="0">
              <a:spcBef>
                <a:spcPts val="0"/>
              </a:spcBef>
              <a:spcAft>
                <a:spcPts val="0"/>
              </a:spcAft>
              <a:buClr>
                <a:schemeClr val="dk1"/>
              </a:buClr>
              <a:buSzPts val="1400"/>
              <a:buChar char="○"/>
            </a:pPr>
            <a:r>
              <a:rPr lang="hu">
                <a:solidFill>
                  <a:schemeClr val="dk1"/>
                </a:solidFill>
              </a:rPr>
              <a:t>első sakkprogram (Turing 1951)</a:t>
            </a:r>
            <a:endParaRPr>
              <a:solidFill>
                <a:schemeClr val="dk1"/>
              </a:solidFill>
            </a:endParaRPr>
          </a:p>
          <a:p>
            <a:pPr marL="914400" lvl="1" indent="-317500" algn="l" rtl="0">
              <a:spcBef>
                <a:spcPts val="0"/>
              </a:spcBef>
              <a:spcAft>
                <a:spcPts val="0"/>
              </a:spcAft>
              <a:buClr>
                <a:schemeClr val="dk1"/>
              </a:buClr>
              <a:buSzPts val="1400"/>
              <a:buChar char="○"/>
            </a:pPr>
            <a:r>
              <a:rPr lang="hu">
                <a:solidFill>
                  <a:schemeClr val="dk1"/>
                </a:solidFill>
              </a:rPr>
              <a:t>gépi tanulás a kiértékelés pontosságának növelésére (Samuel 1952-57)</a:t>
            </a:r>
            <a:endParaRPr>
              <a:solidFill>
                <a:schemeClr val="dk1"/>
              </a:solidFill>
            </a:endParaRPr>
          </a:p>
          <a:p>
            <a:pPr marL="914400" lvl="1" indent="-317500" algn="l" rtl="0">
              <a:spcBef>
                <a:spcPts val="0"/>
              </a:spcBef>
              <a:spcAft>
                <a:spcPts val="0"/>
              </a:spcAft>
              <a:buClr>
                <a:schemeClr val="dk1"/>
              </a:buClr>
              <a:buSzPts val="1400"/>
              <a:buChar char="○"/>
            </a:pPr>
            <a:r>
              <a:rPr lang="hu">
                <a:solidFill>
                  <a:schemeClr val="dk1"/>
                </a:solidFill>
              </a:rPr>
              <a:t>nyesés a mélyebb keresés érdekében (McCarthy 1956)</a:t>
            </a:r>
            <a:endParaRPr>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7">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Játékok típusai</a:t>
            </a:r>
            <a:endParaRPr/>
          </a:p>
        </p:txBody>
      </p:sp>
      <p:graphicFrame>
        <p:nvGraphicFramePr>
          <p:cNvPr id="73" name="Google Shape;73;p16"/>
          <p:cNvGraphicFramePr/>
          <p:nvPr/>
        </p:nvGraphicFramePr>
        <p:xfrm>
          <a:off x="994725" y="1745025"/>
          <a:ext cx="7239000" cy="1645830"/>
        </p:xfrm>
        <a:graphic>
          <a:graphicData uri="http://schemas.openxmlformats.org/drawingml/2006/table">
            <a:tbl>
              <a:tblPr>
                <a:noFill/>
                <a:tableStyleId>{84EC99AB-0E06-457E-900F-12EDA47CDF4A}</a:tableStyleId>
              </a:tblPr>
              <a:tblGrid>
                <a:gridCol w="2134300">
                  <a:extLst>
                    <a:ext uri="{9D8B030D-6E8A-4147-A177-3AD203B41FA5}">
                      <a16:colId xmlns:a16="http://schemas.microsoft.com/office/drawing/2014/main" val="20000"/>
                    </a:ext>
                  </a:extLst>
                </a:gridCol>
                <a:gridCol w="2691700">
                  <a:extLst>
                    <a:ext uri="{9D8B030D-6E8A-4147-A177-3AD203B41FA5}">
                      <a16:colId xmlns:a16="http://schemas.microsoft.com/office/drawing/2014/main" val="20001"/>
                    </a:ext>
                  </a:extLst>
                </a:gridCol>
                <a:gridCol w="2413000">
                  <a:extLst>
                    <a:ext uri="{9D8B030D-6E8A-4147-A177-3AD203B41FA5}">
                      <a16:colId xmlns:a16="http://schemas.microsoft.com/office/drawing/2014/main" val="20002"/>
                    </a:ext>
                  </a:extLst>
                </a:gridCol>
              </a:tblGrid>
              <a:tr h="381000">
                <a:tc>
                  <a:txBody>
                    <a:bodyPr/>
                    <a:lstStyle/>
                    <a:p>
                      <a:pPr marL="0" lvl="0" indent="0" algn="l" rtl="0">
                        <a:spcBef>
                          <a:spcPts val="0"/>
                        </a:spcBef>
                        <a:spcAft>
                          <a:spcPts val="0"/>
                        </a:spcAft>
                        <a:buNone/>
                      </a:pPr>
                      <a:endParaRPr sz="1800">
                        <a:solidFill>
                          <a:schemeClr val="dk1"/>
                        </a:solidFil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hu" sz="1800">
                          <a:solidFill>
                            <a:schemeClr val="dk1"/>
                          </a:solidFill>
                        </a:rPr>
                        <a:t>determinisztikus</a:t>
                      </a:r>
                      <a:endParaRPr sz="1800">
                        <a:solidFill>
                          <a:schemeClr val="dk1"/>
                        </a:solidFil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tcPr>
                </a:tc>
                <a:tc>
                  <a:txBody>
                    <a:bodyPr/>
                    <a:lstStyle/>
                    <a:p>
                      <a:pPr marL="0" lvl="0" indent="0" algn="ctr" rtl="0">
                        <a:spcBef>
                          <a:spcPts val="0"/>
                        </a:spcBef>
                        <a:spcAft>
                          <a:spcPts val="0"/>
                        </a:spcAft>
                        <a:buNone/>
                      </a:pPr>
                      <a:r>
                        <a:rPr lang="hu" sz="1800">
                          <a:solidFill>
                            <a:schemeClr val="dk1"/>
                          </a:solidFill>
                        </a:rPr>
                        <a:t>nemdeterminisztikus</a:t>
                      </a:r>
                      <a:endParaRPr sz="1800">
                        <a:solidFill>
                          <a:schemeClr val="dk1"/>
                        </a:solidFil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tcPr>
                </a:tc>
                <a:extLst>
                  <a:ext uri="{0D108BD9-81ED-4DB2-BD59-A6C34878D82A}">
                    <a16:rowId xmlns:a16="http://schemas.microsoft.com/office/drawing/2014/main" val="10000"/>
                  </a:ext>
                </a:extLst>
              </a:tr>
              <a:tr h="381000">
                <a:tc>
                  <a:txBody>
                    <a:bodyPr/>
                    <a:lstStyle/>
                    <a:p>
                      <a:pPr marL="0" lvl="0" indent="0" algn="r" rtl="0">
                        <a:spcBef>
                          <a:spcPts val="0"/>
                        </a:spcBef>
                        <a:spcAft>
                          <a:spcPts val="0"/>
                        </a:spcAft>
                        <a:buNone/>
                      </a:pPr>
                      <a:r>
                        <a:rPr lang="hu" sz="1800">
                          <a:solidFill>
                            <a:schemeClr val="dk1"/>
                          </a:solidFill>
                        </a:rPr>
                        <a:t>teljes információjú</a:t>
                      </a:r>
                      <a:endParaRPr sz="1800">
                        <a:solidFill>
                          <a:schemeClr val="dk1"/>
                        </a:solidFill>
                      </a:endParaRPr>
                    </a:p>
                  </a:txBody>
                  <a:tcPr marL="91425" marR="91425" marT="91425" marB="91425">
                    <a:lnL w="9525" cap="flat" cmpd="sng">
                      <a:solidFill>
                        <a:srgbClr val="9E9E9E">
                          <a:alpha val="0"/>
                        </a:srgbClr>
                      </a:solidFill>
                      <a:prstDash val="solid"/>
                      <a:round/>
                      <a:headEnd type="none" w="sm" len="sm"/>
                      <a:tailEnd type="none" w="sm" len="sm"/>
                    </a:lnL>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hu" sz="1800">
                          <a:solidFill>
                            <a:schemeClr val="dk1"/>
                          </a:solidFill>
                        </a:rPr>
                        <a:t>sakk, dáma, go, othello</a:t>
                      </a:r>
                      <a:endParaRPr sz="1800">
                        <a:solidFill>
                          <a:schemeClr val="dk1"/>
                        </a:solidFill>
                      </a:endParaRPr>
                    </a:p>
                  </a:txBody>
                  <a:tcPr marL="91425" marR="91425" marT="91425" marB="91425"/>
                </a:tc>
                <a:tc>
                  <a:txBody>
                    <a:bodyPr/>
                    <a:lstStyle/>
                    <a:p>
                      <a:pPr marL="0" lvl="0" indent="0" algn="l" rtl="0">
                        <a:spcBef>
                          <a:spcPts val="0"/>
                        </a:spcBef>
                        <a:spcAft>
                          <a:spcPts val="0"/>
                        </a:spcAft>
                        <a:buNone/>
                      </a:pPr>
                      <a:r>
                        <a:rPr lang="hu" sz="1800">
                          <a:solidFill>
                            <a:schemeClr val="dk1"/>
                          </a:solidFill>
                        </a:rPr>
                        <a:t>ostábla, monopoly</a:t>
                      </a:r>
                      <a:endParaRPr sz="1800">
                        <a:solidFill>
                          <a:schemeClr val="dk1"/>
                        </a:solidFill>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r" rtl="0">
                        <a:spcBef>
                          <a:spcPts val="0"/>
                        </a:spcBef>
                        <a:spcAft>
                          <a:spcPts val="0"/>
                        </a:spcAft>
                        <a:buNone/>
                      </a:pPr>
                      <a:r>
                        <a:rPr lang="hu" sz="1800">
                          <a:solidFill>
                            <a:schemeClr val="dk1"/>
                          </a:solidFill>
                        </a:rPr>
                        <a:t>nem teljes információjú</a:t>
                      </a:r>
                      <a:endParaRPr sz="1800">
                        <a:solidFill>
                          <a:schemeClr val="dk1"/>
                        </a:solidFill>
                      </a:endParaRPr>
                    </a:p>
                  </a:txBody>
                  <a:tcPr marL="91425" marR="91425" marT="91425" marB="91425">
                    <a:lnL w="9525" cap="flat" cmpd="sng">
                      <a:solidFill>
                        <a:srgbClr val="9E9E9E">
                          <a:alpha val="0"/>
                        </a:srgbClr>
                      </a:solidFill>
                      <a:prstDash val="solid"/>
                      <a:round/>
                      <a:headEnd type="none" w="sm" len="sm"/>
                      <a:tailEnd type="none" w="sm" len="sm"/>
                    </a:lnL>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hu" sz="1800">
                          <a:solidFill>
                            <a:schemeClr val="dk1"/>
                          </a:solidFill>
                        </a:rPr>
                        <a:t>torpedó, vak amőba</a:t>
                      </a:r>
                      <a:endParaRPr sz="1800">
                        <a:solidFill>
                          <a:schemeClr val="dk1"/>
                        </a:solidFill>
                      </a:endParaRPr>
                    </a:p>
                  </a:txBody>
                  <a:tcPr marL="91425" marR="91425" marT="91425" marB="91425"/>
                </a:tc>
                <a:tc>
                  <a:txBody>
                    <a:bodyPr/>
                    <a:lstStyle/>
                    <a:p>
                      <a:pPr marL="0" lvl="0" indent="0" algn="l" rtl="0">
                        <a:spcBef>
                          <a:spcPts val="0"/>
                        </a:spcBef>
                        <a:spcAft>
                          <a:spcPts val="0"/>
                        </a:spcAft>
                        <a:buNone/>
                      </a:pPr>
                      <a:r>
                        <a:rPr lang="hu" sz="1800">
                          <a:solidFill>
                            <a:schemeClr val="dk1"/>
                          </a:solidFill>
                        </a:rPr>
                        <a:t>bridzs, póker, scrabble</a:t>
                      </a:r>
                      <a:endParaRPr sz="1800">
                        <a:solidFill>
                          <a:schemeClr val="dk1"/>
                        </a:solidFill>
                      </a:endParaRPr>
                    </a:p>
                  </a:txBody>
                  <a:tcPr marL="91425" marR="91425" marT="91425" marB="91425"/>
                </a:tc>
                <a:extLst>
                  <a:ext uri="{0D108BD9-81ED-4DB2-BD59-A6C34878D82A}">
                    <a16:rowId xmlns:a16="http://schemas.microsoft.com/office/drawing/2014/main" val="10002"/>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Grundy játék</a:t>
            </a:r>
            <a:endParaRPr/>
          </a:p>
        </p:txBody>
      </p:sp>
      <p:sp>
        <p:nvSpPr>
          <p:cNvPr id="79" name="Google Shape;79;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hu"/>
              <a:t>A Grundy játékban kezdetben van egy pénzoszlopunk.</a:t>
            </a:r>
            <a:endParaRPr/>
          </a:p>
          <a:p>
            <a:pPr marL="457200" lvl="0" indent="-342900" algn="l" rtl="0">
              <a:spcBef>
                <a:spcPts val="0"/>
              </a:spcBef>
              <a:spcAft>
                <a:spcPts val="0"/>
              </a:spcAft>
              <a:buSzPts val="1800"/>
              <a:buChar char="●"/>
            </a:pPr>
            <a:r>
              <a:rPr lang="hu"/>
              <a:t>A soron következő játékos kiválaszt egy oszlopot és két (különböző méretű) részre osztja. </a:t>
            </a:r>
            <a:endParaRPr/>
          </a:p>
          <a:p>
            <a:pPr marL="457200" lvl="0" indent="-342900" algn="l" rtl="0">
              <a:spcBef>
                <a:spcPts val="0"/>
              </a:spcBef>
              <a:spcAft>
                <a:spcPts val="0"/>
              </a:spcAft>
              <a:buSzPts val="1800"/>
              <a:buChar char="●"/>
            </a:pPr>
            <a:r>
              <a:rPr lang="hu"/>
              <a:t>Ha ezt nem teheti meg – mert minden oszlop 1 vagy 2 magas – a játékos vesztett.</a:t>
            </a:r>
            <a:endParaRPr/>
          </a:p>
          <a:p>
            <a:pPr marL="0" lvl="0" indent="0" algn="l" rtl="0">
              <a:spcBef>
                <a:spcPts val="1600"/>
              </a:spcBef>
              <a:spcAft>
                <a:spcPts val="0"/>
              </a:spcAft>
              <a:buNone/>
            </a:pPr>
            <a:r>
              <a:rPr lang="hu"/>
              <a:t>Kezdjünk egy 6 méretű oszloppal! Hogyan kell lépni, ha győzni akar?</a:t>
            </a:r>
            <a:endParaRPr/>
          </a:p>
          <a:p>
            <a:pPr marL="457200" lvl="0" indent="-342900" algn="l" rtl="0">
              <a:spcBef>
                <a:spcPts val="1600"/>
              </a:spcBef>
              <a:spcAft>
                <a:spcPts val="0"/>
              </a:spcAft>
              <a:buSzPts val="1800"/>
              <a:buChar char="●"/>
            </a:pPr>
            <a:r>
              <a:rPr lang="hu"/>
              <a:t>A 6 méretű oszlop a következőképpen osztható fel: 5-1, 4-2, </a:t>
            </a:r>
            <a:r>
              <a:rPr lang="hu" strike="sngStrike"/>
              <a:t>3-3</a:t>
            </a:r>
            <a:r>
              <a:rPr lang="hu"/>
              <a:t>, 2-4, 1-5</a:t>
            </a:r>
            <a:endParaRPr/>
          </a:p>
          <a:p>
            <a:pPr marL="457200" lvl="0" indent="-342900" algn="l" rtl="0">
              <a:spcBef>
                <a:spcPts val="0"/>
              </a:spcBef>
              <a:spcAft>
                <a:spcPts val="0"/>
              </a:spcAft>
              <a:buSzPts val="1800"/>
              <a:buChar char="●"/>
            </a:pPr>
            <a:r>
              <a:rPr lang="hu"/>
              <a:t>Természetesen a sorrend nem számít, így pl. az 1-5 és az 5-1 egyesítve kezelhető.</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Grundy játék játékfája</a:t>
            </a:r>
            <a:endParaRPr/>
          </a:p>
        </p:txBody>
      </p:sp>
      <p:sp>
        <p:nvSpPr>
          <p:cNvPr id="85" name="Google Shape;85;p18"/>
          <p:cNvSpPr txBox="1">
            <a:spLocks noGrp="1"/>
          </p:cNvSpPr>
          <p:nvPr>
            <p:ph type="body" idx="1"/>
          </p:nvPr>
        </p:nvSpPr>
        <p:spPr>
          <a:xfrm>
            <a:off x="311700" y="1152475"/>
            <a:ext cx="41118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A kezdő – illetve soron következő –  játékosra gyakran utalunk A vagy Max névvel, míg ellenfele B vagy Min nevet kap.</a:t>
            </a:r>
            <a:endParaRPr/>
          </a:p>
          <a:p>
            <a:pPr marL="0" lvl="0" indent="0" algn="l" rtl="0">
              <a:spcBef>
                <a:spcPts val="1600"/>
              </a:spcBef>
              <a:spcAft>
                <a:spcPts val="0"/>
              </a:spcAft>
              <a:buNone/>
            </a:pPr>
            <a:r>
              <a:rPr lang="hu"/>
              <a:t>A fa levelei jelentik, hogy vége a játéknak. A bal levélnél Max nem tud lépni, így ő vesztett. </a:t>
            </a:r>
            <a:endParaRPr/>
          </a:p>
          <a:p>
            <a:pPr marL="0" lvl="0" indent="0" algn="l" rtl="0">
              <a:spcBef>
                <a:spcPts val="1600"/>
              </a:spcBef>
              <a:spcAft>
                <a:spcPts val="1600"/>
              </a:spcAft>
              <a:buNone/>
            </a:pPr>
            <a:endParaRPr/>
          </a:p>
        </p:txBody>
      </p:sp>
      <p:pic>
        <p:nvPicPr>
          <p:cNvPr id="86" name="Google Shape;86;p18"/>
          <p:cNvPicPr preferRelativeResize="0"/>
          <p:nvPr/>
        </p:nvPicPr>
        <p:blipFill>
          <a:blip r:embed="rId3">
            <a:alphaModFix/>
          </a:blip>
          <a:stretch>
            <a:fillRect/>
          </a:stretch>
        </p:blipFill>
        <p:spPr>
          <a:xfrm>
            <a:off x="4575900" y="1170125"/>
            <a:ext cx="3981450" cy="33528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dirty="0"/>
              <a:t>Grundy játékfa címkézése</a:t>
            </a:r>
            <a:endParaRPr dirty="0"/>
          </a:p>
        </p:txBody>
      </p:sp>
      <p:sp>
        <p:nvSpPr>
          <p:cNvPr id="92" name="Google Shape;92;p19"/>
          <p:cNvSpPr txBox="1">
            <a:spLocks noGrp="1"/>
          </p:cNvSpPr>
          <p:nvPr>
            <p:ph type="body" idx="1"/>
          </p:nvPr>
        </p:nvSpPr>
        <p:spPr>
          <a:xfrm>
            <a:off x="227575" y="1152475"/>
            <a:ext cx="46164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A levelet aszerint címkézzük, hogy </a:t>
            </a:r>
            <a:endParaRPr/>
          </a:p>
          <a:p>
            <a:pPr marL="457200" lvl="0" indent="-342900" algn="l" rtl="0">
              <a:spcBef>
                <a:spcPts val="1600"/>
              </a:spcBef>
              <a:spcAft>
                <a:spcPts val="0"/>
              </a:spcAft>
              <a:buSzPts val="1800"/>
              <a:buChar char="●"/>
            </a:pPr>
            <a:r>
              <a:rPr lang="hu"/>
              <a:t>a kezdő játékos nyer (kék szín, +1, N) </a:t>
            </a:r>
            <a:endParaRPr/>
          </a:p>
          <a:p>
            <a:pPr marL="457200" lvl="0" indent="-342900" algn="l" rtl="0">
              <a:spcBef>
                <a:spcPts val="0"/>
              </a:spcBef>
              <a:spcAft>
                <a:spcPts val="0"/>
              </a:spcAft>
              <a:buSzPts val="1800"/>
              <a:buChar char="●"/>
            </a:pPr>
            <a:r>
              <a:rPr lang="hu"/>
              <a:t>vagy veszít (piros, -1, V)</a:t>
            </a:r>
            <a:endParaRPr/>
          </a:p>
          <a:p>
            <a:pPr marL="0" lvl="0" indent="0" algn="l" rtl="0">
              <a:spcBef>
                <a:spcPts val="1600"/>
              </a:spcBef>
              <a:spcAft>
                <a:spcPts val="1600"/>
              </a:spcAft>
              <a:buNone/>
            </a:pPr>
            <a:r>
              <a:rPr lang="hu"/>
              <a:t>Ez a címkézés terjeszthető a gyökér irányába.</a:t>
            </a:r>
            <a:endParaRPr/>
          </a:p>
        </p:txBody>
      </p:sp>
      <p:pic>
        <p:nvPicPr>
          <p:cNvPr id="93" name="Google Shape;93;p19"/>
          <p:cNvPicPr preferRelativeResize="0"/>
          <p:nvPr/>
        </p:nvPicPr>
        <p:blipFill>
          <a:blip r:embed="rId3">
            <a:alphaModFix/>
          </a:blip>
          <a:stretch>
            <a:fillRect/>
          </a:stretch>
        </p:blipFill>
        <p:spPr>
          <a:xfrm>
            <a:off x="4996375" y="1170125"/>
            <a:ext cx="3981450" cy="33528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Játékfa </a:t>
            </a:r>
            <a:r>
              <a:rPr lang="hu" sz="1800"/>
              <a:t>(kétszemélyes, determinisztikus, lépésenkénti szintek)</a:t>
            </a:r>
            <a:endParaRPr sz="1800"/>
          </a:p>
        </p:txBody>
      </p:sp>
      <p:pic>
        <p:nvPicPr>
          <p:cNvPr id="99" name="Google Shape;99;p20"/>
          <p:cNvPicPr preferRelativeResize="0"/>
          <p:nvPr/>
        </p:nvPicPr>
        <p:blipFill>
          <a:blip r:embed="rId3">
            <a:alphaModFix/>
          </a:blip>
          <a:stretch>
            <a:fillRect/>
          </a:stretch>
        </p:blipFill>
        <p:spPr>
          <a:xfrm>
            <a:off x="1888013" y="1105925"/>
            <a:ext cx="5367963" cy="38209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Minimax</a:t>
            </a:r>
            <a:endParaRPr/>
          </a:p>
        </p:txBody>
      </p:sp>
      <p:sp>
        <p:nvSpPr>
          <p:cNvPr id="105" name="Google Shape;105;p21"/>
          <p:cNvSpPr txBox="1">
            <a:spLocks noGrp="1"/>
          </p:cNvSpPr>
          <p:nvPr>
            <p:ph type="body" idx="1"/>
          </p:nvPr>
        </p:nvSpPr>
        <p:spPr>
          <a:xfrm>
            <a:off x="311700" y="1152475"/>
            <a:ext cx="8520600" cy="13017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Char char="●"/>
            </a:pPr>
            <a:r>
              <a:rPr lang="hu">
                <a:solidFill>
                  <a:schemeClr val="dk1"/>
                </a:solidFill>
              </a:rPr>
              <a:t>teljes információjú, determinisztikus játék tökéletes játszása</a:t>
            </a:r>
            <a:endParaRPr>
              <a:solidFill>
                <a:schemeClr val="dk1"/>
              </a:solidFill>
            </a:endParaRPr>
          </a:p>
          <a:p>
            <a:pPr marL="457200" lvl="0" indent="-342900" algn="l" rtl="0">
              <a:spcBef>
                <a:spcPts val="0"/>
              </a:spcBef>
              <a:spcAft>
                <a:spcPts val="0"/>
              </a:spcAft>
              <a:buClr>
                <a:schemeClr val="dk1"/>
              </a:buClr>
              <a:buSzPts val="1800"/>
              <a:buChar char="●"/>
            </a:pPr>
            <a:r>
              <a:rPr lang="hu">
                <a:solidFill>
                  <a:schemeClr val="dk1"/>
                </a:solidFill>
              </a:rPr>
              <a:t>ötlet: lépjen oda, ahol a legmagasabb a </a:t>
            </a:r>
            <a:r>
              <a:rPr lang="hu" b="1">
                <a:solidFill>
                  <a:schemeClr val="dk1"/>
                </a:solidFill>
              </a:rPr>
              <a:t>mimimax érték</a:t>
            </a:r>
            <a:endParaRPr b="1">
              <a:solidFill>
                <a:schemeClr val="dk1"/>
              </a:solidFill>
            </a:endParaRPr>
          </a:p>
          <a:p>
            <a:pPr marL="914400" lvl="1" indent="-317500" algn="l" rtl="0">
              <a:spcBef>
                <a:spcPts val="0"/>
              </a:spcBef>
              <a:spcAft>
                <a:spcPts val="0"/>
              </a:spcAft>
              <a:buClr>
                <a:schemeClr val="dk1"/>
              </a:buClr>
              <a:buSzPts val="1400"/>
              <a:buChar char="○"/>
            </a:pPr>
            <a:r>
              <a:rPr lang="hu">
                <a:solidFill>
                  <a:schemeClr val="dk1"/>
                </a:solidFill>
              </a:rPr>
              <a:t>legjobb elérhető végeredmény a legjobb ellenfél ellen</a:t>
            </a:r>
            <a:endParaRPr>
              <a:solidFill>
                <a:schemeClr val="dk1"/>
              </a:solidFill>
            </a:endParaRPr>
          </a:p>
          <a:p>
            <a:pPr marL="457200" lvl="0" indent="-342900" algn="l" rtl="0">
              <a:spcBef>
                <a:spcPts val="0"/>
              </a:spcBef>
              <a:spcAft>
                <a:spcPts val="0"/>
              </a:spcAft>
              <a:buClr>
                <a:schemeClr val="dk1"/>
              </a:buClr>
              <a:buSzPts val="1800"/>
              <a:buChar char="●"/>
            </a:pPr>
            <a:r>
              <a:rPr lang="hu">
                <a:solidFill>
                  <a:schemeClr val="dk1"/>
                </a:solidFill>
              </a:rPr>
              <a:t>Például kétszemélyes játék esetén:</a:t>
            </a:r>
            <a:endParaRPr>
              <a:solidFill>
                <a:schemeClr val="dk1"/>
              </a:solidFill>
            </a:endParaRPr>
          </a:p>
        </p:txBody>
      </p:sp>
      <p:pic>
        <p:nvPicPr>
          <p:cNvPr id="106" name="Google Shape;106;p21"/>
          <p:cNvPicPr preferRelativeResize="0"/>
          <p:nvPr/>
        </p:nvPicPr>
        <p:blipFill>
          <a:blip r:embed="rId3">
            <a:alphaModFix/>
          </a:blip>
          <a:stretch>
            <a:fillRect/>
          </a:stretch>
        </p:blipFill>
        <p:spPr>
          <a:xfrm>
            <a:off x="1472080" y="2525375"/>
            <a:ext cx="6199850" cy="26181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Minimax algoritmus</a:t>
            </a:r>
            <a:endParaRPr/>
          </a:p>
        </p:txBody>
      </p:sp>
      <p:sp>
        <p:nvSpPr>
          <p:cNvPr id="112" name="Google Shape;112;p22"/>
          <p:cNvSpPr txBox="1">
            <a:spLocks noGrp="1"/>
          </p:cNvSpPr>
          <p:nvPr>
            <p:ph type="body" idx="1"/>
          </p:nvPr>
        </p:nvSpPr>
        <p:spPr>
          <a:xfrm>
            <a:off x="311700" y="1152475"/>
            <a:ext cx="8520600" cy="39054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hu" sz="1500" i="1" dirty="0">
                <a:solidFill>
                  <a:schemeClr val="dk1"/>
                </a:solidFill>
              </a:rPr>
              <a:t>function Minimax-Decision(state): művelet 	(state: aktuális állapot a játékban)</a:t>
            </a:r>
            <a:endParaRPr sz="1500" i="1" dirty="0">
              <a:solidFill>
                <a:schemeClr val="dk1"/>
              </a:solidFill>
            </a:endParaRPr>
          </a:p>
          <a:p>
            <a:pPr marL="0" lvl="0" indent="457200" algn="l" rtl="0">
              <a:lnSpc>
                <a:spcPct val="100000"/>
              </a:lnSpc>
              <a:spcBef>
                <a:spcPts val="0"/>
              </a:spcBef>
              <a:spcAft>
                <a:spcPts val="0"/>
              </a:spcAft>
              <a:buClr>
                <a:schemeClr val="dk1"/>
              </a:buClr>
              <a:buSzPts val="1100"/>
              <a:buFont typeface="Arial"/>
              <a:buNone/>
            </a:pPr>
            <a:r>
              <a:rPr lang="hu" sz="1500" i="1" dirty="0">
                <a:solidFill>
                  <a:schemeClr val="dk1"/>
                </a:solidFill>
              </a:rPr>
              <a:t>return Actions(state) azon „a” elemét, mely maximálja Min-Value(Result(a, state))</a:t>
            </a:r>
            <a:endParaRPr sz="1500" i="1" dirty="0">
              <a:solidFill>
                <a:schemeClr val="dk1"/>
              </a:solidFill>
            </a:endParaRPr>
          </a:p>
          <a:p>
            <a:pPr marL="0" lvl="0" indent="0" algn="l" rtl="0">
              <a:lnSpc>
                <a:spcPct val="100000"/>
              </a:lnSpc>
              <a:spcBef>
                <a:spcPts val="0"/>
              </a:spcBef>
              <a:spcAft>
                <a:spcPts val="0"/>
              </a:spcAft>
              <a:buNone/>
            </a:pPr>
            <a:endParaRPr sz="1500" i="1" dirty="0">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hu" sz="1500" i="1" dirty="0">
                <a:solidFill>
                  <a:schemeClr val="dk1"/>
                </a:solidFill>
              </a:rPr>
              <a:t>function Max-Value(state): hasznosságérték</a:t>
            </a:r>
            <a:endParaRPr sz="1500" i="1" dirty="0">
              <a:solidFill>
                <a:schemeClr val="dk1"/>
              </a:solidFill>
            </a:endParaRPr>
          </a:p>
          <a:p>
            <a:pPr marL="0" lvl="0" indent="457200" algn="l" rtl="0">
              <a:lnSpc>
                <a:spcPct val="100000"/>
              </a:lnSpc>
              <a:spcBef>
                <a:spcPts val="0"/>
              </a:spcBef>
              <a:spcAft>
                <a:spcPts val="0"/>
              </a:spcAft>
              <a:buClr>
                <a:schemeClr val="dk1"/>
              </a:buClr>
              <a:buSzPts val="1100"/>
              <a:buFont typeface="Arial"/>
              <a:buNone/>
            </a:pPr>
            <a:r>
              <a:rPr lang="hu" sz="1500" i="1" dirty="0">
                <a:solidFill>
                  <a:schemeClr val="dk1"/>
                </a:solidFill>
              </a:rPr>
              <a:t>if Terminal-Test(state) then return Utility(state)</a:t>
            </a:r>
            <a:endParaRPr sz="1500" i="1" dirty="0">
              <a:solidFill>
                <a:schemeClr val="dk1"/>
              </a:solidFill>
            </a:endParaRPr>
          </a:p>
          <a:p>
            <a:pPr marL="0" lvl="0" indent="457200" algn="l" rtl="0">
              <a:lnSpc>
                <a:spcPct val="100000"/>
              </a:lnSpc>
              <a:spcBef>
                <a:spcPts val="0"/>
              </a:spcBef>
              <a:spcAft>
                <a:spcPts val="0"/>
              </a:spcAft>
              <a:buClr>
                <a:schemeClr val="dk1"/>
              </a:buClr>
              <a:buSzPts val="1100"/>
              <a:buFont typeface="Arial"/>
              <a:buNone/>
            </a:pPr>
            <a:r>
              <a:rPr lang="hu" sz="1500" i="1" dirty="0">
                <a:solidFill>
                  <a:schemeClr val="dk1"/>
                </a:solidFill>
              </a:rPr>
              <a:t>v := -</a:t>
            </a:r>
            <a:r>
              <a:rPr lang="hu" sz="1500" dirty="0">
                <a:solidFill>
                  <a:schemeClr val="dk1"/>
                </a:solidFill>
              </a:rPr>
              <a:t>∞</a:t>
            </a:r>
            <a:endParaRPr sz="1500" dirty="0">
              <a:solidFill>
                <a:schemeClr val="dk1"/>
              </a:solidFill>
            </a:endParaRPr>
          </a:p>
          <a:p>
            <a:pPr marL="0" lvl="0" indent="457200" algn="l" rtl="0">
              <a:lnSpc>
                <a:spcPct val="100000"/>
              </a:lnSpc>
              <a:spcBef>
                <a:spcPts val="0"/>
              </a:spcBef>
              <a:spcAft>
                <a:spcPts val="0"/>
              </a:spcAft>
              <a:buNone/>
            </a:pPr>
            <a:r>
              <a:rPr lang="hu" sz="1500" i="1" dirty="0">
                <a:solidFill>
                  <a:schemeClr val="dk1"/>
                </a:solidFill>
              </a:rPr>
              <a:t>for (a, s) in Successors(state) do </a:t>
            </a:r>
            <a:endParaRPr sz="1500" i="1" dirty="0">
              <a:solidFill>
                <a:schemeClr val="dk1"/>
              </a:solidFill>
            </a:endParaRPr>
          </a:p>
          <a:p>
            <a:pPr marL="457200" lvl="0" indent="457200" algn="l" rtl="0">
              <a:lnSpc>
                <a:spcPct val="100000"/>
              </a:lnSpc>
              <a:spcBef>
                <a:spcPts val="0"/>
              </a:spcBef>
              <a:spcAft>
                <a:spcPts val="0"/>
              </a:spcAft>
              <a:buClr>
                <a:schemeClr val="dk1"/>
              </a:buClr>
              <a:buSzPts val="1100"/>
              <a:buFont typeface="Arial"/>
              <a:buNone/>
            </a:pPr>
            <a:r>
              <a:rPr lang="hu" sz="1500" i="1" dirty="0">
                <a:solidFill>
                  <a:schemeClr val="dk1"/>
                </a:solidFill>
              </a:rPr>
              <a:t>v := Max(v, Min-Value(s))</a:t>
            </a:r>
            <a:endParaRPr sz="1500" i="1" dirty="0">
              <a:solidFill>
                <a:schemeClr val="dk1"/>
              </a:solidFill>
            </a:endParaRPr>
          </a:p>
          <a:p>
            <a:pPr marL="0" lvl="0" indent="457200" algn="l" rtl="0">
              <a:lnSpc>
                <a:spcPct val="100000"/>
              </a:lnSpc>
              <a:spcBef>
                <a:spcPts val="0"/>
              </a:spcBef>
              <a:spcAft>
                <a:spcPts val="0"/>
              </a:spcAft>
              <a:buNone/>
            </a:pPr>
            <a:r>
              <a:rPr lang="hu" sz="1500" i="1" dirty="0">
                <a:solidFill>
                  <a:schemeClr val="dk1"/>
                </a:solidFill>
              </a:rPr>
              <a:t>return v</a:t>
            </a:r>
            <a:endParaRPr sz="1500" i="1" dirty="0">
              <a:solidFill>
                <a:schemeClr val="dk1"/>
              </a:solidFill>
            </a:endParaRPr>
          </a:p>
          <a:p>
            <a:pPr marL="0" lvl="0" indent="457200" algn="l" rtl="0">
              <a:lnSpc>
                <a:spcPct val="100000"/>
              </a:lnSpc>
              <a:spcBef>
                <a:spcPts val="0"/>
              </a:spcBef>
              <a:spcAft>
                <a:spcPts val="0"/>
              </a:spcAft>
              <a:buClr>
                <a:schemeClr val="dk1"/>
              </a:buClr>
              <a:buSzPts val="1100"/>
              <a:buFont typeface="Arial"/>
              <a:buNone/>
            </a:pPr>
            <a:endParaRPr sz="1500" i="1" dirty="0">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hu" sz="1500" i="1" dirty="0">
                <a:solidFill>
                  <a:schemeClr val="dk1"/>
                </a:solidFill>
              </a:rPr>
              <a:t>function Min-Value(state): hasznosságérték</a:t>
            </a:r>
            <a:endParaRPr sz="1500" i="1" dirty="0">
              <a:solidFill>
                <a:schemeClr val="dk1"/>
              </a:solidFill>
            </a:endParaRPr>
          </a:p>
          <a:p>
            <a:pPr marL="0" lvl="0" indent="457200" algn="l" rtl="0">
              <a:lnSpc>
                <a:spcPct val="100000"/>
              </a:lnSpc>
              <a:spcBef>
                <a:spcPts val="0"/>
              </a:spcBef>
              <a:spcAft>
                <a:spcPts val="0"/>
              </a:spcAft>
              <a:buClr>
                <a:schemeClr val="dk1"/>
              </a:buClr>
              <a:buSzPts val="1100"/>
              <a:buFont typeface="Arial"/>
              <a:buNone/>
            </a:pPr>
            <a:r>
              <a:rPr lang="hu" sz="1500" i="1" dirty="0">
                <a:solidFill>
                  <a:schemeClr val="dk1"/>
                </a:solidFill>
              </a:rPr>
              <a:t>if Terminal-Test(state) then return Utility(state)</a:t>
            </a:r>
            <a:endParaRPr sz="1500" i="1" dirty="0">
              <a:solidFill>
                <a:schemeClr val="dk1"/>
              </a:solidFill>
            </a:endParaRPr>
          </a:p>
          <a:p>
            <a:pPr marL="0" lvl="0" indent="457200" algn="l" rtl="0">
              <a:lnSpc>
                <a:spcPct val="100000"/>
              </a:lnSpc>
              <a:spcBef>
                <a:spcPts val="0"/>
              </a:spcBef>
              <a:spcAft>
                <a:spcPts val="0"/>
              </a:spcAft>
              <a:buClr>
                <a:schemeClr val="dk1"/>
              </a:buClr>
              <a:buSzPts val="1100"/>
              <a:buFont typeface="Arial"/>
              <a:buNone/>
            </a:pPr>
            <a:r>
              <a:rPr lang="hu" sz="1500" i="1" dirty="0">
                <a:solidFill>
                  <a:schemeClr val="dk1"/>
                </a:solidFill>
              </a:rPr>
              <a:t>v := </a:t>
            </a:r>
            <a:r>
              <a:rPr lang="hu" sz="1500" dirty="0">
                <a:solidFill>
                  <a:schemeClr val="dk1"/>
                </a:solidFill>
              </a:rPr>
              <a:t>∞</a:t>
            </a:r>
            <a:endParaRPr sz="1500" i="1" dirty="0">
              <a:solidFill>
                <a:schemeClr val="dk1"/>
              </a:solidFill>
            </a:endParaRPr>
          </a:p>
          <a:p>
            <a:pPr marL="0" lvl="0" indent="457200" algn="l" rtl="0">
              <a:lnSpc>
                <a:spcPct val="100000"/>
              </a:lnSpc>
              <a:spcBef>
                <a:spcPts val="0"/>
              </a:spcBef>
              <a:spcAft>
                <a:spcPts val="0"/>
              </a:spcAft>
              <a:buNone/>
            </a:pPr>
            <a:r>
              <a:rPr lang="hu" sz="1500" i="1" dirty="0">
                <a:solidFill>
                  <a:schemeClr val="dk1"/>
                </a:solidFill>
              </a:rPr>
              <a:t>for (a, s) in Successors(state) do </a:t>
            </a:r>
            <a:endParaRPr sz="1500" i="1" dirty="0">
              <a:solidFill>
                <a:schemeClr val="dk1"/>
              </a:solidFill>
            </a:endParaRPr>
          </a:p>
          <a:p>
            <a:pPr marL="457200" lvl="0" indent="457200" algn="l" rtl="0">
              <a:lnSpc>
                <a:spcPct val="100000"/>
              </a:lnSpc>
              <a:spcBef>
                <a:spcPts val="0"/>
              </a:spcBef>
              <a:spcAft>
                <a:spcPts val="0"/>
              </a:spcAft>
              <a:buClr>
                <a:schemeClr val="dk1"/>
              </a:buClr>
              <a:buSzPts val="1100"/>
              <a:buFont typeface="Arial"/>
              <a:buNone/>
            </a:pPr>
            <a:r>
              <a:rPr lang="hu" sz="1500" i="1" dirty="0">
                <a:solidFill>
                  <a:schemeClr val="dk1"/>
                </a:solidFill>
              </a:rPr>
              <a:t>v := Min(v, Max-Value(s))</a:t>
            </a:r>
            <a:endParaRPr sz="1500" i="1" dirty="0">
              <a:solidFill>
                <a:schemeClr val="dk1"/>
              </a:solidFill>
            </a:endParaRPr>
          </a:p>
          <a:p>
            <a:pPr marL="0" lvl="0" indent="457200" algn="l" rtl="0">
              <a:lnSpc>
                <a:spcPct val="100000"/>
              </a:lnSpc>
              <a:spcBef>
                <a:spcPts val="0"/>
              </a:spcBef>
              <a:spcAft>
                <a:spcPts val="0"/>
              </a:spcAft>
              <a:buClr>
                <a:schemeClr val="dk1"/>
              </a:buClr>
              <a:buSzPts val="1100"/>
              <a:buFont typeface="Arial"/>
              <a:buNone/>
            </a:pPr>
            <a:r>
              <a:rPr lang="hu" sz="1500" i="1" dirty="0">
                <a:solidFill>
                  <a:schemeClr val="dk1"/>
                </a:solidFill>
              </a:rPr>
              <a:t>return v</a:t>
            </a:r>
            <a:endParaRPr sz="1500" dirty="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A minimax tulajdonságai</a:t>
            </a:r>
            <a:endParaRPr/>
          </a:p>
        </p:txBody>
      </p:sp>
      <p:sp>
        <p:nvSpPr>
          <p:cNvPr id="118" name="Google Shape;118;p2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Char char="●"/>
            </a:pPr>
            <a:r>
              <a:rPr lang="hu">
                <a:solidFill>
                  <a:schemeClr val="dk1"/>
                </a:solidFill>
              </a:rPr>
              <a:t>teljesség</a:t>
            </a:r>
            <a:endParaRPr>
              <a:solidFill>
                <a:schemeClr val="dk1"/>
              </a:solidFill>
            </a:endParaRPr>
          </a:p>
          <a:p>
            <a:pPr marL="914400" lvl="1" indent="-317500" algn="l" rtl="0">
              <a:spcBef>
                <a:spcPts val="0"/>
              </a:spcBef>
              <a:spcAft>
                <a:spcPts val="0"/>
              </a:spcAft>
              <a:buClr>
                <a:schemeClr val="dk1"/>
              </a:buClr>
              <a:buSzPts val="1400"/>
              <a:buChar char="○"/>
            </a:pPr>
            <a:r>
              <a:rPr lang="hu">
                <a:solidFill>
                  <a:schemeClr val="dk1"/>
                </a:solidFill>
              </a:rPr>
              <a:t>igen, ha a fa véges</a:t>
            </a:r>
            <a:endParaRPr>
              <a:solidFill>
                <a:schemeClr val="dk1"/>
              </a:solidFill>
            </a:endParaRPr>
          </a:p>
          <a:p>
            <a:pPr marL="457200" lvl="0" indent="-342900" algn="l" rtl="0">
              <a:spcBef>
                <a:spcPts val="0"/>
              </a:spcBef>
              <a:spcAft>
                <a:spcPts val="0"/>
              </a:spcAft>
              <a:buClr>
                <a:schemeClr val="dk1"/>
              </a:buClr>
              <a:buSzPts val="1800"/>
              <a:buChar char="●"/>
            </a:pPr>
            <a:r>
              <a:rPr lang="hu">
                <a:solidFill>
                  <a:schemeClr val="dk1"/>
                </a:solidFill>
              </a:rPr>
              <a:t>optimalitás</a:t>
            </a:r>
            <a:endParaRPr>
              <a:solidFill>
                <a:schemeClr val="dk1"/>
              </a:solidFill>
            </a:endParaRPr>
          </a:p>
          <a:p>
            <a:pPr marL="914400" lvl="1" indent="-317500" algn="l" rtl="0">
              <a:spcBef>
                <a:spcPts val="0"/>
              </a:spcBef>
              <a:spcAft>
                <a:spcPts val="0"/>
              </a:spcAft>
              <a:buClr>
                <a:schemeClr val="dk1"/>
              </a:buClr>
              <a:buSzPts val="1400"/>
              <a:buChar char="○"/>
            </a:pPr>
            <a:r>
              <a:rPr lang="hu">
                <a:solidFill>
                  <a:schemeClr val="dk1"/>
                </a:solidFill>
              </a:rPr>
              <a:t>igen, optimális ellenfél ellen (egyébként?)</a:t>
            </a:r>
            <a:endParaRPr>
              <a:solidFill>
                <a:schemeClr val="dk1"/>
              </a:solidFill>
            </a:endParaRPr>
          </a:p>
          <a:p>
            <a:pPr marL="457200" lvl="0" indent="-342900" algn="l" rtl="0">
              <a:spcBef>
                <a:spcPts val="0"/>
              </a:spcBef>
              <a:spcAft>
                <a:spcPts val="0"/>
              </a:spcAft>
              <a:buClr>
                <a:schemeClr val="dk1"/>
              </a:buClr>
              <a:buSzPts val="1800"/>
              <a:buChar char="●"/>
            </a:pPr>
            <a:r>
              <a:rPr lang="hu">
                <a:solidFill>
                  <a:schemeClr val="dk1"/>
                </a:solidFill>
              </a:rPr>
              <a:t>időbonyolultság</a:t>
            </a:r>
            <a:endParaRPr>
              <a:solidFill>
                <a:schemeClr val="dk1"/>
              </a:solidFill>
            </a:endParaRPr>
          </a:p>
          <a:p>
            <a:pPr marL="914400" lvl="1" indent="-317500" algn="l" rtl="0">
              <a:spcBef>
                <a:spcPts val="0"/>
              </a:spcBef>
              <a:spcAft>
                <a:spcPts val="0"/>
              </a:spcAft>
              <a:buClr>
                <a:schemeClr val="dk1"/>
              </a:buClr>
              <a:buSzPts val="1400"/>
              <a:buChar char="○"/>
            </a:pPr>
            <a:r>
              <a:rPr lang="hu">
                <a:solidFill>
                  <a:schemeClr val="dk1"/>
                </a:solidFill>
              </a:rPr>
              <a:t>O(b</a:t>
            </a:r>
            <a:r>
              <a:rPr lang="hu" baseline="30000">
                <a:solidFill>
                  <a:schemeClr val="dk1"/>
                </a:solidFill>
              </a:rPr>
              <a:t>m</a:t>
            </a:r>
            <a:r>
              <a:rPr lang="hu">
                <a:solidFill>
                  <a:schemeClr val="dk1"/>
                </a:solidFill>
              </a:rPr>
              <a:t>)</a:t>
            </a:r>
            <a:endParaRPr>
              <a:solidFill>
                <a:schemeClr val="dk1"/>
              </a:solidFill>
            </a:endParaRPr>
          </a:p>
          <a:p>
            <a:pPr marL="457200" lvl="0" indent="-342900" algn="l" rtl="0">
              <a:spcBef>
                <a:spcPts val="0"/>
              </a:spcBef>
              <a:spcAft>
                <a:spcPts val="0"/>
              </a:spcAft>
              <a:buClr>
                <a:schemeClr val="dk1"/>
              </a:buClr>
              <a:buSzPts val="1800"/>
              <a:buChar char="●"/>
            </a:pPr>
            <a:r>
              <a:rPr lang="hu">
                <a:solidFill>
                  <a:schemeClr val="dk1"/>
                </a:solidFill>
              </a:rPr>
              <a:t>tárbonyolultság</a:t>
            </a:r>
            <a:endParaRPr>
              <a:solidFill>
                <a:schemeClr val="dk1"/>
              </a:solidFill>
            </a:endParaRPr>
          </a:p>
          <a:p>
            <a:pPr marL="914400" lvl="1" indent="-317500" algn="l" rtl="0">
              <a:spcBef>
                <a:spcPts val="0"/>
              </a:spcBef>
              <a:spcAft>
                <a:spcPts val="0"/>
              </a:spcAft>
              <a:buClr>
                <a:schemeClr val="dk1"/>
              </a:buClr>
              <a:buSzPts val="1400"/>
              <a:buChar char="○"/>
            </a:pPr>
            <a:r>
              <a:rPr lang="hu">
                <a:solidFill>
                  <a:schemeClr val="dk1"/>
                </a:solidFill>
              </a:rPr>
              <a:t>O(bm) – mélységi keresés esetén</a:t>
            </a:r>
            <a:endParaRPr>
              <a:solidFill>
                <a:schemeClr val="dk1"/>
              </a:solidFill>
            </a:endParaRPr>
          </a:p>
          <a:p>
            <a:pPr marL="457200" lvl="0" indent="0" algn="l" rtl="0">
              <a:spcBef>
                <a:spcPts val="1600"/>
              </a:spcBef>
              <a:spcAft>
                <a:spcPts val="0"/>
              </a:spcAft>
              <a:buNone/>
            </a:pPr>
            <a:endParaRPr>
              <a:solidFill>
                <a:schemeClr val="dk1"/>
              </a:solidFill>
            </a:endParaRPr>
          </a:p>
          <a:p>
            <a:pPr marL="457200" lvl="0" indent="-342900" algn="l" rtl="0">
              <a:spcBef>
                <a:spcPts val="1600"/>
              </a:spcBef>
              <a:spcAft>
                <a:spcPts val="0"/>
              </a:spcAft>
              <a:buClr>
                <a:schemeClr val="dk1"/>
              </a:buClr>
              <a:buSzPts val="1800"/>
              <a:buChar char="●"/>
            </a:pPr>
            <a:r>
              <a:rPr lang="hu">
                <a:solidFill>
                  <a:schemeClr val="dk1"/>
                </a:solidFill>
              </a:rPr>
              <a:t>sakk esetén b ≈ 35, m ≈ 100 (ésszerű játék esetén)</a:t>
            </a:r>
            <a:endParaRPr>
              <a:solidFill>
                <a:schemeClr val="dk1"/>
              </a:solidFill>
            </a:endParaRPr>
          </a:p>
          <a:p>
            <a:pPr marL="914400" lvl="1" indent="-317500" algn="l" rtl="0">
              <a:spcBef>
                <a:spcPts val="0"/>
              </a:spcBef>
              <a:spcAft>
                <a:spcPts val="0"/>
              </a:spcAft>
              <a:buClr>
                <a:schemeClr val="dk1"/>
              </a:buClr>
              <a:buSzPts val="1400"/>
              <a:buChar char="○"/>
            </a:pPr>
            <a:r>
              <a:rPr lang="hu">
                <a:solidFill>
                  <a:schemeClr val="dk1"/>
                </a:solidFill>
              </a:rPr>
              <a:t>a pontos megoldás elérhetetlen</a:t>
            </a:r>
            <a:endParaRPr>
              <a:solidFill>
                <a:schemeClr val="dk1"/>
              </a:solidFill>
            </a:endParaRPr>
          </a:p>
          <a:p>
            <a:pPr marL="457200" lvl="0" indent="-342900" algn="l" rtl="0">
              <a:spcBef>
                <a:spcPts val="0"/>
              </a:spcBef>
              <a:spcAft>
                <a:spcPts val="0"/>
              </a:spcAft>
              <a:buClr>
                <a:schemeClr val="dk1"/>
              </a:buClr>
              <a:buSzPts val="1800"/>
              <a:buChar char="●"/>
            </a:pPr>
            <a:r>
              <a:rPr lang="hu">
                <a:solidFill>
                  <a:schemeClr val="dk1"/>
                </a:solidFill>
              </a:rPr>
              <a:t>fel kell deríteni minden útvonalat? </a:t>
            </a:r>
            <a:endParaRPr>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18">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α-β nyesés</a:t>
            </a:r>
            <a:endParaRPr/>
          </a:p>
        </p:txBody>
      </p:sp>
      <p:sp>
        <p:nvSpPr>
          <p:cNvPr id="124" name="Google Shape;124;p2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125" name="Google Shape;125;p24"/>
          <p:cNvPicPr preferRelativeResize="0"/>
          <p:nvPr/>
        </p:nvPicPr>
        <p:blipFill>
          <a:blip r:embed="rId3">
            <a:alphaModFix/>
          </a:blip>
          <a:stretch>
            <a:fillRect/>
          </a:stretch>
        </p:blipFill>
        <p:spPr>
          <a:xfrm>
            <a:off x="-15512" y="1152475"/>
            <a:ext cx="9175025" cy="39910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hu"/>
              <a:t>α-β nyesés</a:t>
            </a:r>
            <a:endParaRPr/>
          </a:p>
        </p:txBody>
      </p:sp>
      <p:sp>
        <p:nvSpPr>
          <p:cNvPr id="131" name="Google Shape;131;p2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132" name="Google Shape;132;p25"/>
          <p:cNvPicPr preferRelativeResize="0"/>
          <p:nvPr/>
        </p:nvPicPr>
        <p:blipFill>
          <a:blip r:embed="rId3">
            <a:alphaModFix/>
          </a:blip>
          <a:stretch>
            <a:fillRect/>
          </a:stretch>
        </p:blipFill>
        <p:spPr>
          <a:xfrm>
            <a:off x="0" y="1101222"/>
            <a:ext cx="8832300" cy="404229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hu"/>
              <a:t>α-β nyesés</a:t>
            </a:r>
            <a:endParaRPr/>
          </a:p>
        </p:txBody>
      </p:sp>
      <p:pic>
        <p:nvPicPr>
          <p:cNvPr id="138" name="Google Shape;138;p26"/>
          <p:cNvPicPr preferRelativeResize="0"/>
          <p:nvPr/>
        </p:nvPicPr>
        <p:blipFill>
          <a:blip r:embed="rId3">
            <a:alphaModFix/>
          </a:blip>
          <a:stretch>
            <a:fillRect/>
          </a:stretch>
        </p:blipFill>
        <p:spPr>
          <a:xfrm>
            <a:off x="0" y="958567"/>
            <a:ext cx="9144000" cy="418495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hu"/>
              <a:t>α-β nyesés</a:t>
            </a:r>
            <a:endParaRPr/>
          </a:p>
        </p:txBody>
      </p:sp>
      <p:pic>
        <p:nvPicPr>
          <p:cNvPr id="144" name="Google Shape;144;p27"/>
          <p:cNvPicPr preferRelativeResize="0"/>
          <p:nvPr/>
        </p:nvPicPr>
        <p:blipFill>
          <a:blip r:embed="rId3">
            <a:alphaModFix/>
          </a:blip>
          <a:stretch>
            <a:fillRect/>
          </a:stretch>
        </p:blipFill>
        <p:spPr>
          <a:xfrm>
            <a:off x="0" y="956511"/>
            <a:ext cx="9144000" cy="418698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hu"/>
              <a:t>α-β nyesés</a:t>
            </a:r>
            <a:endParaRPr/>
          </a:p>
        </p:txBody>
      </p:sp>
      <p:pic>
        <p:nvPicPr>
          <p:cNvPr id="150" name="Google Shape;150;p28"/>
          <p:cNvPicPr preferRelativeResize="0"/>
          <p:nvPr/>
        </p:nvPicPr>
        <p:blipFill>
          <a:blip r:embed="rId3">
            <a:alphaModFix/>
          </a:blip>
          <a:stretch>
            <a:fillRect/>
          </a:stretch>
        </p:blipFill>
        <p:spPr>
          <a:xfrm>
            <a:off x="19" y="945463"/>
            <a:ext cx="9144000" cy="419803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hu"/>
              <a:t>Miért α-β?</a:t>
            </a:r>
            <a:endParaRPr/>
          </a:p>
        </p:txBody>
      </p:sp>
      <p:sp>
        <p:nvSpPr>
          <p:cNvPr id="156" name="Google Shape;156;p29"/>
          <p:cNvSpPr txBox="1">
            <a:spLocks noGrp="1"/>
          </p:cNvSpPr>
          <p:nvPr>
            <p:ph type="body" idx="1"/>
          </p:nvPr>
        </p:nvSpPr>
        <p:spPr>
          <a:xfrm>
            <a:off x="311700" y="1152475"/>
            <a:ext cx="5174100" cy="1761900"/>
          </a:xfrm>
          <a:prstGeom prst="rect">
            <a:avLst/>
          </a:prstGeom>
        </p:spPr>
        <p:txBody>
          <a:bodyPr spcFirstLastPara="1" wrap="square" lIns="91425" tIns="91425" rIns="91425" bIns="91425" anchor="t" anchorCtr="0">
            <a:noAutofit/>
          </a:bodyPr>
          <a:lstStyle/>
          <a:p>
            <a:pPr marL="457200" lvl="0" indent="-342900" algn="l" rtl="0">
              <a:lnSpc>
                <a:spcPct val="100000"/>
              </a:lnSpc>
              <a:spcBef>
                <a:spcPts val="0"/>
              </a:spcBef>
              <a:spcAft>
                <a:spcPts val="0"/>
              </a:spcAft>
              <a:buClr>
                <a:schemeClr val="dk1"/>
              </a:buClr>
              <a:buSzPts val="1800"/>
              <a:buChar char="●"/>
            </a:pPr>
            <a:r>
              <a:rPr lang="hu">
                <a:solidFill>
                  <a:schemeClr val="dk1"/>
                </a:solidFill>
              </a:rPr>
              <a:t>α a legjobb érték (MAX szerint), amit eddig az aktuális úton találtunk</a:t>
            </a:r>
            <a:endParaRPr>
              <a:solidFill>
                <a:schemeClr val="dk1"/>
              </a:solidFill>
            </a:endParaRPr>
          </a:p>
          <a:p>
            <a:pPr marL="457200" lvl="0" indent="-342900" algn="l" rtl="0">
              <a:lnSpc>
                <a:spcPct val="100000"/>
              </a:lnSpc>
              <a:spcBef>
                <a:spcPts val="0"/>
              </a:spcBef>
              <a:spcAft>
                <a:spcPts val="0"/>
              </a:spcAft>
              <a:buClr>
                <a:schemeClr val="dk1"/>
              </a:buClr>
              <a:buSzPts val="1800"/>
              <a:buChar char="●"/>
            </a:pPr>
            <a:r>
              <a:rPr lang="hu">
                <a:solidFill>
                  <a:schemeClr val="dk1"/>
                </a:solidFill>
              </a:rPr>
              <a:t>Ha V rosszabb, mint α, akkor elkerüljük</a:t>
            </a:r>
            <a:endParaRPr>
              <a:solidFill>
                <a:schemeClr val="dk1"/>
              </a:solidFill>
            </a:endParaRPr>
          </a:p>
          <a:p>
            <a:pPr marL="914400" lvl="1" indent="-317500" algn="l" rtl="0">
              <a:lnSpc>
                <a:spcPct val="100000"/>
              </a:lnSpc>
              <a:spcBef>
                <a:spcPts val="0"/>
              </a:spcBef>
              <a:spcAft>
                <a:spcPts val="0"/>
              </a:spcAft>
              <a:buClr>
                <a:schemeClr val="dk1"/>
              </a:buClr>
              <a:buSzPts val="1400"/>
              <a:buChar char="○"/>
            </a:pPr>
            <a:r>
              <a:rPr lang="hu">
                <a:solidFill>
                  <a:schemeClr val="dk1"/>
                </a:solidFill>
              </a:rPr>
              <a:t>adott ág nyesése</a:t>
            </a:r>
            <a:endParaRPr>
              <a:solidFill>
                <a:schemeClr val="dk1"/>
              </a:solidFill>
            </a:endParaRPr>
          </a:p>
          <a:p>
            <a:pPr marL="457200" lvl="0" indent="-342900" algn="l" rtl="0">
              <a:lnSpc>
                <a:spcPct val="100000"/>
              </a:lnSpc>
              <a:spcBef>
                <a:spcPts val="0"/>
              </a:spcBef>
              <a:spcAft>
                <a:spcPts val="0"/>
              </a:spcAft>
              <a:buClr>
                <a:schemeClr val="dk1"/>
              </a:buClr>
              <a:buSzPts val="1800"/>
              <a:buChar char="●"/>
            </a:pPr>
            <a:r>
              <a:rPr lang="hu">
                <a:solidFill>
                  <a:schemeClr val="dk1"/>
                </a:solidFill>
              </a:rPr>
              <a:t>β hasonlóképpen definiált MIN-re</a:t>
            </a:r>
            <a:endParaRPr b="1">
              <a:solidFill>
                <a:schemeClr val="dk1"/>
              </a:solidFill>
            </a:endParaRPr>
          </a:p>
        </p:txBody>
      </p:sp>
      <p:pic>
        <p:nvPicPr>
          <p:cNvPr id="157" name="Google Shape;157;p29"/>
          <p:cNvPicPr preferRelativeResize="0"/>
          <p:nvPr/>
        </p:nvPicPr>
        <p:blipFill>
          <a:blip r:embed="rId3">
            <a:alphaModFix/>
          </a:blip>
          <a:stretch>
            <a:fillRect/>
          </a:stretch>
        </p:blipFill>
        <p:spPr>
          <a:xfrm>
            <a:off x="5579000" y="1152475"/>
            <a:ext cx="3253300" cy="35344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hu"/>
              <a:t>α-β algoritmus</a:t>
            </a:r>
            <a:endParaRPr/>
          </a:p>
        </p:txBody>
      </p:sp>
      <p:sp>
        <p:nvSpPr>
          <p:cNvPr id="163" name="Google Shape;163;p30"/>
          <p:cNvSpPr txBox="1">
            <a:spLocks noGrp="1"/>
          </p:cNvSpPr>
          <p:nvPr>
            <p:ph type="body" idx="1"/>
          </p:nvPr>
        </p:nvSpPr>
        <p:spPr>
          <a:xfrm>
            <a:off x="311700" y="1152475"/>
            <a:ext cx="8520600" cy="39909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hu" sz="1500" i="1">
                <a:solidFill>
                  <a:schemeClr val="dk1"/>
                </a:solidFill>
              </a:rPr>
              <a:t>function Alpha-Beta-Decision(state):  művelet</a:t>
            </a:r>
            <a:endParaRPr sz="1500" i="1">
              <a:solidFill>
                <a:schemeClr val="dk1"/>
              </a:solidFill>
            </a:endParaRPr>
          </a:p>
          <a:p>
            <a:pPr marL="0" lvl="0" indent="457200" algn="l" rtl="0">
              <a:lnSpc>
                <a:spcPct val="100000"/>
              </a:lnSpc>
              <a:spcBef>
                <a:spcPts val="0"/>
              </a:spcBef>
              <a:spcAft>
                <a:spcPts val="0"/>
              </a:spcAft>
              <a:buClr>
                <a:schemeClr val="dk1"/>
              </a:buClr>
              <a:buSzPts val="1100"/>
              <a:buFont typeface="Arial"/>
              <a:buNone/>
            </a:pPr>
            <a:r>
              <a:rPr lang="hu" sz="1500" i="1">
                <a:solidFill>
                  <a:schemeClr val="dk1"/>
                </a:solidFill>
              </a:rPr>
              <a:t>return Actions(state) azon „ a” elemét, amely maximalizálja Min-Value(Result(a, state), -</a:t>
            </a:r>
            <a:r>
              <a:rPr lang="hu" sz="1500">
                <a:solidFill>
                  <a:schemeClr val="dk1"/>
                </a:solidFill>
              </a:rPr>
              <a:t>∞,∞</a:t>
            </a:r>
            <a:r>
              <a:rPr lang="hu" sz="1500" i="1">
                <a:solidFill>
                  <a:schemeClr val="dk1"/>
                </a:solidFill>
              </a:rPr>
              <a:t>)</a:t>
            </a:r>
            <a:endParaRPr sz="1500" i="1">
              <a:solidFill>
                <a:schemeClr val="dk1"/>
              </a:solidFill>
            </a:endParaRPr>
          </a:p>
          <a:p>
            <a:pPr marL="0" lvl="0" indent="0" algn="l" rtl="0">
              <a:lnSpc>
                <a:spcPct val="100000"/>
              </a:lnSpc>
              <a:spcBef>
                <a:spcPts val="0"/>
              </a:spcBef>
              <a:spcAft>
                <a:spcPts val="0"/>
              </a:spcAft>
              <a:buNone/>
            </a:pPr>
            <a:endParaRPr sz="1500" i="1">
              <a:solidFill>
                <a:schemeClr val="dk1"/>
              </a:solidFill>
            </a:endParaRPr>
          </a:p>
          <a:p>
            <a:pPr marL="0" lvl="0" indent="0" algn="l" rtl="0">
              <a:lnSpc>
                <a:spcPct val="100000"/>
              </a:lnSpc>
              <a:spcBef>
                <a:spcPts val="0"/>
              </a:spcBef>
              <a:spcAft>
                <a:spcPts val="0"/>
              </a:spcAft>
              <a:buNone/>
            </a:pPr>
            <a:r>
              <a:rPr lang="hu" sz="1500" i="1">
                <a:solidFill>
                  <a:schemeClr val="dk1"/>
                </a:solidFill>
              </a:rPr>
              <a:t>function Max-Value(state, alpha, beta): hasznosságérték				</a:t>
            </a:r>
            <a:endParaRPr sz="1500" i="1">
              <a:solidFill>
                <a:schemeClr val="dk1"/>
              </a:solidFill>
            </a:endParaRPr>
          </a:p>
          <a:p>
            <a:pPr marL="0" lvl="0" indent="457200" algn="l" rtl="0">
              <a:lnSpc>
                <a:spcPct val="100000"/>
              </a:lnSpc>
              <a:spcBef>
                <a:spcPts val="0"/>
              </a:spcBef>
              <a:spcAft>
                <a:spcPts val="0"/>
              </a:spcAft>
              <a:buClr>
                <a:schemeClr val="dk1"/>
              </a:buClr>
              <a:buSzPts val="1100"/>
              <a:buFont typeface="Arial"/>
              <a:buNone/>
            </a:pPr>
            <a:r>
              <a:rPr lang="hu" sz="1500" i="1">
                <a:solidFill>
                  <a:schemeClr val="dk1"/>
                </a:solidFill>
              </a:rPr>
              <a:t>state: játék aktuális állapota</a:t>
            </a:r>
            <a:endParaRPr sz="1500" i="1">
              <a:solidFill>
                <a:schemeClr val="dk1"/>
              </a:solidFill>
            </a:endParaRPr>
          </a:p>
          <a:p>
            <a:pPr marL="0" lvl="0" indent="457200" algn="l" rtl="0">
              <a:lnSpc>
                <a:spcPct val="100000"/>
              </a:lnSpc>
              <a:spcBef>
                <a:spcPts val="0"/>
              </a:spcBef>
              <a:spcAft>
                <a:spcPts val="0"/>
              </a:spcAft>
              <a:buClr>
                <a:schemeClr val="dk1"/>
              </a:buClr>
              <a:buSzPts val="1100"/>
              <a:buFont typeface="Arial"/>
              <a:buNone/>
            </a:pPr>
            <a:r>
              <a:rPr lang="hu" sz="1500" i="1">
                <a:solidFill>
                  <a:schemeClr val="dk1"/>
                </a:solidFill>
              </a:rPr>
              <a:t>alpha: a state-ig vezető úton, a MAX szerinti legjobb alternatíva értéke</a:t>
            </a:r>
            <a:endParaRPr sz="1500" i="1">
              <a:solidFill>
                <a:schemeClr val="dk1"/>
              </a:solidFill>
            </a:endParaRPr>
          </a:p>
          <a:p>
            <a:pPr marL="0" lvl="0" indent="457200" algn="l" rtl="0">
              <a:lnSpc>
                <a:spcPct val="100000"/>
              </a:lnSpc>
              <a:spcBef>
                <a:spcPts val="0"/>
              </a:spcBef>
              <a:spcAft>
                <a:spcPts val="0"/>
              </a:spcAft>
              <a:buClr>
                <a:schemeClr val="dk1"/>
              </a:buClr>
              <a:buSzPts val="1100"/>
              <a:buFont typeface="Arial"/>
              <a:buNone/>
            </a:pPr>
            <a:r>
              <a:rPr lang="hu" sz="1500" i="1">
                <a:solidFill>
                  <a:schemeClr val="dk1"/>
                </a:solidFill>
              </a:rPr>
              <a:t>beta: a state-ig vezető úton, a MIN szerinti legjobb alternatíva értéke</a:t>
            </a:r>
            <a:endParaRPr sz="1500" i="1">
              <a:solidFill>
                <a:schemeClr val="dk1"/>
              </a:solidFill>
            </a:endParaRPr>
          </a:p>
          <a:p>
            <a:pPr marL="0" lvl="0" indent="457200" algn="l" rtl="0">
              <a:lnSpc>
                <a:spcPct val="100000"/>
              </a:lnSpc>
              <a:spcBef>
                <a:spcPts val="0"/>
              </a:spcBef>
              <a:spcAft>
                <a:spcPts val="0"/>
              </a:spcAft>
              <a:buClr>
                <a:schemeClr val="dk1"/>
              </a:buClr>
              <a:buSzPts val="1100"/>
              <a:buFont typeface="Arial"/>
              <a:buNone/>
            </a:pPr>
            <a:r>
              <a:rPr lang="hu" sz="1500" i="1">
                <a:solidFill>
                  <a:schemeClr val="dk1"/>
                </a:solidFill>
              </a:rPr>
              <a:t>if Terminal-Test(state) then return Utility(state)</a:t>
            </a:r>
            <a:endParaRPr sz="1500" i="1">
              <a:solidFill>
                <a:schemeClr val="dk1"/>
              </a:solidFill>
            </a:endParaRPr>
          </a:p>
          <a:p>
            <a:pPr marL="0" lvl="0" indent="457200" algn="l" rtl="0">
              <a:lnSpc>
                <a:spcPct val="100000"/>
              </a:lnSpc>
              <a:spcBef>
                <a:spcPts val="0"/>
              </a:spcBef>
              <a:spcAft>
                <a:spcPts val="0"/>
              </a:spcAft>
              <a:buNone/>
            </a:pPr>
            <a:r>
              <a:rPr lang="hu" sz="1500" i="1">
                <a:solidFill>
                  <a:schemeClr val="dk1"/>
                </a:solidFill>
              </a:rPr>
              <a:t>v:= -</a:t>
            </a:r>
            <a:r>
              <a:rPr lang="hu" sz="1500">
                <a:solidFill>
                  <a:schemeClr val="dk1"/>
                </a:solidFill>
              </a:rPr>
              <a:t>∞</a:t>
            </a:r>
            <a:endParaRPr sz="1500">
              <a:solidFill>
                <a:schemeClr val="dk1"/>
              </a:solidFill>
            </a:endParaRPr>
          </a:p>
          <a:p>
            <a:pPr marL="0" lvl="0" indent="457200" algn="l" rtl="0">
              <a:lnSpc>
                <a:spcPct val="100000"/>
              </a:lnSpc>
              <a:spcBef>
                <a:spcPts val="0"/>
              </a:spcBef>
              <a:spcAft>
                <a:spcPts val="0"/>
              </a:spcAft>
              <a:buClr>
                <a:schemeClr val="dk1"/>
              </a:buClr>
              <a:buSzPts val="1100"/>
              <a:buFont typeface="Arial"/>
              <a:buNone/>
            </a:pPr>
            <a:r>
              <a:rPr lang="hu" sz="1500" i="1">
                <a:solidFill>
                  <a:schemeClr val="dk1"/>
                </a:solidFill>
              </a:rPr>
              <a:t>for (a, s) in Successors(state) do</a:t>
            </a:r>
            <a:endParaRPr sz="1500" i="1">
              <a:solidFill>
                <a:schemeClr val="dk1"/>
              </a:solidFill>
            </a:endParaRPr>
          </a:p>
          <a:p>
            <a:pPr marL="457200" lvl="0" indent="457200" algn="l" rtl="0">
              <a:lnSpc>
                <a:spcPct val="100000"/>
              </a:lnSpc>
              <a:spcBef>
                <a:spcPts val="0"/>
              </a:spcBef>
              <a:spcAft>
                <a:spcPts val="0"/>
              </a:spcAft>
              <a:buClr>
                <a:schemeClr val="dk1"/>
              </a:buClr>
              <a:buSzPts val="1100"/>
              <a:buFont typeface="Arial"/>
              <a:buNone/>
            </a:pPr>
            <a:r>
              <a:rPr lang="hu" sz="1500" i="1">
                <a:solidFill>
                  <a:schemeClr val="dk1"/>
                </a:solidFill>
              </a:rPr>
              <a:t>v := Max(v, Min-Value(s, alpha, beta))</a:t>
            </a:r>
            <a:endParaRPr sz="1500" i="1">
              <a:solidFill>
                <a:schemeClr val="dk1"/>
              </a:solidFill>
            </a:endParaRPr>
          </a:p>
          <a:p>
            <a:pPr marL="457200" lvl="0" indent="457200" algn="l" rtl="0">
              <a:lnSpc>
                <a:spcPct val="100000"/>
              </a:lnSpc>
              <a:spcBef>
                <a:spcPts val="0"/>
              </a:spcBef>
              <a:spcAft>
                <a:spcPts val="0"/>
              </a:spcAft>
              <a:buClr>
                <a:schemeClr val="dk1"/>
              </a:buClr>
              <a:buSzPts val="1100"/>
              <a:buFont typeface="Arial"/>
              <a:buNone/>
            </a:pPr>
            <a:r>
              <a:rPr lang="hu" sz="1500" i="1">
                <a:solidFill>
                  <a:schemeClr val="dk1"/>
                </a:solidFill>
              </a:rPr>
              <a:t>if v &gt;= beta then return v</a:t>
            </a:r>
            <a:endParaRPr sz="1500" i="1">
              <a:solidFill>
                <a:schemeClr val="dk1"/>
              </a:solidFill>
            </a:endParaRPr>
          </a:p>
          <a:p>
            <a:pPr marL="457200" lvl="0" indent="457200" algn="l" rtl="0">
              <a:lnSpc>
                <a:spcPct val="100000"/>
              </a:lnSpc>
              <a:spcBef>
                <a:spcPts val="0"/>
              </a:spcBef>
              <a:spcAft>
                <a:spcPts val="0"/>
              </a:spcAft>
              <a:buClr>
                <a:schemeClr val="dk1"/>
              </a:buClr>
              <a:buSzPts val="1100"/>
              <a:buFont typeface="Arial"/>
              <a:buNone/>
            </a:pPr>
            <a:r>
              <a:rPr lang="hu" sz="1500" i="1">
                <a:solidFill>
                  <a:schemeClr val="dk1"/>
                </a:solidFill>
              </a:rPr>
              <a:t>alpha := Max(alpha, v)</a:t>
            </a:r>
            <a:endParaRPr sz="1500" i="1">
              <a:solidFill>
                <a:schemeClr val="dk1"/>
              </a:solidFill>
            </a:endParaRPr>
          </a:p>
          <a:p>
            <a:pPr marL="0" lvl="0" indent="457200" algn="l" rtl="0">
              <a:lnSpc>
                <a:spcPct val="100000"/>
              </a:lnSpc>
              <a:spcBef>
                <a:spcPts val="0"/>
              </a:spcBef>
              <a:spcAft>
                <a:spcPts val="0"/>
              </a:spcAft>
              <a:buClr>
                <a:schemeClr val="dk1"/>
              </a:buClr>
              <a:buSzPts val="1100"/>
              <a:buFont typeface="Arial"/>
              <a:buNone/>
            </a:pPr>
            <a:r>
              <a:rPr lang="hu" sz="1500" i="1">
                <a:solidFill>
                  <a:schemeClr val="dk1"/>
                </a:solidFill>
              </a:rPr>
              <a:t>return v</a:t>
            </a:r>
            <a:endParaRPr sz="1500" i="1">
              <a:solidFill>
                <a:schemeClr val="dk1"/>
              </a:solidFill>
            </a:endParaRPr>
          </a:p>
          <a:p>
            <a:pPr marL="0" lvl="0" indent="0" algn="l" rtl="0">
              <a:lnSpc>
                <a:spcPct val="100000"/>
              </a:lnSpc>
              <a:spcBef>
                <a:spcPts val="0"/>
              </a:spcBef>
              <a:spcAft>
                <a:spcPts val="0"/>
              </a:spcAft>
              <a:buNone/>
            </a:pPr>
            <a:endParaRPr sz="1500" i="1">
              <a:solidFill>
                <a:schemeClr val="dk1"/>
              </a:solidFill>
            </a:endParaRPr>
          </a:p>
          <a:p>
            <a:pPr marL="0" lvl="0" indent="0" algn="l" rtl="0">
              <a:lnSpc>
                <a:spcPct val="100000"/>
              </a:lnSpc>
              <a:spcBef>
                <a:spcPts val="0"/>
              </a:spcBef>
              <a:spcAft>
                <a:spcPts val="0"/>
              </a:spcAft>
              <a:buNone/>
            </a:pPr>
            <a:r>
              <a:rPr lang="hu" sz="1500">
                <a:solidFill>
                  <a:schemeClr val="dk1"/>
                </a:solidFill>
              </a:rPr>
              <a:t>A MinValue(state, alpha, beta) hasonló fv, csak alpha és beta szerepe felcserélődik</a:t>
            </a:r>
            <a:endParaRPr sz="15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hu"/>
              <a:t>α-β tulajdonságai</a:t>
            </a:r>
            <a:endParaRPr/>
          </a:p>
        </p:txBody>
      </p:sp>
      <p:sp>
        <p:nvSpPr>
          <p:cNvPr id="169" name="Google Shape;169;p3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Char char="●"/>
            </a:pPr>
            <a:r>
              <a:rPr lang="hu">
                <a:solidFill>
                  <a:schemeClr val="dk1"/>
                </a:solidFill>
              </a:rPr>
              <a:t>a nyesés nincs hatással a végeredményre</a:t>
            </a:r>
            <a:endParaRPr>
              <a:solidFill>
                <a:schemeClr val="dk1"/>
              </a:solidFill>
            </a:endParaRPr>
          </a:p>
          <a:p>
            <a:pPr marL="457200" lvl="0" indent="-342900" algn="l" rtl="0">
              <a:spcBef>
                <a:spcPts val="0"/>
              </a:spcBef>
              <a:spcAft>
                <a:spcPts val="0"/>
              </a:spcAft>
              <a:buClr>
                <a:schemeClr val="dk1"/>
              </a:buClr>
              <a:buSzPts val="1800"/>
              <a:buChar char="●"/>
            </a:pPr>
            <a:r>
              <a:rPr lang="hu">
                <a:solidFill>
                  <a:schemeClr val="dk1"/>
                </a:solidFill>
              </a:rPr>
              <a:t>a lépések átrendezése növelheti a nyesés hatékonyságát</a:t>
            </a:r>
            <a:endParaRPr>
              <a:solidFill>
                <a:schemeClr val="dk1"/>
              </a:solidFill>
            </a:endParaRPr>
          </a:p>
          <a:p>
            <a:pPr marL="457200" lvl="0" indent="-342900" algn="l" rtl="0">
              <a:spcBef>
                <a:spcPts val="0"/>
              </a:spcBef>
              <a:spcAft>
                <a:spcPts val="0"/>
              </a:spcAft>
              <a:buClr>
                <a:schemeClr val="dk1"/>
              </a:buClr>
              <a:buSzPts val="1800"/>
              <a:buChar char="●"/>
            </a:pPr>
            <a:r>
              <a:rPr lang="hu">
                <a:solidFill>
                  <a:schemeClr val="dk1"/>
                </a:solidFill>
              </a:rPr>
              <a:t>„tökéletes” sorrend esetén az időbonyolultság O(b</a:t>
            </a:r>
            <a:r>
              <a:rPr lang="hu" baseline="30000">
                <a:solidFill>
                  <a:schemeClr val="dk1"/>
                </a:solidFill>
              </a:rPr>
              <a:t>m/2</a:t>
            </a:r>
            <a:r>
              <a:rPr lang="hu">
                <a:solidFill>
                  <a:schemeClr val="dk1"/>
                </a:solidFill>
              </a:rPr>
              <a:t>)</a:t>
            </a:r>
            <a:endParaRPr>
              <a:solidFill>
                <a:schemeClr val="dk1"/>
              </a:solidFill>
            </a:endParaRPr>
          </a:p>
          <a:p>
            <a:pPr marL="914400" lvl="1" indent="-317500" algn="l" rtl="0">
              <a:spcBef>
                <a:spcPts val="0"/>
              </a:spcBef>
              <a:spcAft>
                <a:spcPts val="0"/>
              </a:spcAft>
              <a:buClr>
                <a:schemeClr val="dk1"/>
              </a:buClr>
              <a:buSzPts val="1400"/>
              <a:buChar char="○"/>
            </a:pPr>
            <a:r>
              <a:rPr lang="hu">
                <a:solidFill>
                  <a:schemeClr val="dk1"/>
                </a:solidFill>
              </a:rPr>
              <a:t>a keresési mélység megduplázható</a:t>
            </a:r>
            <a:endParaRPr>
              <a:solidFill>
                <a:schemeClr val="dk1"/>
              </a:solidFill>
            </a:endParaRPr>
          </a:p>
          <a:p>
            <a:pPr marL="457200" lvl="0" indent="-342900" algn="l" rtl="0">
              <a:spcBef>
                <a:spcPts val="0"/>
              </a:spcBef>
              <a:spcAft>
                <a:spcPts val="0"/>
              </a:spcAft>
              <a:buClr>
                <a:schemeClr val="dk1"/>
              </a:buClr>
              <a:buSzPts val="1800"/>
              <a:buChar char="●"/>
            </a:pPr>
            <a:r>
              <a:rPr lang="hu">
                <a:solidFill>
                  <a:schemeClr val="dk1"/>
                </a:solidFill>
              </a:rPr>
              <a:t>35</a:t>
            </a:r>
            <a:r>
              <a:rPr lang="hu" baseline="30000">
                <a:solidFill>
                  <a:schemeClr val="dk1"/>
                </a:solidFill>
              </a:rPr>
              <a:t>50</a:t>
            </a:r>
            <a:r>
              <a:rPr lang="hu">
                <a:solidFill>
                  <a:schemeClr val="dk1"/>
                </a:solidFill>
              </a:rPr>
              <a:t> még mindig hatalmas szám</a:t>
            </a:r>
            <a:endParaRPr>
              <a:solidFill>
                <a:schemeClr val="dk1"/>
              </a:solidFill>
            </a:endParaRPr>
          </a:p>
          <a:p>
            <a:pPr marL="457200" lvl="0" indent="-342900" algn="l" rtl="0">
              <a:spcBef>
                <a:spcPts val="0"/>
              </a:spcBef>
              <a:spcAft>
                <a:spcPts val="0"/>
              </a:spcAft>
              <a:buClr>
                <a:schemeClr val="dk1"/>
              </a:buClr>
              <a:buSzPts val="1800"/>
              <a:buChar char="●"/>
            </a:pPr>
            <a:r>
              <a:rPr lang="hu">
                <a:solidFill>
                  <a:schemeClr val="dk1"/>
                </a:solidFill>
              </a:rPr>
              <a:t> egyszerű példa annak bemutatására, hogy mennyire hasznos a következtetés annak belátására, hogy mely számítások relevánsak</a:t>
            </a:r>
            <a:endParaRPr>
              <a:solidFill>
                <a:schemeClr val="dk1"/>
              </a:solidFill>
            </a:endParaRPr>
          </a:p>
          <a:p>
            <a:pPr marL="0" lvl="0" indent="0" algn="l" rtl="0">
              <a:spcBef>
                <a:spcPts val="1600"/>
              </a:spcBef>
              <a:spcAft>
                <a:spcPts val="1600"/>
              </a:spcAft>
              <a:buNone/>
            </a:pPr>
            <a:endParaRPr>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Korlátozott erőforrások</a:t>
            </a:r>
            <a:endParaRPr/>
          </a:p>
        </p:txBody>
      </p:sp>
      <p:sp>
        <p:nvSpPr>
          <p:cNvPr id="175" name="Google Shape;175;p3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Char char="●"/>
            </a:pPr>
            <a:r>
              <a:rPr lang="hu">
                <a:solidFill>
                  <a:schemeClr val="dk1"/>
                </a:solidFill>
              </a:rPr>
              <a:t>Szokásos megoldás</a:t>
            </a:r>
            <a:endParaRPr>
              <a:solidFill>
                <a:schemeClr val="dk1"/>
              </a:solidFill>
            </a:endParaRPr>
          </a:p>
          <a:p>
            <a:pPr marL="914400" lvl="1" indent="-317500" algn="l" rtl="0">
              <a:spcBef>
                <a:spcPts val="0"/>
              </a:spcBef>
              <a:spcAft>
                <a:spcPts val="0"/>
              </a:spcAft>
              <a:buClr>
                <a:schemeClr val="dk1"/>
              </a:buClr>
              <a:buSzPts val="1400"/>
              <a:buChar char="○"/>
            </a:pPr>
            <a:r>
              <a:rPr lang="hu" b="1">
                <a:solidFill>
                  <a:schemeClr val="dk1"/>
                </a:solidFill>
                <a:latin typeface="Courier New"/>
                <a:ea typeface="Courier New"/>
                <a:cs typeface="Courier New"/>
                <a:sym typeface="Courier New"/>
              </a:rPr>
              <a:t>Cutoff-Test</a:t>
            </a:r>
            <a:r>
              <a:rPr lang="hu">
                <a:solidFill>
                  <a:schemeClr val="dk1"/>
                </a:solidFill>
              </a:rPr>
              <a:t> a </a:t>
            </a:r>
            <a:r>
              <a:rPr lang="hu" b="1">
                <a:solidFill>
                  <a:schemeClr val="dk1"/>
                </a:solidFill>
                <a:latin typeface="Courier New"/>
                <a:ea typeface="Courier New"/>
                <a:cs typeface="Courier New"/>
                <a:sym typeface="Courier New"/>
              </a:rPr>
              <a:t>Terminal-Test</a:t>
            </a:r>
            <a:r>
              <a:rPr lang="hu">
                <a:solidFill>
                  <a:schemeClr val="dk1"/>
                </a:solidFill>
              </a:rPr>
              <a:t> helyett</a:t>
            </a:r>
            <a:endParaRPr>
              <a:solidFill>
                <a:schemeClr val="dk1"/>
              </a:solidFill>
            </a:endParaRPr>
          </a:p>
          <a:p>
            <a:pPr marL="914400" lvl="1" indent="-317500" algn="l" rtl="0">
              <a:spcBef>
                <a:spcPts val="0"/>
              </a:spcBef>
              <a:spcAft>
                <a:spcPts val="0"/>
              </a:spcAft>
              <a:buClr>
                <a:schemeClr val="dk1"/>
              </a:buClr>
              <a:buSzPts val="1400"/>
              <a:buChar char="○"/>
            </a:pPr>
            <a:r>
              <a:rPr lang="hu">
                <a:solidFill>
                  <a:schemeClr val="dk1"/>
                </a:solidFill>
              </a:rPr>
              <a:t>mélységi korlát (egyensúly állapotok keresése, ahol nincs nagy változás)</a:t>
            </a:r>
            <a:endParaRPr>
              <a:solidFill>
                <a:schemeClr val="dk1"/>
              </a:solidFill>
            </a:endParaRPr>
          </a:p>
          <a:p>
            <a:pPr marL="457200" lvl="0" indent="-342900" algn="l" rtl="0">
              <a:spcBef>
                <a:spcPts val="0"/>
              </a:spcBef>
              <a:spcAft>
                <a:spcPts val="0"/>
              </a:spcAft>
              <a:buClr>
                <a:schemeClr val="dk1"/>
              </a:buClr>
              <a:buSzPts val="1800"/>
              <a:buChar char="●"/>
            </a:pPr>
            <a:r>
              <a:rPr lang="hu">
                <a:solidFill>
                  <a:schemeClr val="dk1"/>
                </a:solidFill>
              </a:rPr>
              <a:t>heurisztikus </a:t>
            </a:r>
            <a:r>
              <a:rPr lang="hu" b="1">
                <a:solidFill>
                  <a:schemeClr val="dk1"/>
                </a:solidFill>
                <a:latin typeface="Courier New"/>
                <a:ea typeface="Courier New"/>
                <a:cs typeface="Courier New"/>
                <a:sym typeface="Courier New"/>
              </a:rPr>
              <a:t>Eval</a:t>
            </a:r>
            <a:r>
              <a:rPr lang="hu">
                <a:solidFill>
                  <a:schemeClr val="dk1"/>
                </a:solidFill>
              </a:rPr>
              <a:t> használata a </a:t>
            </a:r>
            <a:r>
              <a:rPr lang="hu" b="1">
                <a:solidFill>
                  <a:schemeClr val="dk1"/>
                </a:solidFill>
                <a:latin typeface="Courier New"/>
                <a:ea typeface="Courier New"/>
                <a:cs typeface="Courier New"/>
                <a:sym typeface="Courier New"/>
              </a:rPr>
              <a:t>Utility</a:t>
            </a:r>
            <a:r>
              <a:rPr lang="hu">
                <a:solidFill>
                  <a:schemeClr val="dk1"/>
                </a:solidFill>
              </a:rPr>
              <a:t> helyett</a:t>
            </a:r>
            <a:endParaRPr>
              <a:solidFill>
                <a:schemeClr val="dk1"/>
              </a:solidFill>
            </a:endParaRPr>
          </a:p>
          <a:p>
            <a:pPr marL="914400" lvl="1" indent="-317500" algn="l" rtl="0">
              <a:spcBef>
                <a:spcPts val="0"/>
              </a:spcBef>
              <a:spcAft>
                <a:spcPts val="0"/>
              </a:spcAft>
              <a:buClr>
                <a:schemeClr val="dk1"/>
              </a:buClr>
              <a:buSzPts val="1400"/>
              <a:buChar char="○"/>
            </a:pPr>
            <a:r>
              <a:rPr lang="hu">
                <a:solidFill>
                  <a:schemeClr val="dk1"/>
                </a:solidFill>
              </a:rPr>
              <a:t>kiértékelő függvény, mely az állapot/pozíció kívánatosságát adja meg</a:t>
            </a:r>
            <a:endParaRPr>
              <a:solidFill>
                <a:schemeClr val="dk1"/>
              </a:solidFill>
            </a:endParaRPr>
          </a:p>
          <a:p>
            <a:pPr marL="457200" lvl="0" indent="-342900" algn="l" rtl="0">
              <a:spcBef>
                <a:spcPts val="0"/>
              </a:spcBef>
              <a:spcAft>
                <a:spcPts val="0"/>
              </a:spcAft>
              <a:buClr>
                <a:schemeClr val="dk1"/>
              </a:buClr>
              <a:buSzPts val="1800"/>
              <a:buChar char="●"/>
            </a:pPr>
            <a:r>
              <a:rPr lang="hu">
                <a:solidFill>
                  <a:schemeClr val="dk1"/>
                </a:solidFill>
              </a:rPr>
              <a:t>Tegyük fel, hogy 100 másodpercünk van és 10</a:t>
            </a:r>
            <a:r>
              <a:rPr lang="hu" baseline="30000">
                <a:solidFill>
                  <a:schemeClr val="dk1"/>
                </a:solidFill>
              </a:rPr>
              <a:t>4</a:t>
            </a:r>
            <a:r>
              <a:rPr lang="hu">
                <a:solidFill>
                  <a:schemeClr val="dk1"/>
                </a:solidFill>
              </a:rPr>
              <a:t> csúcs/s sebességgel haladunk</a:t>
            </a:r>
            <a:endParaRPr>
              <a:solidFill>
                <a:schemeClr val="dk1"/>
              </a:solidFill>
            </a:endParaRPr>
          </a:p>
          <a:p>
            <a:pPr marL="914400" lvl="1" indent="-317500" algn="l" rtl="0">
              <a:spcBef>
                <a:spcPts val="0"/>
              </a:spcBef>
              <a:spcAft>
                <a:spcPts val="0"/>
              </a:spcAft>
              <a:buClr>
                <a:schemeClr val="dk1"/>
              </a:buClr>
              <a:buSzPts val="1400"/>
              <a:buChar char="○"/>
            </a:pPr>
            <a:r>
              <a:rPr lang="hu">
                <a:solidFill>
                  <a:schemeClr val="dk1"/>
                </a:solidFill>
              </a:rPr>
              <a:t>⇒ 10</a:t>
            </a:r>
            <a:r>
              <a:rPr lang="hu" baseline="30000">
                <a:solidFill>
                  <a:schemeClr val="dk1"/>
                </a:solidFill>
              </a:rPr>
              <a:t>6</a:t>
            </a:r>
            <a:r>
              <a:rPr lang="hu">
                <a:solidFill>
                  <a:schemeClr val="dk1"/>
                </a:solidFill>
              </a:rPr>
              <a:t> csúcs lépésenként, ≈ 35</a:t>
            </a:r>
            <a:r>
              <a:rPr lang="hu" baseline="30000">
                <a:solidFill>
                  <a:schemeClr val="dk1"/>
                </a:solidFill>
              </a:rPr>
              <a:t>4 </a:t>
            </a:r>
            <a:endParaRPr>
              <a:solidFill>
                <a:schemeClr val="dk1"/>
              </a:solidFill>
            </a:endParaRPr>
          </a:p>
          <a:p>
            <a:pPr marL="914400" lvl="1" indent="-317500" algn="l" rtl="0">
              <a:spcBef>
                <a:spcPts val="0"/>
              </a:spcBef>
              <a:spcAft>
                <a:spcPts val="0"/>
              </a:spcAft>
              <a:buClr>
                <a:schemeClr val="dk1"/>
              </a:buClr>
              <a:buSzPts val="1400"/>
              <a:buChar char="○"/>
            </a:pPr>
            <a:r>
              <a:rPr lang="hu">
                <a:solidFill>
                  <a:schemeClr val="dk1"/>
                </a:solidFill>
              </a:rPr>
              <a:t>alfa-béta eléri a 8 mélységet ⇒ jó képességű sakkprogram</a:t>
            </a:r>
            <a:endParaRPr>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7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3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Kiértékelő függvények</a:t>
            </a:r>
            <a:endParaRPr/>
          </a:p>
        </p:txBody>
      </p:sp>
      <p:sp>
        <p:nvSpPr>
          <p:cNvPr id="181" name="Google Shape;181;p33"/>
          <p:cNvSpPr txBox="1">
            <a:spLocks noGrp="1"/>
          </p:cNvSpPr>
          <p:nvPr>
            <p:ph type="body" idx="1"/>
          </p:nvPr>
        </p:nvSpPr>
        <p:spPr>
          <a:xfrm>
            <a:off x="311700" y="1152475"/>
            <a:ext cx="42540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solidFill>
                  <a:schemeClr val="dk1"/>
                </a:solidFill>
              </a:rPr>
              <a:t>Sakk esetén rendszerint tulajdonságok lineárisan súlyozott összege</a:t>
            </a:r>
            <a:endParaRPr>
              <a:solidFill>
                <a:schemeClr val="dk1"/>
              </a:solidFill>
            </a:endParaRPr>
          </a:p>
          <a:p>
            <a:pPr marL="0" lvl="0" indent="0" algn="ctr" rtl="0">
              <a:spcBef>
                <a:spcPts val="1600"/>
              </a:spcBef>
              <a:spcAft>
                <a:spcPts val="0"/>
              </a:spcAft>
              <a:buNone/>
            </a:pPr>
            <a:r>
              <a:rPr lang="hu">
                <a:solidFill>
                  <a:schemeClr val="dk1"/>
                </a:solidFill>
              </a:rPr>
              <a:t>Eval(s) = w</a:t>
            </a:r>
            <a:r>
              <a:rPr lang="hu" baseline="-25000">
                <a:solidFill>
                  <a:schemeClr val="dk1"/>
                </a:solidFill>
              </a:rPr>
              <a:t>1</a:t>
            </a:r>
            <a:r>
              <a:rPr lang="hu">
                <a:solidFill>
                  <a:schemeClr val="dk1"/>
                </a:solidFill>
              </a:rPr>
              <a:t>f</a:t>
            </a:r>
            <a:r>
              <a:rPr lang="hu" baseline="-25000">
                <a:solidFill>
                  <a:schemeClr val="dk1"/>
                </a:solidFill>
              </a:rPr>
              <a:t>1</a:t>
            </a:r>
            <a:r>
              <a:rPr lang="hu">
                <a:solidFill>
                  <a:schemeClr val="dk1"/>
                </a:solidFill>
              </a:rPr>
              <a:t>(s)+ … + w</a:t>
            </a:r>
            <a:r>
              <a:rPr lang="hu" baseline="-25000">
                <a:solidFill>
                  <a:schemeClr val="dk1"/>
                </a:solidFill>
              </a:rPr>
              <a:t>n</a:t>
            </a:r>
            <a:r>
              <a:rPr lang="hu">
                <a:solidFill>
                  <a:schemeClr val="dk1"/>
                </a:solidFill>
              </a:rPr>
              <a:t>f</a:t>
            </a:r>
            <a:r>
              <a:rPr lang="hu" baseline="-25000">
                <a:solidFill>
                  <a:schemeClr val="dk1"/>
                </a:solidFill>
              </a:rPr>
              <a:t>n</a:t>
            </a:r>
            <a:r>
              <a:rPr lang="hu">
                <a:solidFill>
                  <a:schemeClr val="dk1"/>
                </a:solidFill>
              </a:rPr>
              <a:t>(s)</a:t>
            </a:r>
            <a:endParaRPr>
              <a:solidFill>
                <a:schemeClr val="dk1"/>
              </a:solidFill>
            </a:endParaRPr>
          </a:p>
          <a:p>
            <a:pPr marL="0" lvl="0" indent="0" algn="l" rtl="0">
              <a:spcBef>
                <a:spcPts val="1600"/>
              </a:spcBef>
              <a:spcAft>
                <a:spcPts val="1600"/>
              </a:spcAft>
              <a:buNone/>
            </a:pPr>
            <a:r>
              <a:rPr lang="hu">
                <a:solidFill>
                  <a:schemeClr val="dk1"/>
                </a:solidFill>
              </a:rPr>
              <a:t>ahol pl. w</a:t>
            </a:r>
            <a:r>
              <a:rPr lang="hu" baseline="-25000">
                <a:solidFill>
                  <a:schemeClr val="dk1"/>
                </a:solidFill>
              </a:rPr>
              <a:t>1</a:t>
            </a:r>
            <a:r>
              <a:rPr lang="hu">
                <a:solidFill>
                  <a:schemeClr val="dk1"/>
                </a:solidFill>
              </a:rPr>
              <a:t> = 9, f</a:t>
            </a:r>
            <a:r>
              <a:rPr lang="hu" baseline="-25000">
                <a:solidFill>
                  <a:schemeClr val="dk1"/>
                </a:solidFill>
              </a:rPr>
              <a:t>1</a:t>
            </a:r>
            <a:r>
              <a:rPr lang="hu">
                <a:solidFill>
                  <a:schemeClr val="dk1"/>
                </a:solidFill>
              </a:rPr>
              <a:t>(s) a fehér vezérek száma - fekete vezérek száma</a:t>
            </a:r>
            <a:endParaRPr>
              <a:solidFill>
                <a:schemeClr val="dk1"/>
              </a:solidFill>
            </a:endParaRPr>
          </a:p>
        </p:txBody>
      </p:sp>
      <p:pic>
        <p:nvPicPr>
          <p:cNvPr id="182" name="Google Shape;182;p33"/>
          <p:cNvPicPr preferRelativeResize="0"/>
          <p:nvPr/>
        </p:nvPicPr>
        <p:blipFill>
          <a:blip r:embed="rId3">
            <a:alphaModFix/>
          </a:blip>
          <a:stretch>
            <a:fillRect/>
          </a:stretch>
        </p:blipFill>
        <p:spPr>
          <a:xfrm>
            <a:off x="4694350" y="1869082"/>
            <a:ext cx="4137950" cy="19222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3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Kitérő: a pontos érték nem számít</a:t>
            </a:r>
            <a:endParaRPr/>
          </a:p>
        </p:txBody>
      </p:sp>
      <p:sp>
        <p:nvSpPr>
          <p:cNvPr id="188" name="Google Shape;188;p3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Char char="●"/>
            </a:pPr>
            <a:r>
              <a:rPr lang="hu">
                <a:solidFill>
                  <a:schemeClr val="dk1"/>
                </a:solidFill>
              </a:rPr>
              <a:t>a viselkedés megmarad az Eval bármely </a:t>
            </a:r>
            <a:r>
              <a:rPr lang="hu" i="1">
                <a:solidFill>
                  <a:schemeClr val="dk1"/>
                </a:solidFill>
              </a:rPr>
              <a:t>monoton</a:t>
            </a:r>
            <a:r>
              <a:rPr lang="hu">
                <a:solidFill>
                  <a:schemeClr val="dk1"/>
                </a:solidFill>
              </a:rPr>
              <a:t> transzformációja során</a:t>
            </a:r>
            <a:endParaRPr>
              <a:solidFill>
                <a:schemeClr val="dk1"/>
              </a:solidFill>
            </a:endParaRPr>
          </a:p>
          <a:p>
            <a:pPr marL="457200" lvl="0" indent="-342900" algn="l" rtl="0">
              <a:spcBef>
                <a:spcPts val="0"/>
              </a:spcBef>
              <a:spcAft>
                <a:spcPts val="0"/>
              </a:spcAft>
              <a:buClr>
                <a:schemeClr val="dk1"/>
              </a:buClr>
              <a:buSzPts val="1800"/>
              <a:buChar char="●"/>
            </a:pPr>
            <a:r>
              <a:rPr lang="hu">
                <a:solidFill>
                  <a:schemeClr val="dk1"/>
                </a:solidFill>
              </a:rPr>
              <a:t>csak a sorrend számít</a:t>
            </a:r>
            <a:endParaRPr>
              <a:solidFill>
                <a:schemeClr val="dk1"/>
              </a:solidFill>
            </a:endParaRPr>
          </a:p>
          <a:p>
            <a:pPr marL="914400" lvl="1" indent="-317500" algn="l" rtl="0">
              <a:spcBef>
                <a:spcPts val="0"/>
              </a:spcBef>
              <a:spcAft>
                <a:spcPts val="0"/>
              </a:spcAft>
              <a:buClr>
                <a:schemeClr val="dk1"/>
              </a:buClr>
              <a:buSzPts val="1400"/>
              <a:buChar char="○"/>
            </a:pPr>
            <a:r>
              <a:rPr lang="hu">
                <a:solidFill>
                  <a:schemeClr val="dk1"/>
                </a:solidFill>
              </a:rPr>
              <a:t>determinisztikus játékok végeredménye tekinthető hasznosságfüggvénynek</a:t>
            </a:r>
            <a:endParaRPr>
              <a:solidFill>
                <a:schemeClr val="dk1"/>
              </a:solidFill>
            </a:endParaRPr>
          </a:p>
        </p:txBody>
      </p:sp>
      <p:pic>
        <p:nvPicPr>
          <p:cNvPr id="189" name="Google Shape;189;p34"/>
          <p:cNvPicPr preferRelativeResize="0"/>
          <p:nvPr/>
        </p:nvPicPr>
        <p:blipFill>
          <a:blip r:embed="rId3">
            <a:alphaModFix/>
          </a:blip>
          <a:stretch>
            <a:fillRect/>
          </a:stretch>
        </p:blipFill>
        <p:spPr>
          <a:xfrm>
            <a:off x="4177363" y="2450775"/>
            <a:ext cx="4429125" cy="12763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Determinisztikus játékok a gyakorlatban</a:t>
            </a:r>
            <a:endParaRPr/>
          </a:p>
        </p:txBody>
      </p:sp>
      <p:sp>
        <p:nvSpPr>
          <p:cNvPr id="195" name="Google Shape;195;p3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Char char="●"/>
            </a:pPr>
            <a:r>
              <a:rPr lang="hu" b="1">
                <a:solidFill>
                  <a:schemeClr val="dk1"/>
                </a:solidFill>
              </a:rPr>
              <a:t>dáma</a:t>
            </a:r>
            <a:r>
              <a:rPr lang="hu">
                <a:solidFill>
                  <a:schemeClr val="dk1"/>
                </a:solidFill>
              </a:rPr>
              <a:t> (1994), egy PC-n futó program (Chinook) megverte a világbajnokot. Közel 444 milliárd állás alapján épült fel a végjáték-adatbázisa a 8 vagy kevesebb figurát tartalmazó állások tökéletes kezelésére.</a:t>
            </a:r>
            <a:endParaRPr>
              <a:solidFill>
                <a:schemeClr val="dk1"/>
              </a:solidFill>
            </a:endParaRPr>
          </a:p>
          <a:p>
            <a:pPr marL="457200" lvl="0" indent="-342900" algn="l" rtl="0">
              <a:spcBef>
                <a:spcPts val="0"/>
              </a:spcBef>
              <a:spcAft>
                <a:spcPts val="0"/>
              </a:spcAft>
              <a:buClr>
                <a:schemeClr val="dk1"/>
              </a:buClr>
              <a:buSzPts val="1800"/>
              <a:buChar char="●"/>
            </a:pPr>
            <a:r>
              <a:rPr lang="hu" b="1">
                <a:solidFill>
                  <a:schemeClr val="dk1"/>
                </a:solidFill>
              </a:rPr>
              <a:t>sakk</a:t>
            </a:r>
            <a:r>
              <a:rPr lang="hu">
                <a:solidFill>
                  <a:schemeClr val="dk1"/>
                </a:solidFill>
              </a:rPr>
              <a:t> (1997), Deep Blue (30 db. IBM RS/6000 + 480 célprocesszor, 2ⅹ10</a:t>
            </a:r>
            <a:r>
              <a:rPr lang="hu" baseline="30000">
                <a:solidFill>
                  <a:schemeClr val="dk1"/>
                </a:solidFill>
              </a:rPr>
              <a:t>8</a:t>
            </a:r>
            <a:r>
              <a:rPr lang="hu">
                <a:solidFill>
                  <a:schemeClr val="dk1"/>
                </a:solidFill>
              </a:rPr>
              <a:t> állás/s, 40 lépésig keresés, 8000 tulajdonság) 6 játszmás összecsapás</a:t>
            </a:r>
            <a:endParaRPr>
              <a:solidFill>
                <a:schemeClr val="dk1"/>
              </a:solidFill>
            </a:endParaRPr>
          </a:p>
          <a:p>
            <a:pPr marL="457200" lvl="0" indent="-342900" algn="l" rtl="0">
              <a:spcBef>
                <a:spcPts val="0"/>
              </a:spcBef>
              <a:spcAft>
                <a:spcPts val="0"/>
              </a:spcAft>
              <a:buClr>
                <a:schemeClr val="dk1"/>
              </a:buClr>
              <a:buSzPts val="1800"/>
              <a:buChar char="●"/>
            </a:pPr>
            <a:r>
              <a:rPr lang="hu" b="1">
                <a:solidFill>
                  <a:schemeClr val="dk1"/>
                </a:solidFill>
              </a:rPr>
              <a:t>othello</a:t>
            </a:r>
            <a:r>
              <a:rPr lang="hu">
                <a:solidFill>
                  <a:schemeClr val="dk1"/>
                </a:solidFill>
              </a:rPr>
              <a:t>/reversi (2002) 6-0-ra megverte a világbajnokot</a:t>
            </a:r>
            <a:endParaRPr>
              <a:solidFill>
                <a:schemeClr val="dk1"/>
              </a:solidFill>
            </a:endParaRPr>
          </a:p>
          <a:p>
            <a:pPr marL="457200" lvl="0" indent="-342900" algn="l" rtl="0">
              <a:spcBef>
                <a:spcPts val="0"/>
              </a:spcBef>
              <a:spcAft>
                <a:spcPts val="0"/>
              </a:spcAft>
              <a:buClr>
                <a:schemeClr val="dk1"/>
              </a:buClr>
              <a:buSzPts val="1800"/>
              <a:buChar char="●"/>
            </a:pPr>
            <a:r>
              <a:rPr lang="hu" b="1">
                <a:solidFill>
                  <a:schemeClr val="dk1"/>
                </a:solidFill>
              </a:rPr>
              <a:t>go</a:t>
            </a:r>
            <a:endParaRPr b="1">
              <a:solidFill>
                <a:schemeClr val="dk1"/>
              </a:solidFill>
            </a:endParaRPr>
          </a:p>
          <a:p>
            <a:pPr marL="914400" lvl="1" indent="-317500" algn="l" rtl="0">
              <a:spcBef>
                <a:spcPts val="0"/>
              </a:spcBef>
              <a:spcAft>
                <a:spcPts val="0"/>
              </a:spcAft>
              <a:buClr>
                <a:schemeClr val="dk1"/>
              </a:buClr>
              <a:buSzPts val="1400"/>
              <a:buChar char="○"/>
            </a:pPr>
            <a:r>
              <a:rPr lang="hu">
                <a:solidFill>
                  <a:schemeClr val="dk1"/>
                </a:solidFill>
              </a:rPr>
              <a:t>b&gt;300, hatalmas keresési tér, igen gyenge játékosok (2004)</a:t>
            </a:r>
            <a:endParaRPr>
              <a:solidFill>
                <a:schemeClr val="dk1"/>
              </a:solidFill>
            </a:endParaRPr>
          </a:p>
          <a:p>
            <a:pPr marL="914400" lvl="1" indent="-317500" algn="l" rtl="0">
              <a:spcBef>
                <a:spcPts val="0"/>
              </a:spcBef>
              <a:spcAft>
                <a:spcPts val="0"/>
              </a:spcAft>
              <a:buClr>
                <a:schemeClr val="dk1"/>
              </a:buClr>
              <a:buSzPts val="1400"/>
              <a:buChar char="○"/>
            </a:pPr>
            <a:r>
              <a:rPr lang="hu">
                <a:solidFill>
                  <a:schemeClr val="dk1"/>
                </a:solidFill>
              </a:rPr>
              <a:t>2016 március, AlphaGo (Google) 4-1-re megverte a 9 danos mestert </a:t>
            </a:r>
            <a:endParaRPr>
              <a:solidFill>
                <a:schemeClr val="dk1"/>
              </a:solidFill>
            </a:endParaRPr>
          </a:p>
          <a:p>
            <a:pPr marL="0" lvl="0" indent="0" algn="l" rtl="0">
              <a:spcBef>
                <a:spcPts val="1600"/>
              </a:spcBef>
              <a:spcAft>
                <a:spcPts val="1600"/>
              </a:spcAft>
              <a:buNone/>
            </a:pPr>
            <a:endParaRPr>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3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Nemdeterminisztikus játékok:</a:t>
            </a:r>
            <a:endParaRPr/>
          </a:p>
          <a:p>
            <a:pPr marL="0" lvl="0" indent="0" algn="l" rtl="0">
              <a:spcBef>
                <a:spcPts val="0"/>
              </a:spcBef>
              <a:spcAft>
                <a:spcPts val="0"/>
              </a:spcAft>
              <a:buNone/>
            </a:pPr>
            <a:r>
              <a:rPr lang="hu"/>
              <a:t>ostábla/backgammon</a:t>
            </a:r>
            <a:endParaRPr/>
          </a:p>
        </p:txBody>
      </p:sp>
      <p:pic>
        <p:nvPicPr>
          <p:cNvPr id="201" name="Google Shape;201;p36"/>
          <p:cNvPicPr preferRelativeResize="0"/>
          <p:nvPr/>
        </p:nvPicPr>
        <p:blipFill>
          <a:blip r:embed="rId3">
            <a:alphaModFix/>
          </a:blip>
          <a:stretch>
            <a:fillRect/>
          </a:stretch>
        </p:blipFill>
        <p:spPr>
          <a:xfrm>
            <a:off x="5099125" y="1017724"/>
            <a:ext cx="4044875" cy="4105125"/>
          </a:xfrm>
          <a:prstGeom prst="rect">
            <a:avLst/>
          </a:prstGeom>
          <a:noFill/>
          <a:ln>
            <a:noFill/>
          </a:ln>
        </p:spPr>
      </p:pic>
      <p:sp>
        <p:nvSpPr>
          <p:cNvPr id="202" name="Google Shape;202;p36"/>
          <p:cNvSpPr txBox="1"/>
          <p:nvPr/>
        </p:nvSpPr>
        <p:spPr>
          <a:xfrm>
            <a:off x="485100" y="1712125"/>
            <a:ext cx="3616800" cy="297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hu" sz="1800">
                <a:solidFill>
                  <a:schemeClr val="dk1"/>
                </a:solidFill>
              </a:rPr>
              <a:t>kockadobás alapján dől el, hogy mennyit léphet a játékos.</a:t>
            </a:r>
            <a:endParaRPr sz="1800">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3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Nemdeterminisztikus játékok általában</a:t>
            </a:r>
            <a:endParaRPr/>
          </a:p>
        </p:txBody>
      </p:sp>
      <p:sp>
        <p:nvSpPr>
          <p:cNvPr id="208" name="Google Shape;208;p37"/>
          <p:cNvSpPr txBox="1">
            <a:spLocks noGrp="1"/>
          </p:cNvSpPr>
          <p:nvPr>
            <p:ph type="body" idx="1"/>
          </p:nvPr>
        </p:nvSpPr>
        <p:spPr>
          <a:xfrm>
            <a:off x="311700" y="1152475"/>
            <a:ext cx="5145600" cy="15615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Char char="●"/>
            </a:pPr>
            <a:r>
              <a:rPr lang="hu">
                <a:solidFill>
                  <a:schemeClr val="dk1"/>
                </a:solidFill>
              </a:rPr>
              <a:t>A nemdeterminisztikus játékokban a véletlen a kockadobással, kártyakeveréssel jelenik meg</a:t>
            </a:r>
            <a:endParaRPr>
              <a:solidFill>
                <a:schemeClr val="dk1"/>
              </a:solidFill>
            </a:endParaRPr>
          </a:p>
          <a:p>
            <a:pPr marL="457200" lvl="0" indent="-342900" algn="l" rtl="0">
              <a:spcBef>
                <a:spcPts val="0"/>
              </a:spcBef>
              <a:spcAft>
                <a:spcPts val="0"/>
              </a:spcAft>
              <a:buClr>
                <a:schemeClr val="dk1"/>
              </a:buClr>
              <a:buSzPts val="1800"/>
              <a:buChar char="●"/>
            </a:pPr>
            <a:r>
              <a:rPr lang="hu">
                <a:solidFill>
                  <a:schemeClr val="dk1"/>
                </a:solidFill>
              </a:rPr>
              <a:t>egyszerű játék pénzfeldobással:</a:t>
            </a:r>
            <a:endParaRPr>
              <a:solidFill>
                <a:schemeClr val="dk1"/>
              </a:solidFill>
            </a:endParaRPr>
          </a:p>
        </p:txBody>
      </p:sp>
      <p:pic>
        <p:nvPicPr>
          <p:cNvPr id="209" name="Google Shape;209;p37"/>
          <p:cNvPicPr preferRelativeResize="0"/>
          <p:nvPr/>
        </p:nvPicPr>
        <p:blipFill>
          <a:blip r:embed="rId3">
            <a:alphaModFix/>
          </a:blip>
          <a:stretch>
            <a:fillRect/>
          </a:stretch>
        </p:blipFill>
        <p:spPr>
          <a:xfrm>
            <a:off x="5510904" y="2061675"/>
            <a:ext cx="3321400" cy="25072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3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Algoritmus nemdeterminisztikus játékokra</a:t>
            </a:r>
            <a:endParaRPr/>
          </a:p>
        </p:txBody>
      </p:sp>
      <p:sp>
        <p:nvSpPr>
          <p:cNvPr id="215" name="Google Shape;215;p3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Char char="●"/>
            </a:pPr>
            <a:r>
              <a:rPr lang="hu">
                <a:solidFill>
                  <a:schemeClr val="dk1"/>
                </a:solidFill>
              </a:rPr>
              <a:t>az </a:t>
            </a:r>
            <a:r>
              <a:rPr lang="hu" b="1">
                <a:solidFill>
                  <a:schemeClr val="dk1"/>
                </a:solidFill>
                <a:latin typeface="Courier New"/>
                <a:ea typeface="Courier New"/>
                <a:cs typeface="Courier New"/>
                <a:sym typeface="Courier New"/>
              </a:rPr>
              <a:t>Expectiminimax</a:t>
            </a:r>
            <a:r>
              <a:rPr lang="hu">
                <a:solidFill>
                  <a:schemeClr val="dk1"/>
                </a:solidFill>
              </a:rPr>
              <a:t> tökéletes játszást eredményez</a:t>
            </a:r>
            <a:endParaRPr>
              <a:solidFill>
                <a:schemeClr val="dk1"/>
              </a:solidFill>
            </a:endParaRPr>
          </a:p>
          <a:p>
            <a:pPr marL="457200" lvl="0" indent="-342900" algn="l" rtl="0">
              <a:spcBef>
                <a:spcPts val="0"/>
              </a:spcBef>
              <a:spcAft>
                <a:spcPts val="0"/>
              </a:spcAft>
              <a:buClr>
                <a:schemeClr val="dk1"/>
              </a:buClr>
              <a:buSzPts val="1800"/>
              <a:buChar char="●"/>
            </a:pPr>
            <a:r>
              <a:rPr lang="hu">
                <a:solidFill>
                  <a:schemeClr val="dk1"/>
                </a:solidFill>
              </a:rPr>
              <a:t>hasonló a </a:t>
            </a:r>
            <a:r>
              <a:rPr lang="hu" b="1">
                <a:solidFill>
                  <a:schemeClr val="dk1"/>
                </a:solidFill>
                <a:latin typeface="Courier New"/>
                <a:ea typeface="Courier New"/>
                <a:cs typeface="Courier New"/>
                <a:sym typeface="Courier New"/>
              </a:rPr>
              <a:t>Minimax</a:t>
            </a:r>
            <a:r>
              <a:rPr lang="hu">
                <a:solidFill>
                  <a:schemeClr val="dk1"/>
                </a:solidFill>
              </a:rPr>
              <a:t>-hoz, csak kezeli a véletlent is:</a:t>
            </a:r>
            <a:endParaRPr>
              <a:solidFill>
                <a:schemeClr val="dk1"/>
              </a:solidFill>
            </a:endParaRPr>
          </a:p>
          <a:p>
            <a:pPr marL="914400" lvl="0" indent="0" algn="l" rtl="0">
              <a:spcBef>
                <a:spcPts val="1600"/>
              </a:spcBef>
              <a:spcAft>
                <a:spcPts val="0"/>
              </a:spcAft>
              <a:buNone/>
            </a:pPr>
            <a:r>
              <a:rPr lang="hu" sz="1600" i="1">
                <a:solidFill>
                  <a:schemeClr val="dk1"/>
                </a:solidFill>
              </a:rPr>
              <a:t>...</a:t>
            </a:r>
            <a:endParaRPr sz="1600" i="1">
              <a:solidFill>
                <a:schemeClr val="dk1"/>
              </a:solidFill>
            </a:endParaRPr>
          </a:p>
          <a:p>
            <a:pPr marL="914400" lvl="0" indent="0" algn="l" rtl="0">
              <a:spcBef>
                <a:spcPts val="0"/>
              </a:spcBef>
              <a:spcAft>
                <a:spcPts val="0"/>
              </a:spcAft>
              <a:buNone/>
            </a:pPr>
            <a:r>
              <a:rPr lang="hu" sz="1600" i="1">
                <a:solidFill>
                  <a:schemeClr val="dk1"/>
                </a:solidFill>
              </a:rPr>
              <a:t>if state is a MAX node then</a:t>
            </a:r>
            <a:endParaRPr sz="1600" i="1">
              <a:solidFill>
                <a:schemeClr val="dk1"/>
              </a:solidFill>
            </a:endParaRPr>
          </a:p>
          <a:p>
            <a:pPr marL="914400" lvl="0" indent="457200" algn="l" rtl="0">
              <a:spcBef>
                <a:spcPts val="0"/>
              </a:spcBef>
              <a:spcAft>
                <a:spcPts val="0"/>
              </a:spcAft>
              <a:buNone/>
            </a:pPr>
            <a:r>
              <a:rPr lang="hu" sz="1600" i="1">
                <a:solidFill>
                  <a:schemeClr val="dk1"/>
                </a:solidFill>
              </a:rPr>
              <a:t>return the highest ExpectiMinimax-Value of Successors(state)</a:t>
            </a:r>
            <a:endParaRPr sz="1600" i="1">
              <a:solidFill>
                <a:schemeClr val="dk1"/>
              </a:solidFill>
            </a:endParaRPr>
          </a:p>
          <a:p>
            <a:pPr marL="914400" lvl="0" indent="0" algn="l" rtl="0">
              <a:spcBef>
                <a:spcPts val="0"/>
              </a:spcBef>
              <a:spcAft>
                <a:spcPts val="0"/>
              </a:spcAft>
              <a:buNone/>
            </a:pPr>
            <a:r>
              <a:rPr lang="hu" sz="1600" i="1">
                <a:solidFill>
                  <a:schemeClr val="dk1"/>
                </a:solidFill>
              </a:rPr>
              <a:t>if state is a MIN node then</a:t>
            </a:r>
            <a:endParaRPr sz="1600" i="1">
              <a:solidFill>
                <a:schemeClr val="dk1"/>
              </a:solidFill>
            </a:endParaRPr>
          </a:p>
          <a:p>
            <a:pPr marL="914400" lvl="0" indent="457200" algn="l" rtl="0">
              <a:spcBef>
                <a:spcPts val="0"/>
              </a:spcBef>
              <a:spcAft>
                <a:spcPts val="0"/>
              </a:spcAft>
              <a:buNone/>
            </a:pPr>
            <a:r>
              <a:rPr lang="hu" sz="1600" i="1">
                <a:solidFill>
                  <a:schemeClr val="dk1"/>
                </a:solidFill>
              </a:rPr>
              <a:t>return the lowest ExpectiMinimax-Value of Successors(state)</a:t>
            </a:r>
            <a:endParaRPr sz="1600" i="1">
              <a:solidFill>
                <a:schemeClr val="dk1"/>
              </a:solidFill>
            </a:endParaRPr>
          </a:p>
          <a:p>
            <a:pPr marL="914400" lvl="0" indent="0" algn="l" rtl="0">
              <a:spcBef>
                <a:spcPts val="0"/>
              </a:spcBef>
              <a:spcAft>
                <a:spcPts val="0"/>
              </a:spcAft>
              <a:buNone/>
            </a:pPr>
            <a:r>
              <a:rPr lang="hu" sz="1600" i="1">
                <a:solidFill>
                  <a:schemeClr val="dk1"/>
                </a:solidFill>
              </a:rPr>
              <a:t>if state is a chance node then</a:t>
            </a:r>
            <a:endParaRPr sz="1600" i="1">
              <a:solidFill>
                <a:schemeClr val="dk1"/>
              </a:solidFill>
            </a:endParaRPr>
          </a:p>
          <a:p>
            <a:pPr marL="914400" lvl="0" indent="457200" algn="l" rtl="0">
              <a:spcBef>
                <a:spcPts val="0"/>
              </a:spcBef>
              <a:spcAft>
                <a:spcPts val="0"/>
              </a:spcAft>
              <a:buNone/>
            </a:pPr>
            <a:r>
              <a:rPr lang="hu" sz="1600" i="1">
                <a:solidFill>
                  <a:schemeClr val="dk1"/>
                </a:solidFill>
              </a:rPr>
              <a:t>return average of ExpectiMinimax-Value of Successors(state)</a:t>
            </a:r>
            <a:endParaRPr sz="1600" i="1">
              <a:solidFill>
                <a:schemeClr val="dk1"/>
              </a:solidFill>
            </a:endParaRPr>
          </a:p>
          <a:p>
            <a:pPr marL="914400" lvl="0" indent="0" algn="l" rtl="0">
              <a:spcBef>
                <a:spcPts val="0"/>
              </a:spcBef>
              <a:spcAft>
                <a:spcPts val="0"/>
              </a:spcAft>
              <a:buNone/>
            </a:pPr>
            <a:r>
              <a:rPr lang="hu" sz="1600" i="1">
                <a:solidFill>
                  <a:schemeClr val="dk1"/>
                </a:solidFill>
              </a:rPr>
              <a:t>...</a:t>
            </a:r>
            <a:endParaRPr sz="1600">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1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1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1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3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Nemdeterminisztikus játékok a gyakorlatban</a:t>
            </a:r>
            <a:endParaRPr/>
          </a:p>
        </p:txBody>
      </p:sp>
      <p:sp>
        <p:nvSpPr>
          <p:cNvPr id="221" name="Google Shape;221;p3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rgbClr val="000000"/>
              </a:buClr>
              <a:buSzPts val="1800"/>
              <a:buChar char="●"/>
            </a:pPr>
            <a:r>
              <a:rPr lang="hu">
                <a:solidFill>
                  <a:srgbClr val="000000"/>
                </a:solidFill>
              </a:rPr>
              <a:t>a kockadobás növeli </a:t>
            </a:r>
            <a:r>
              <a:rPr lang="hu" i="1">
                <a:solidFill>
                  <a:srgbClr val="000000"/>
                </a:solidFill>
              </a:rPr>
              <a:t>b</a:t>
            </a:r>
            <a:r>
              <a:rPr lang="hu">
                <a:solidFill>
                  <a:srgbClr val="000000"/>
                </a:solidFill>
              </a:rPr>
              <a:t> értékét: 2 egyforma kockával 21 különböző eredmény</a:t>
            </a:r>
            <a:endParaRPr>
              <a:solidFill>
                <a:srgbClr val="000000"/>
              </a:solidFill>
            </a:endParaRPr>
          </a:p>
          <a:p>
            <a:pPr marL="914400" lvl="1" indent="-317500" algn="l" rtl="0">
              <a:spcBef>
                <a:spcPts val="0"/>
              </a:spcBef>
              <a:spcAft>
                <a:spcPts val="0"/>
              </a:spcAft>
              <a:buClr>
                <a:srgbClr val="000000"/>
              </a:buClr>
              <a:buSzPts val="1400"/>
              <a:buChar char="○"/>
            </a:pPr>
            <a:r>
              <a:rPr lang="hu">
                <a:solidFill>
                  <a:srgbClr val="000000"/>
                </a:solidFill>
              </a:rPr>
              <a:t>ostábla ≈ 20 lehetséges lépés egy állapotban (dupla dobásnál akár több ezer is lehet)</a:t>
            </a:r>
            <a:endParaRPr>
              <a:solidFill>
                <a:srgbClr val="000000"/>
              </a:solidFill>
            </a:endParaRPr>
          </a:p>
          <a:p>
            <a:pPr marL="914400" lvl="1" indent="-317500" algn="l" rtl="0">
              <a:spcBef>
                <a:spcPts val="0"/>
              </a:spcBef>
              <a:spcAft>
                <a:spcPts val="0"/>
              </a:spcAft>
              <a:buClr>
                <a:srgbClr val="000000"/>
              </a:buClr>
              <a:buSzPts val="1400"/>
              <a:buChar char="○"/>
            </a:pPr>
            <a:r>
              <a:rPr lang="hu">
                <a:solidFill>
                  <a:srgbClr val="000000"/>
                </a:solidFill>
              </a:rPr>
              <a:t>depth(4) = 20x(21x20)</a:t>
            </a:r>
            <a:r>
              <a:rPr lang="hu" baseline="30000">
                <a:solidFill>
                  <a:srgbClr val="000000"/>
                </a:solidFill>
              </a:rPr>
              <a:t>3</a:t>
            </a:r>
            <a:r>
              <a:rPr lang="hu">
                <a:solidFill>
                  <a:srgbClr val="000000"/>
                </a:solidFill>
              </a:rPr>
              <a:t> </a:t>
            </a:r>
            <a:r>
              <a:rPr lang="hu">
                <a:solidFill>
                  <a:schemeClr val="dk1"/>
                </a:solidFill>
              </a:rPr>
              <a:t>≈ 1.2х10</a:t>
            </a:r>
            <a:r>
              <a:rPr lang="hu" baseline="30000">
                <a:solidFill>
                  <a:schemeClr val="dk1"/>
                </a:solidFill>
              </a:rPr>
              <a:t>9</a:t>
            </a:r>
            <a:endParaRPr>
              <a:solidFill>
                <a:schemeClr val="dk1"/>
              </a:solidFill>
            </a:endParaRPr>
          </a:p>
          <a:p>
            <a:pPr marL="457200" lvl="0" indent="-342900" algn="l" rtl="0">
              <a:spcBef>
                <a:spcPts val="0"/>
              </a:spcBef>
              <a:spcAft>
                <a:spcPts val="0"/>
              </a:spcAft>
              <a:buClr>
                <a:schemeClr val="dk1"/>
              </a:buClr>
              <a:buSzPts val="1800"/>
              <a:buChar char="●"/>
            </a:pPr>
            <a:r>
              <a:rPr lang="hu">
                <a:solidFill>
                  <a:schemeClr val="dk1"/>
                </a:solidFill>
              </a:rPr>
              <a:t>ahogy a mélység növekszik, egy adott állapot elérésének a valószínűsége csökken</a:t>
            </a:r>
            <a:endParaRPr>
              <a:solidFill>
                <a:schemeClr val="dk1"/>
              </a:solidFill>
            </a:endParaRPr>
          </a:p>
          <a:p>
            <a:pPr marL="914400" lvl="1" indent="-317500" algn="l" rtl="0">
              <a:spcBef>
                <a:spcPts val="0"/>
              </a:spcBef>
              <a:spcAft>
                <a:spcPts val="0"/>
              </a:spcAft>
              <a:buClr>
                <a:schemeClr val="dk1"/>
              </a:buClr>
              <a:buSzPts val="1400"/>
              <a:buChar char="○"/>
            </a:pPr>
            <a:r>
              <a:rPr lang="hu">
                <a:solidFill>
                  <a:schemeClr val="dk1"/>
                </a:solidFill>
              </a:rPr>
              <a:t>nem igazán hatásos a előrenéző vizsgálat</a:t>
            </a:r>
            <a:endParaRPr>
              <a:solidFill>
                <a:schemeClr val="dk1"/>
              </a:solidFill>
            </a:endParaRPr>
          </a:p>
          <a:p>
            <a:pPr marL="457200" lvl="0" indent="-342900" algn="l" rtl="0">
              <a:spcBef>
                <a:spcPts val="0"/>
              </a:spcBef>
              <a:spcAft>
                <a:spcPts val="0"/>
              </a:spcAft>
              <a:buClr>
                <a:schemeClr val="dk1"/>
              </a:buClr>
              <a:buSzPts val="1800"/>
              <a:buChar char="●"/>
            </a:pPr>
            <a:r>
              <a:rPr lang="hu">
                <a:solidFill>
                  <a:schemeClr val="dk1"/>
                </a:solidFill>
              </a:rPr>
              <a:t>az alfa-béta vágás nem olyan hatékony mint determinisztikus esetben</a:t>
            </a:r>
            <a:endParaRPr>
              <a:solidFill>
                <a:schemeClr val="dk1"/>
              </a:solidFill>
            </a:endParaRPr>
          </a:p>
          <a:p>
            <a:pPr marL="914400" lvl="1" indent="-317500" algn="l" rtl="0">
              <a:spcBef>
                <a:spcPts val="0"/>
              </a:spcBef>
              <a:spcAft>
                <a:spcPts val="0"/>
              </a:spcAft>
              <a:buClr>
                <a:schemeClr val="dk1"/>
              </a:buClr>
              <a:buSzPts val="1400"/>
              <a:buChar char="○"/>
            </a:pPr>
            <a:r>
              <a:rPr lang="hu">
                <a:solidFill>
                  <a:schemeClr val="dk1"/>
                </a:solidFill>
              </a:rPr>
              <a:t>TDGammon 2 mélységű keresést használ és egy jó kiértékelő függvényt</a:t>
            </a:r>
            <a:endParaRPr>
              <a:solidFill>
                <a:schemeClr val="dk1"/>
              </a:solidFill>
            </a:endParaRPr>
          </a:p>
          <a:p>
            <a:pPr marL="1371600" lvl="2" indent="-317500" algn="l" rtl="0">
              <a:spcBef>
                <a:spcPts val="0"/>
              </a:spcBef>
              <a:spcAft>
                <a:spcPts val="0"/>
              </a:spcAft>
              <a:buClr>
                <a:schemeClr val="dk1"/>
              </a:buClr>
              <a:buSzPts val="1400"/>
              <a:buChar char="■"/>
            </a:pPr>
            <a:r>
              <a:rPr lang="hu">
                <a:solidFill>
                  <a:schemeClr val="dk1"/>
                </a:solidFill>
              </a:rPr>
              <a:t>világbajnoki szintű</a:t>
            </a:r>
            <a:endParaRPr>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2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4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Kitérő: számítanak a pontos értékek</a:t>
            </a:r>
            <a:endParaRPr/>
          </a:p>
        </p:txBody>
      </p:sp>
      <p:sp>
        <p:nvSpPr>
          <p:cNvPr id="227" name="Google Shape;227;p40"/>
          <p:cNvSpPr txBox="1">
            <a:spLocks noGrp="1"/>
          </p:cNvSpPr>
          <p:nvPr>
            <p:ph type="body" idx="1"/>
          </p:nvPr>
        </p:nvSpPr>
        <p:spPr>
          <a:xfrm>
            <a:off x="311700" y="1152475"/>
            <a:ext cx="41970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Char char="●"/>
            </a:pPr>
            <a:r>
              <a:rPr lang="hu">
                <a:solidFill>
                  <a:schemeClr val="dk1"/>
                </a:solidFill>
              </a:rPr>
              <a:t>a viselkedés csak az </a:t>
            </a:r>
            <a:r>
              <a:rPr lang="hu" b="1">
                <a:solidFill>
                  <a:schemeClr val="dk1"/>
                </a:solidFill>
                <a:latin typeface="Courier New"/>
                <a:ea typeface="Courier New"/>
                <a:cs typeface="Courier New"/>
                <a:sym typeface="Courier New"/>
              </a:rPr>
              <a:t>Eval</a:t>
            </a:r>
            <a:r>
              <a:rPr lang="hu">
                <a:solidFill>
                  <a:schemeClr val="dk1"/>
                </a:solidFill>
              </a:rPr>
              <a:t> pozitív lineáris transzformációi esetén marad ugyanaz</a:t>
            </a:r>
            <a:endParaRPr>
              <a:solidFill>
                <a:schemeClr val="dk1"/>
              </a:solidFill>
            </a:endParaRPr>
          </a:p>
          <a:p>
            <a:pPr marL="457200" lvl="0" indent="-342900" algn="l" rtl="0">
              <a:spcBef>
                <a:spcPts val="0"/>
              </a:spcBef>
              <a:spcAft>
                <a:spcPts val="0"/>
              </a:spcAft>
              <a:buClr>
                <a:schemeClr val="dk1"/>
              </a:buClr>
              <a:buSzPts val="1800"/>
              <a:buChar char="●"/>
            </a:pPr>
            <a:r>
              <a:rPr lang="hu">
                <a:solidFill>
                  <a:schemeClr val="dk1"/>
                </a:solidFill>
              </a:rPr>
              <a:t>az </a:t>
            </a:r>
            <a:r>
              <a:rPr lang="hu" b="1">
                <a:solidFill>
                  <a:schemeClr val="dk1"/>
                </a:solidFill>
                <a:latin typeface="Courier New"/>
                <a:ea typeface="Courier New"/>
                <a:cs typeface="Courier New"/>
                <a:sym typeface="Courier New"/>
              </a:rPr>
              <a:t>Eval</a:t>
            </a:r>
            <a:r>
              <a:rPr lang="hu">
                <a:solidFill>
                  <a:schemeClr val="dk1"/>
                </a:solidFill>
              </a:rPr>
              <a:t>-nak arányosnak kell lenni a játék végeredményével (kifizetéssel)</a:t>
            </a:r>
            <a:endParaRPr>
              <a:solidFill>
                <a:schemeClr val="dk1"/>
              </a:solidFill>
            </a:endParaRPr>
          </a:p>
        </p:txBody>
      </p:sp>
      <p:pic>
        <p:nvPicPr>
          <p:cNvPr id="228" name="Google Shape;228;p40"/>
          <p:cNvPicPr preferRelativeResize="0"/>
          <p:nvPr/>
        </p:nvPicPr>
        <p:blipFill>
          <a:blip r:embed="rId3">
            <a:alphaModFix/>
          </a:blip>
          <a:stretch>
            <a:fillRect/>
          </a:stretch>
        </p:blipFill>
        <p:spPr>
          <a:xfrm>
            <a:off x="4429113" y="1936750"/>
            <a:ext cx="4714875" cy="18478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4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Nem teljes információjú játékok</a:t>
            </a:r>
            <a:endParaRPr/>
          </a:p>
        </p:txBody>
      </p:sp>
      <p:sp>
        <p:nvSpPr>
          <p:cNvPr id="234" name="Google Shape;234;p4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Char char="●"/>
            </a:pPr>
            <a:r>
              <a:rPr lang="hu">
                <a:solidFill>
                  <a:schemeClr val="dk1"/>
                </a:solidFill>
              </a:rPr>
              <a:t>pl. kártyajátékok, ahol az ellenfél lapjai nem ismertek</a:t>
            </a:r>
            <a:endParaRPr>
              <a:solidFill>
                <a:schemeClr val="dk1"/>
              </a:solidFill>
            </a:endParaRPr>
          </a:p>
          <a:p>
            <a:pPr marL="457200" lvl="0" indent="-342900" algn="l" rtl="0">
              <a:spcBef>
                <a:spcPts val="0"/>
              </a:spcBef>
              <a:spcAft>
                <a:spcPts val="0"/>
              </a:spcAft>
              <a:buClr>
                <a:schemeClr val="dk1"/>
              </a:buClr>
              <a:buSzPts val="1800"/>
              <a:buChar char="●"/>
            </a:pPr>
            <a:r>
              <a:rPr lang="hu">
                <a:solidFill>
                  <a:schemeClr val="dk1"/>
                </a:solidFill>
              </a:rPr>
              <a:t>rendszerint minden lehetséges leosztás valószínűségét kiszámoljuk</a:t>
            </a:r>
            <a:endParaRPr>
              <a:solidFill>
                <a:schemeClr val="dk1"/>
              </a:solidFill>
            </a:endParaRPr>
          </a:p>
          <a:p>
            <a:pPr marL="457200" lvl="0" indent="-342900" algn="l" rtl="0">
              <a:spcBef>
                <a:spcPts val="0"/>
              </a:spcBef>
              <a:spcAft>
                <a:spcPts val="0"/>
              </a:spcAft>
              <a:buClr>
                <a:schemeClr val="dk1"/>
              </a:buClr>
              <a:buSzPts val="1800"/>
              <a:buChar char="●"/>
            </a:pPr>
            <a:r>
              <a:rPr lang="hu">
                <a:solidFill>
                  <a:schemeClr val="dk1"/>
                </a:solidFill>
              </a:rPr>
              <a:t>mintha egy sok oldalú kockát dobtunk volna a játék elején</a:t>
            </a:r>
            <a:endParaRPr>
              <a:solidFill>
                <a:schemeClr val="dk1"/>
              </a:solidFill>
            </a:endParaRPr>
          </a:p>
          <a:p>
            <a:pPr marL="457200" lvl="0" indent="-342900" algn="l" rtl="0">
              <a:spcBef>
                <a:spcPts val="0"/>
              </a:spcBef>
              <a:spcAft>
                <a:spcPts val="0"/>
              </a:spcAft>
              <a:buClr>
                <a:schemeClr val="dk1"/>
              </a:buClr>
              <a:buSzPts val="1800"/>
              <a:buChar char="●"/>
            </a:pPr>
            <a:r>
              <a:rPr lang="hu">
                <a:solidFill>
                  <a:schemeClr val="dk1"/>
                </a:solidFill>
              </a:rPr>
              <a:t>ötlet: számoljuk ki a minimax értékét az összes lépésnek (műveletnek), és válasszuk közülük azt, melynek a legmagasabb várható értéke van az összes leosztást tekintve</a:t>
            </a:r>
            <a:endParaRPr>
              <a:solidFill>
                <a:schemeClr val="dk1"/>
              </a:solidFill>
            </a:endParaRPr>
          </a:p>
          <a:p>
            <a:pPr marL="457200" lvl="0" indent="-342900" algn="l" rtl="0">
              <a:spcBef>
                <a:spcPts val="0"/>
              </a:spcBef>
              <a:spcAft>
                <a:spcPts val="0"/>
              </a:spcAft>
              <a:buClr>
                <a:schemeClr val="dk1"/>
              </a:buClr>
              <a:buSzPts val="1800"/>
              <a:buChar char="●"/>
            </a:pPr>
            <a:r>
              <a:rPr lang="hu">
                <a:solidFill>
                  <a:schemeClr val="dk1"/>
                </a:solidFill>
              </a:rPr>
              <a:t>GIB (a legjobb bridzsprogram 1998-ban) a következőképpen működik</a:t>
            </a:r>
            <a:endParaRPr>
              <a:solidFill>
                <a:schemeClr val="dk1"/>
              </a:solidFill>
            </a:endParaRPr>
          </a:p>
          <a:p>
            <a:pPr marL="914400" lvl="1" indent="-317500" algn="l" rtl="0">
              <a:spcBef>
                <a:spcPts val="0"/>
              </a:spcBef>
              <a:spcAft>
                <a:spcPts val="0"/>
              </a:spcAft>
              <a:buClr>
                <a:schemeClr val="dk1"/>
              </a:buClr>
              <a:buSzPts val="1400"/>
              <a:buChar char="○"/>
            </a:pPr>
            <a:r>
              <a:rPr lang="hu">
                <a:solidFill>
                  <a:schemeClr val="dk1"/>
                </a:solidFill>
              </a:rPr>
              <a:t>a bemondásokkal konzisztens 100 leosztás generálás</a:t>
            </a:r>
            <a:endParaRPr>
              <a:solidFill>
                <a:schemeClr val="dk1"/>
              </a:solidFill>
            </a:endParaRPr>
          </a:p>
          <a:p>
            <a:pPr marL="914400" lvl="1" indent="-317500" algn="l" rtl="0">
              <a:spcBef>
                <a:spcPts val="0"/>
              </a:spcBef>
              <a:spcAft>
                <a:spcPts val="0"/>
              </a:spcAft>
              <a:buClr>
                <a:schemeClr val="dk1"/>
              </a:buClr>
              <a:buSzPts val="1400"/>
              <a:buChar char="○"/>
            </a:pPr>
            <a:r>
              <a:rPr lang="hu">
                <a:solidFill>
                  <a:schemeClr val="dk1"/>
                </a:solidFill>
              </a:rPr>
              <a:t>azt a lépést választja, mely átlagban a legjobb eredményt éri el</a:t>
            </a:r>
            <a:endParaRPr>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3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4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Példa</a:t>
            </a:r>
            <a:endParaRPr/>
          </a:p>
        </p:txBody>
      </p:sp>
      <p:sp>
        <p:nvSpPr>
          <p:cNvPr id="240" name="Google Shape;240;p42"/>
          <p:cNvSpPr txBox="1">
            <a:spLocks noGrp="1"/>
          </p:cNvSpPr>
          <p:nvPr>
            <p:ph type="body" idx="1"/>
          </p:nvPr>
        </p:nvSpPr>
        <p:spPr>
          <a:xfrm>
            <a:off x="311700" y="1152475"/>
            <a:ext cx="8520600" cy="4641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hu">
                <a:solidFill>
                  <a:srgbClr val="000000"/>
                </a:solidFill>
              </a:rPr>
              <a:t>Négy kártyás bridzs, a MAX kezd</a:t>
            </a:r>
            <a:endParaRPr>
              <a:solidFill>
                <a:srgbClr val="000000"/>
              </a:solidFill>
            </a:endParaRPr>
          </a:p>
        </p:txBody>
      </p:sp>
      <p:pic>
        <p:nvPicPr>
          <p:cNvPr id="241" name="Google Shape;241;p42"/>
          <p:cNvPicPr preferRelativeResize="0"/>
          <p:nvPr/>
        </p:nvPicPr>
        <p:blipFill>
          <a:blip r:embed="rId3">
            <a:alphaModFix/>
          </a:blip>
          <a:stretch>
            <a:fillRect/>
          </a:stretch>
        </p:blipFill>
        <p:spPr>
          <a:xfrm>
            <a:off x="0" y="1755450"/>
            <a:ext cx="9143999" cy="9969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4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Példa</a:t>
            </a:r>
            <a:endParaRPr/>
          </a:p>
        </p:txBody>
      </p:sp>
      <p:pic>
        <p:nvPicPr>
          <p:cNvPr id="247" name="Google Shape;247;p43"/>
          <p:cNvPicPr preferRelativeResize="0"/>
          <p:nvPr/>
        </p:nvPicPr>
        <p:blipFill>
          <a:blip r:embed="rId3">
            <a:alphaModFix/>
          </a:blip>
          <a:stretch>
            <a:fillRect/>
          </a:stretch>
        </p:blipFill>
        <p:spPr>
          <a:xfrm>
            <a:off x="0" y="1656534"/>
            <a:ext cx="8976275" cy="2392737"/>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4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Példa</a:t>
            </a:r>
            <a:endParaRPr/>
          </a:p>
        </p:txBody>
      </p:sp>
      <p:pic>
        <p:nvPicPr>
          <p:cNvPr id="253" name="Google Shape;253;p44"/>
          <p:cNvPicPr preferRelativeResize="0"/>
          <p:nvPr/>
        </p:nvPicPr>
        <p:blipFill>
          <a:blip r:embed="rId3">
            <a:alphaModFix/>
          </a:blip>
          <a:stretch>
            <a:fillRect/>
          </a:stretch>
        </p:blipFill>
        <p:spPr>
          <a:xfrm>
            <a:off x="311700" y="929605"/>
            <a:ext cx="8832300" cy="4258898"/>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4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Józan ész kritikája</a:t>
            </a:r>
            <a:endParaRPr/>
          </a:p>
        </p:txBody>
      </p:sp>
      <p:sp>
        <p:nvSpPr>
          <p:cNvPr id="259" name="Google Shape;259;p45"/>
          <p:cNvSpPr txBox="1">
            <a:spLocks noGrp="1"/>
          </p:cNvSpPr>
          <p:nvPr>
            <p:ph type="body" idx="1"/>
          </p:nvPr>
        </p:nvSpPr>
        <p:spPr>
          <a:xfrm>
            <a:off x="311700" y="1152475"/>
            <a:ext cx="8520600" cy="39909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Font typeface="Verdana"/>
              <a:buChar char="●"/>
            </a:pPr>
            <a:r>
              <a:rPr lang="hu">
                <a:solidFill>
                  <a:schemeClr val="dk1"/>
                </a:solidFill>
                <a:highlight>
                  <a:srgbClr val="FFFFFF"/>
                </a:highlight>
                <a:latin typeface="Verdana"/>
                <a:ea typeface="Verdana"/>
                <a:cs typeface="Verdana"/>
                <a:sym typeface="Verdana"/>
              </a:rPr>
              <a:t>1. nap</a:t>
            </a:r>
            <a:endParaRPr>
              <a:solidFill>
                <a:schemeClr val="dk1"/>
              </a:solidFill>
              <a:highlight>
                <a:srgbClr val="FFFFFF"/>
              </a:highlight>
              <a:latin typeface="Verdana"/>
              <a:ea typeface="Verdana"/>
              <a:cs typeface="Verdana"/>
              <a:sym typeface="Verdana"/>
            </a:endParaRPr>
          </a:p>
          <a:p>
            <a:pPr marL="914400" lvl="1" indent="-317500" algn="l" rtl="0">
              <a:spcBef>
                <a:spcPts val="0"/>
              </a:spcBef>
              <a:spcAft>
                <a:spcPts val="0"/>
              </a:spcAft>
              <a:buClr>
                <a:schemeClr val="dk1"/>
              </a:buClr>
              <a:buSzPts val="1400"/>
              <a:buFont typeface="Verdana"/>
              <a:buChar char="○"/>
            </a:pPr>
            <a:r>
              <a:rPr lang="hu">
                <a:solidFill>
                  <a:schemeClr val="dk1"/>
                </a:solidFill>
                <a:highlight>
                  <a:srgbClr val="FFFFFF"/>
                </a:highlight>
                <a:latin typeface="Verdana"/>
                <a:ea typeface="Verdana"/>
                <a:cs typeface="Verdana"/>
                <a:sym typeface="Verdana"/>
              </a:rPr>
              <a:t>Az </a:t>
            </a:r>
            <a:r>
              <a:rPr lang="hu" i="1">
                <a:solidFill>
                  <a:schemeClr val="dk1"/>
                </a:solidFill>
                <a:highlight>
                  <a:srgbClr val="FFFFFF"/>
                </a:highlight>
                <a:latin typeface="Verdana"/>
                <a:ea typeface="Verdana"/>
                <a:cs typeface="Verdana"/>
                <a:sym typeface="Verdana"/>
              </a:rPr>
              <a:t>A</a:t>
            </a:r>
            <a:r>
              <a:rPr lang="hu">
                <a:solidFill>
                  <a:schemeClr val="dk1"/>
                </a:solidFill>
                <a:highlight>
                  <a:srgbClr val="FFFFFF"/>
                </a:highlight>
                <a:latin typeface="Verdana"/>
                <a:ea typeface="Verdana"/>
                <a:cs typeface="Verdana"/>
                <a:sym typeface="Verdana"/>
              </a:rPr>
              <a:t> út egy halom aranyhoz vezet. </a:t>
            </a:r>
            <a:endParaRPr>
              <a:solidFill>
                <a:schemeClr val="dk1"/>
              </a:solidFill>
              <a:highlight>
                <a:srgbClr val="FFFFFF"/>
              </a:highlight>
              <a:latin typeface="Verdana"/>
              <a:ea typeface="Verdana"/>
              <a:cs typeface="Verdana"/>
              <a:sym typeface="Verdana"/>
            </a:endParaRPr>
          </a:p>
          <a:p>
            <a:pPr marL="914400" lvl="1" indent="-317500" algn="l" rtl="0">
              <a:spcBef>
                <a:spcPts val="0"/>
              </a:spcBef>
              <a:spcAft>
                <a:spcPts val="0"/>
              </a:spcAft>
              <a:buClr>
                <a:schemeClr val="dk1"/>
              </a:buClr>
              <a:buSzPts val="1400"/>
              <a:buFont typeface="Verdana"/>
              <a:buChar char="○"/>
            </a:pPr>
            <a:r>
              <a:rPr lang="hu">
                <a:solidFill>
                  <a:schemeClr val="dk1"/>
                </a:solidFill>
                <a:highlight>
                  <a:srgbClr val="FFFFFF"/>
                </a:highlight>
                <a:latin typeface="Verdana"/>
                <a:ea typeface="Verdana"/>
                <a:cs typeface="Verdana"/>
                <a:sym typeface="Verdana"/>
              </a:rPr>
              <a:t>A </a:t>
            </a:r>
            <a:r>
              <a:rPr lang="hu" i="1">
                <a:solidFill>
                  <a:schemeClr val="dk1"/>
                </a:solidFill>
                <a:highlight>
                  <a:srgbClr val="FFFFFF"/>
                </a:highlight>
                <a:latin typeface="Verdana"/>
                <a:ea typeface="Verdana"/>
                <a:cs typeface="Verdana"/>
                <a:sym typeface="Verdana"/>
              </a:rPr>
              <a:t>B</a:t>
            </a:r>
            <a:r>
              <a:rPr lang="hu">
                <a:solidFill>
                  <a:schemeClr val="dk1"/>
                </a:solidFill>
                <a:highlight>
                  <a:srgbClr val="FFFFFF"/>
                </a:highlight>
                <a:latin typeface="Verdana"/>
                <a:ea typeface="Verdana"/>
                <a:cs typeface="Verdana"/>
                <a:sym typeface="Verdana"/>
              </a:rPr>
              <a:t> út egy elágazáshoz vezet. </a:t>
            </a:r>
            <a:endParaRPr>
              <a:solidFill>
                <a:schemeClr val="dk1"/>
              </a:solidFill>
              <a:highlight>
                <a:srgbClr val="FFFFFF"/>
              </a:highlight>
              <a:latin typeface="Verdana"/>
              <a:ea typeface="Verdana"/>
              <a:cs typeface="Verdana"/>
              <a:sym typeface="Verdana"/>
            </a:endParaRPr>
          </a:p>
          <a:p>
            <a:pPr marL="1371600" lvl="2" indent="-317500" algn="l" rtl="0">
              <a:spcBef>
                <a:spcPts val="0"/>
              </a:spcBef>
              <a:spcAft>
                <a:spcPts val="0"/>
              </a:spcAft>
              <a:buClr>
                <a:schemeClr val="dk1"/>
              </a:buClr>
              <a:buSzPts val="1400"/>
              <a:buFont typeface="Verdana"/>
              <a:buChar char="■"/>
            </a:pPr>
            <a:r>
              <a:rPr lang="hu">
                <a:solidFill>
                  <a:schemeClr val="dk1"/>
                </a:solidFill>
                <a:highlight>
                  <a:srgbClr val="FFFFFF"/>
                </a:highlight>
                <a:latin typeface="Verdana"/>
                <a:ea typeface="Verdana"/>
                <a:cs typeface="Verdana"/>
                <a:sym typeface="Verdana"/>
              </a:rPr>
              <a:t>Ha az elágazásnál balra fordul, egy ékszerhegyet talál, </a:t>
            </a:r>
            <a:endParaRPr>
              <a:solidFill>
                <a:schemeClr val="dk1"/>
              </a:solidFill>
              <a:highlight>
                <a:srgbClr val="FFFFFF"/>
              </a:highlight>
              <a:latin typeface="Verdana"/>
              <a:ea typeface="Verdana"/>
              <a:cs typeface="Verdana"/>
              <a:sym typeface="Verdana"/>
            </a:endParaRPr>
          </a:p>
          <a:p>
            <a:pPr marL="1371600" lvl="2" indent="-317500" algn="l" rtl="0">
              <a:spcBef>
                <a:spcPts val="0"/>
              </a:spcBef>
              <a:spcAft>
                <a:spcPts val="0"/>
              </a:spcAft>
              <a:buClr>
                <a:schemeClr val="dk1"/>
              </a:buClr>
              <a:buSzPts val="1400"/>
              <a:buFont typeface="Verdana"/>
              <a:buChar char="■"/>
            </a:pPr>
            <a:r>
              <a:rPr lang="hu">
                <a:solidFill>
                  <a:schemeClr val="dk1"/>
                </a:solidFill>
                <a:highlight>
                  <a:srgbClr val="FFFFFF"/>
                </a:highlight>
                <a:latin typeface="Verdana"/>
                <a:ea typeface="Verdana"/>
                <a:cs typeface="Verdana"/>
                <a:sym typeface="Verdana"/>
              </a:rPr>
              <a:t>ha az elágazásnál jobbra fordul, elüti egy busz.</a:t>
            </a:r>
            <a:endParaRPr>
              <a:solidFill>
                <a:schemeClr val="dk1"/>
              </a:solidFill>
              <a:highlight>
                <a:srgbClr val="FFFFFF"/>
              </a:highlight>
              <a:latin typeface="Verdana"/>
              <a:ea typeface="Verdana"/>
              <a:cs typeface="Verdana"/>
              <a:sym typeface="Verdana"/>
            </a:endParaRPr>
          </a:p>
          <a:p>
            <a:pPr marL="457200" lvl="0" indent="-342900" algn="l" rtl="0">
              <a:spcBef>
                <a:spcPts val="0"/>
              </a:spcBef>
              <a:spcAft>
                <a:spcPts val="0"/>
              </a:spcAft>
              <a:buClr>
                <a:schemeClr val="dk1"/>
              </a:buClr>
              <a:buSzPts val="1800"/>
              <a:buFont typeface="Verdana"/>
              <a:buChar char="●"/>
            </a:pPr>
            <a:r>
              <a:rPr lang="hu">
                <a:solidFill>
                  <a:schemeClr val="dk1"/>
                </a:solidFill>
                <a:highlight>
                  <a:srgbClr val="FFFFFF"/>
                </a:highlight>
                <a:latin typeface="Verdana"/>
                <a:ea typeface="Verdana"/>
                <a:cs typeface="Verdana"/>
                <a:sym typeface="Verdana"/>
              </a:rPr>
              <a:t>2. nap</a:t>
            </a:r>
            <a:endParaRPr>
              <a:solidFill>
                <a:schemeClr val="dk1"/>
              </a:solidFill>
              <a:highlight>
                <a:srgbClr val="FFFFFF"/>
              </a:highlight>
              <a:latin typeface="Verdana"/>
              <a:ea typeface="Verdana"/>
              <a:cs typeface="Verdana"/>
              <a:sym typeface="Verdana"/>
            </a:endParaRPr>
          </a:p>
          <a:p>
            <a:pPr marL="914400" lvl="1" indent="-317500" algn="l" rtl="0">
              <a:spcBef>
                <a:spcPts val="0"/>
              </a:spcBef>
              <a:spcAft>
                <a:spcPts val="0"/>
              </a:spcAft>
              <a:buClr>
                <a:schemeClr val="dk1"/>
              </a:buClr>
              <a:buSzPts val="1400"/>
              <a:buFont typeface="Verdana"/>
              <a:buChar char="○"/>
            </a:pPr>
            <a:r>
              <a:rPr lang="hu">
                <a:solidFill>
                  <a:schemeClr val="dk1"/>
                </a:solidFill>
                <a:highlight>
                  <a:srgbClr val="FFFFFF"/>
                </a:highlight>
                <a:latin typeface="Verdana"/>
                <a:ea typeface="Verdana"/>
                <a:cs typeface="Verdana"/>
                <a:sym typeface="Verdana"/>
              </a:rPr>
              <a:t>Az </a:t>
            </a:r>
            <a:r>
              <a:rPr lang="hu" i="1">
                <a:solidFill>
                  <a:schemeClr val="dk1"/>
                </a:solidFill>
                <a:highlight>
                  <a:srgbClr val="FFFFFF"/>
                </a:highlight>
                <a:latin typeface="Verdana"/>
                <a:ea typeface="Verdana"/>
                <a:cs typeface="Verdana"/>
                <a:sym typeface="Verdana"/>
              </a:rPr>
              <a:t>A</a:t>
            </a:r>
            <a:r>
              <a:rPr lang="hu">
                <a:solidFill>
                  <a:schemeClr val="dk1"/>
                </a:solidFill>
                <a:highlight>
                  <a:srgbClr val="FFFFFF"/>
                </a:highlight>
                <a:latin typeface="Verdana"/>
                <a:ea typeface="Verdana"/>
                <a:cs typeface="Verdana"/>
                <a:sym typeface="Verdana"/>
              </a:rPr>
              <a:t> út egy halom aranyhoz vezet. </a:t>
            </a:r>
            <a:endParaRPr>
              <a:solidFill>
                <a:schemeClr val="dk1"/>
              </a:solidFill>
              <a:highlight>
                <a:srgbClr val="FFFFFF"/>
              </a:highlight>
              <a:latin typeface="Verdana"/>
              <a:ea typeface="Verdana"/>
              <a:cs typeface="Verdana"/>
              <a:sym typeface="Verdana"/>
            </a:endParaRPr>
          </a:p>
          <a:p>
            <a:pPr marL="914400" lvl="1" indent="-317500" algn="l" rtl="0">
              <a:spcBef>
                <a:spcPts val="0"/>
              </a:spcBef>
              <a:spcAft>
                <a:spcPts val="0"/>
              </a:spcAft>
              <a:buClr>
                <a:schemeClr val="dk1"/>
              </a:buClr>
              <a:buSzPts val="1400"/>
              <a:buFont typeface="Verdana"/>
              <a:buChar char="○"/>
            </a:pPr>
            <a:r>
              <a:rPr lang="hu">
                <a:solidFill>
                  <a:schemeClr val="dk1"/>
                </a:solidFill>
                <a:highlight>
                  <a:srgbClr val="FFFFFF"/>
                </a:highlight>
                <a:latin typeface="Verdana"/>
                <a:ea typeface="Verdana"/>
                <a:cs typeface="Verdana"/>
                <a:sym typeface="Verdana"/>
              </a:rPr>
              <a:t>A </a:t>
            </a:r>
            <a:r>
              <a:rPr lang="hu" i="1">
                <a:solidFill>
                  <a:schemeClr val="dk1"/>
                </a:solidFill>
                <a:highlight>
                  <a:srgbClr val="FFFFFF"/>
                </a:highlight>
                <a:latin typeface="Verdana"/>
                <a:ea typeface="Verdana"/>
                <a:cs typeface="Verdana"/>
                <a:sym typeface="Verdana"/>
              </a:rPr>
              <a:t>B</a:t>
            </a:r>
            <a:r>
              <a:rPr lang="hu">
                <a:solidFill>
                  <a:schemeClr val="dk1"/>
                </a:solidFill>
                <a:highlight>
                  <a:srgbClr val="FFFFFF"/>
                </a:highlight>
                <a:latin typeface="Verdana"/>
                <a:ea typeface="Verdana"/>
                <a:cs typeface="Verdana"/>
                <a:sym typeface="Verdana"/>
              </a:rPr>
              <a:t> út egy elágazáshoz vezet. </a:t>
            </a:r>
            <a:endParaRPr>
              <a:solidFill>
                <a:schemeClr val="dk1"/>
              </a:solidFill>
              <a:highlight>
                <a:srgbClr val="FFFFFF"/>
              </a:highlight>
              <a:latin typeface="Verdana"/>
              <a:ea typeface="Verdana"/>
              <a:cs typeface="Verdana"/>
              <a:sym typeface="Verdana"/>
            </a:endParaRPr>
          </a:p>
          <a:p>
            <a:pPr marL="1371600" lvl="2" indent="-317500" algn="l" rtl="0">
              <a:spcBef>
                <a:spcPts val="0"/>
              </a:spcBef>
              <a:spcAft>
                <a:spcPts val="0"/>
              </a:spcAft>
              <a:buClr>
                <a:schemeClr val="dk1"/>
              </a:buClr>
              <a:buSzPts val="1400"/>
              <a:buFont typeface="Verdana"/>
              <a:buChar char="■"/>
            </a:pPr>
            <a:r>
              <a:rPr lang="hu">
                <a:solidFill>
                  <a:schemeClr val="dk1"/>
                </a:solidFill>
                <a:highlight>
                  <a:srgbClr val="FFFFFF"/>
                </a:highlight>
                <a:latin typeface="Verdana"/>
                <a:ea typeface="Verdana"/>
                <a:cs typeface="Verdana"/>
                <a:sym typeface="Verdana"/>
              </a:rPr>
              <a:t>Ha az elágazásnál jobbra fordul, egy ékszerhegyet talál, </a:t>
            </a:r>
            <a:endParaRPr>
              <a:solidFill>
                <a:schemeClr val="dk1"/>
              </a:solidFill>
              <a:highlight>
                <a:srgbClr val="FFFFFF"/>
              </a:highlight>
              <a:latin typeface="Verdana"/>
              <a:ea typeface="Verdana"/>
              <a:cs typeface="Verdana"/>
              <a:sym typeface="Verdana"/>
            </a:endParaRPr>
          </a:p>
          <a:p>
            <a:pPr marL="1371600" lvl="2" indent="-317500" algn="l" rtl="0">
              <a:spcBef>
                <a:spcPts val="0"/>
              </a:spcBef>
              <a:spcAft>
                <a:spcPts val="0"/>
              </a:spcAft>
              <a:buClr>
                <a:schemeClr val="dk1"/>
              </a:buClr>
              <a:buSzPts val="1400"/>
              <a:buFont typeface="Verdana"/>
              <a:buChar char="■"/>
            </a:pPr>
            <a:r>
              <a:rPr lang="hu">
                <a:solidFill>
                  <a:schemeClr val="dk1"/>
                </a:solidFill>
                <a:highlight>
                  <a:srgbClr val="FFFFFF"/>
                </a:highlight>
                <a:latin typeface="Verdana"/>
                <a:ea typeface="Verdana"/>
                <a:cs typeface="Verdana"/>
                <a:sym typeface="Verdana"/>
              </a:rPr>
              <a:t>ha az elágazásnál balra fordul, elüti egy busz.</a:t>
            </a:r>
            <a:endParaRPr>
              <a:solidFill>
                <a:schemeClr val="dk1"/>
              </a:solidFill>
              <a:highlight>
                <a:srgbClr val="FFFFFF"/>
              </a:highlight>
              <a:latin typeface="Verdana"/>
              <a:ea typeface="Verdana"/>
              <a:cs typeface="Verdana"/>
              <a:sym typeface="Verdana"/>
            </a:endParaRPr>
          </a:p>
          <a:p>
            <a:pPr marL="457200" lvl="0" indent="-342900" algn="l" rtl="0">
              <a:spcBef>
                <a:spcPts val="0"/>
              </a:spcBef>
              <a:spcAft>
                <a:spcPts val="0"/>
              </a:spcAft>
              <a:buClr>
                <a:schemeClr val="dk1"/>
              </a:buClr>
              <a:buSzPts val="1800"/>
              <a:buFont typeface="Verdana"/>
              <a:buChar char="●"/>
            </a:pPr>
            <a:r>
              <a:rPr lang="hu">
                <a:solidFill>
                  <a:schemeClr val="dk1"/>
                </a:solidFill>
                <a:highlight>
                  <a:srgbClr val="FFFFFF"/>
                </a:highlight>
                <a:latin typeface="Verdana"/>
                <a:ea typeface="Verdana"/>
                <a:cs typeface="Verdana"/>
                <a:sym typeface="Verdana"/>
              </a:rPr>
              <a:t>3</a:t>
            </a:r>
            <a:r>
              <a:rPr lang="hu" sz="1800">
                <a:solidFill>
                  <a:schemeClr val="dk1"/>
                </a:solidFill>
                <a:highlight>
                  <a:srgbClr val="FFFFFF"/>
                </a:highlight>
                <a:latin typeface="Verdana"/>
                <a:ea typeface="Verdana"/>
                <a:cs typeface="Verdana"/>
                <a:sym typeface="Verdana"/>
              </a:rPr>
              <a:t>. nap	</a:t>
            </a:r>
            <a:endParaRPr sz="1800">
              <a:solidFill>
                <a:schemeClr val="dk1"/>
              </a:solidFill>
              <a:highlight>
                <a:srgbClr val="FFFFFF"/>
              </a:highlight>
              <a:latin typeface="Verdana"/>
              <a:ea typeface="Verdana"/>
              <a:cs typeface="Verdana"/>
              <a:sym typeface="Verdana"/>
            </a:endParaRPr>
          </a:p>
          <a:p>
            <a:pPr marL="914400" lvl="1" indent="-317500" algn="l" rtl="0">
              <a:spcBef>
                <a:spcPts val="0"/>
              </a:spcBef>
              <a:spcAft>
                <a:spcPts val="0"/>
              </a:spcAft>
              <a:buClr>
                <a:schemeClr val="dk1"/>
              </a:buClr>
              <a:buSzPts val="1400"/>
              <a:buFont typeface="Verdana"/>
              <a:buChar char="○"/>
            </a:pPr>
            <a:r>
              <a:rPr lang="hu">
                <a:solidFill>
                  <a:schemeClr val="dk1"/>
                </a:solidFill>
                <a:highlight>
                  <a:srgbClr val="FFFFFF"/>
                </a:highlight>
                <a:latin typeface="Verdana"/>
                <a:ea typeface="Verdana"/>
                <a:cs typeface="Verdana"/>
                <a:sym typeface="Verdana"/>
              </a:rPr>
              <a:t>Az </a:t>
            </a:r>
            <a:r>
              <a:rPr lang="hu" i="1">
                <a:solidFill>
                  <a:schemeClr val="dk1"/>
                </a:solidFill>
                <a:highlight>
                  <a:srgbClr val="FFFFFF"/>
                </a:highlight>
                <a:latin typeface="Verdana"/>
                <a:ea typeface="Verdana"/>
                <a:cs typeface="Verdana"/>
                <a:sym typeface="Verdana"/>
              </a:rPr>
              <a:t>A</a:t>
            </a:r>
            <a:r>
              <a:rPr lang="hu">
                <a:solidFill>
                  <a:schemeClr val="dk1"/>
                </a:solidFill>
                <a:highlight>
                  <a:srgbClr val="FFFFFF"/>
                </a:highlight>
                <a:latin typeface="Verdana"/>
                <a:ea typeface="Verdana"/>
                <a:cs typeface="Verdana"/>
                <a:sym typeface="Verdana"/>
              </a:rPr>
              <a:t> út egy halom aranyhoz vezet. </a:t>
            </a:r>
            <a:endParaRPr>
              <a:solidFill>
                <a:schemeClr val="dk1"/>
              </a:solidFill>
              <a:highlight>
                <a:srgbClr val="FFFFFF"/>
              </a:highlight>
              <a:latin typeface="Verdana"/>
              <a:ea typeface="Verdana"/>
              <a:cs typeface="Verdana"/>
              <a:sym typeface="Verdana"/>
            </a:endParaRPr>
          </a:p>
          <a:p>
            <a:pPr marL="914400" lvl="1" indent="-317500" algn="l" rtl="0">
              <a:spcBef>
                <a:spcPts val="0"/>
              </a:spcBef>
              <a:spcAft>
                <a:spcPts val="0"/>
              </a:spcAft>
              <a:buClr>
                <a:schemeClr val="dk1"/>
              </a:buClr>
              <a:buSzPts val="1400"/>
              <a:buFont typeface="Verdana"/>
              <a:buChar char="○"/>
            </a:pPr>
            <a:r>
              <a:rPr lang="hu">
                <a:solidFill>
                  <a:schemeClr val="dk1"/>
                </a:solidFill>
                <a:highlight>
                  <a:srgbClr val="FFFFFF"/>
                </a:highlight>
                <a:latin typeface="Verdana"/>
                <a:ea typeface="Verdana"/>
                <a:cs typeface="Verdana"/>
                <a:sym typeface="Verdana"/>
              </a:rPr>
              <a:t>A </a:t>
            </a:r>
            <a:r>
              <a:rPr lang="hu" i="1">
                <a:solidFill>
                  <a:schemeClr val="dk1"/>
                </a:solidFill>
                <a:highlight>
                  <a:srgbClr val="FFFFFF"/>
                </a:highlight>
                <a:latin typeface="Verdana"/>
                <a:ea typeface="Verdana"/>
                <a:cs typeface="Verdana"/>
                <a:sym typeface="Verdana"/>
              </a:rPr>
              <a:t>B</a:t>
            </a:r>
            <a:r>
              <a:rPr lang="hu">
                <a:solidFill>
                  <a:schemeClr val="dk1"/>
                </a:solidFill>
                <a:highlight>
                  <a:srgbClr val="FFFFFF"/>
                </a:highlight>
                <a:latin typeface="Verdana"/>
                <a:ea typeface="Verdana"/>
                <a:cs typeface="Verdana"/>
                <a:sym typeface="Verdana"/>
              </a:rPr>
              <a:t> út egy elágazáshoz vezet. </a:t>
            </a:r>
            <a:endParaRPr>
              <a:solidFill>
                <a:schemeClr val="dk1"/>
              </a:solidFill>
              <a:highlight>
                <a:srgbClr val="FFFFFF"/>
              </a:highlight>
              <a:latin typeface="Verdana"/>
              <a:ea typeface="Verdana"/>
              <a:cs typeface="Verdana"/>
              <a:sym typeface="Verdana"/>
            </a:endParaRPr>
          </a:p>
          <a:p>
            <a:pPr marL="1371600" lvl="2" indent="-317500" algn="l" rtl="0">
              <a:spcBef>
                <a:spcPts val="0"/>
              </a:spcBef>
              <a:spcAft>
                <a:spcPts val="0"/>
              </a:spcAft>
              <a:buClr>
                <a:schemeClr val="dk1"/>
              </a:buClr>
              <a:buSzPts val="1400"/>
              <a:buFont typeface="Verdana"/>
              <a:buChar char="■"/>
            </a:pPr>
            <a:r>
              <a:rPr lang="hu">
                <a:solidFill>
                  <a:schemeClr val="dk1"/>
                </a:solidFill>
                <a:highlight>
                  <a:srgbClr val="FFFFFF"/>
                </a:highlight>
                <a:latin typeface="Verdana"/>
                <a:ea typeface="Verdana"/>
                <a:cs typeface="Verdana"/>
                <a:sym typeface="Verdana"/>
              </a:rPr>
              <a:t>Ha jól választ, egy ékszerhegyet talál, </a:t>
            </a:r>
            <a:endParaRPr>
              <a:solidFill>
                <a:schemeClr val="dk1"/>
              </a:solidFill>
              <a:highlight>
                <a:srgbClr val="FFFFFF"/>
              </a:highlight>
              <a:latin typeface="Verdana"/>
              <a:ea typeface="Verdana"/>
              <a:cs typeface="Verdana"/>
              <a:sym typeface="Verdana"/>
            </a:endParaRPr>
          </a:p>
          <a:p>
            <a:pPr marL="1371600" lvl="2" indent="-317500" algn="l" rtl="0">
              <a:spcBef>
                <a:spcPts val="0"/>
              </a:spcBef>
              <a:spcAft>
                <a:spcPts val="0"/>
              </a:spcAft>
              <a:buClr>
                <a:schemeClr val="dk1"/>
              </a:buClr>
              <a:buSzPts val="1400"/>
              <a:buFont typeface="Verdana"/>
              <a:buChar char="■"/>
            </a:pPr>
            <a:r>
              <a:rPr lang="hu">
                <a:solidFill>
                  <a:schemeClr val="dk1"/>
                </a:solidFill>
                <a:highlight>
                  <a:srgbClr val="FFFFFF"/>
                </a:highlight>
                <a:latin typeface="Verdana"/>
                <a:ea typeface="Verdana"/>
                <a:cs typeface="Verdana"/>
                <a:sym typeface="Verdana"/>
              </a:rPr>
              <a:t>ha rosszul, elüti egy busz.</a:t>
            </a:r>
            <a:endParaRPr>
              <a:solidFill>
                <a:schemeClr val="dk1"/>
              </a:solidFill>
              <a:highlight>
                <a:srgbClr val="FFFFFF"/>
              </a:highlight>
              <a:latin typeface="Verdana"/>
              <a:ea typeface="Verdana"/>
              <a:cs typeface="Verdana"/>
              <a:sym typeface="Verdan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5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5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5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59">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59">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59">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59">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59">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59">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59">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4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Pontos analízis</a:t>
            </a:r>
            <a:endParaRPr/>
          </a:p>
        </p:txBody>
      </p:sp>
      <p:sp>
        <p:nvSpPr>
          <p:cNvPr id="265" name="Google Shape;265;p4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Char char="●"/>
            </a:pPr>
            <a:r>
              <a:rPr lang="hu">
                <a:solidFill>
                  <a:schemeClr val="dk1"/>
                </a:solidFill>
              </a:rPr>
              <a:t>intuíció szerint a lépés értéke az értékek átlaga</a:t>
            </a:r>
            <a:endParaRPr>
              <a:solidFill>
                <a:schemeClr val="dk1"/>
              </a:solidFill>
            </a:endParaRPr>
          </a:p>
          <a:p>
            <a:pPr marL="914400" lvl="1" indent="-317500" algn="l" rtl="0">
              <a:spcBef>
                <a:spcPts val="0"/>
              </a:spcBef>
              <a:spcAft>
                <a:spcPts val="0"/>
              </a:spcAft>
              <a:buClr>
                <a:schemeClr val="dk1"/>
              </a:buClr>
              <a:buSzPts val="1400"/>
              <a:buChar char="○"/>
            </a:pPr>
            <a:r>
              <a:rPr lang="hu">
                <a:solidFill>
                  <a:schemeClr val="dk1"/>
                </a:solidFill>
              </a:rPr>
              <a:t>minden aktuális állapotban HIBÁS</a:t>
            </a:r>
            <a:endParaRPr>
              <a:solidFill>
                <a:schemeClr val="dk1"/>
              </a:solidFill>
            </a:endParaRPr>
          </a:p>
          <a:p>
            <a:pPr marL="457200" lvl="0" indent="-342900" algn="l" rtl="0">
              <a:spcBef>
                <a:spcPts val="0"/>
              </a:spcBef>
              <a:spcAft>
                <a:spcPts val="0"/>
              </a:spcAft>
              <a:buClr>
                <a:schemeClr val="dk1"/>
              </a:buClr>
              <a:buSzPts val="1800"/>
              <a:buChar char="●"/>
            </a:pPr>
            <a:r>
              <a:rPr lang="hu">
                <a:solidFill>
                  <a:schemeClr val="dk1"/>
                </a:solidFill>
              </a:rPr>
              <a:t>részleges információ esetén a lépés értéke az ágens hiedelmi állapotától függ</a:t>
            </a:r>
            <a:endParaRPr>
              <a:solidFill>
                <a:schemeClr val="dk1"/>
              </a:solidFill>
            </a:endParaRPr>
          </a:p>
          <a:p>
            <a:pPr marL="457200" lvl="0" indent="-342900" algn="l" rtl="0">
              <a:spcBef>
                <a:spcPts val="0"/>
              </a:spcBef>
              <a:spcAft>
                <a:spcPts val="0"/>
              </a:spcAft>
              <a:buClr>
                <a:schemeClr val="dk1"/>
              </a:buClr>
              <a:buSzPts val="1800"/>
              <a:buChar char="●"/>
            </a:pPr>
            <a:r>
              <a:rPr lang="hu">
                <a:solidFill>
                  <a:schemeClr val="dk1"/>
                </a:solidFill>
              </a:rPr>
              <a:t>az hiedelmi állapotok fája generálható és kereshető</a:t>
            </a:r>
            <a:endParaRPr>
              <a:solidFill>
                <a:schemeClr val="dk1"/>
              </a:solidFill>
            </a:endParaRPr>
          </a:p>
          <a:p>
            <a:pPr marL="457200" lvl="0" indent="-342900" algn="l" rtl="0">
              <a:spcBef>
                <a:spcPts val="0"/>
              </a:spcBef>
              <a:spcAft>
                <a:spcPts val="0"/>
              </a:spcAft>
              <a:buClr>
                <a:schemeClr val="dk1"/>
              </a:buClr>
              <a:buSzPts val="1800"/>
              <a:buChar char="●"/>
            </a:pPr>
            <a:r>
              <a:rPr lang="hu">
                <a:solidFill>
                  <a:schemeClr val="dk1"/>
                </a:solidFill>
              </a:rPr>
              <a:t>racionális viselkedés</a:t>
            </a:r>
            <a:endParaRPr>
              <a:solidFill>
                <a:schemeClr val="dk1"/>
              </a:solidFill>
            </a:endParaRPr>
          </a:p>
          <a:p>
            <a:pPr marL="914400" lvl="1" indent="-317500" algn="l" rtl="0">
              <a:spcBef>
                <a:spcPts val="0"/>
              </a:spcBef>
              <a:spcAft>
                <a:spcPts val="0"/>
              </a:spcAft>
              <a:buClr>
                <a:schemeClr val="dk1"/>
              </a:buClr>
              <a:buSzPts val="1400"/>
              <a:buChar char="○"/>
            </a:pPr>
            <a:r>
              <a:rPr lang="hu">
                <a:solidFill>
                  <a:schemeClr val="dk1"/>
                </a:solidFill>
              </a:rPr>
              <a:t>információt szerző lépés</a:t>
            </a:r>
            <a:endParaRPr>
              <a:solidFill>
                <a:schemeClr val="dk1"/>
              </a:solidFill>
            </a:endParaRPr>
          </a:p>
          <a:p>
            <a:pPr marL="914400" lvl="1" indent="-317500" algn="l" rtl="0">
              <a:spcBef>
                <a:spcPts val="0"/>
              </a:spcBef>
              <a:spcAft>
                <a:spcPts val="0"/>
              </a:spcAft>
              <a:buClr>
                <a:schemeClr val="dk1"/>
              </a:buClr>
              <a:buSzPts val="1400"/>
              <a:buChar char="○"/>
            </a:pPr>
            <a:r>
              <a:rPr lang="hu">
                <a:solidFill>
                  <a:schemeClr val="dk1"/>
                </a:solidFill>
              </a:rPr>
              <a:t>jelzés a partnernek</a:t>
            </a:r>
            <a:endParaRPr>
              <a:solidFill>
                <a:schemeClr val="dk1"/>
              </a:solidFill>
            </a:endParaRPr>
          </a:p>
          <a:p>
            <a:pPr marL="914400" lvl="1" indent="-317500" algn="l" rtl="0">
              <a:spcBef>
                <a:spcPts val="0"/>
              </a:spcBef>
              <a:spcAft>
                <a:spcPts val="0"/>
              </a:spcAft>
              <a:buClr>
                <a:schemeClr val="dk1"/>
              </a:buClr>
              <a:buSzPts val="1400"/>
              <a:buChar char="○"/>
            </a:pPr>
            <a:r>
              <a:rPr lang="hu">
                <a:solidFill>
                  <a:schemeClr val="dk1"/>
                </a:solidFill>
              </a:rPr>
              <a:t>véletlen módon cselekedni, hogy minél kevesebb információt tegyük közzé</a:t>
            </a:r>
            <a:endParaRPr>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6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6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6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4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a:t>Összegzés</a:t>
            </a:r>
            <a:endParaRPr/>
          </a:p>
        </p:txBody>
      </p:sp>
      <p:sp>
        <p:nvSpPr>
          <p:cNvPr id="271" name="Google Shape;271;p4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Char char="●"/>
            </a:pPr>
            <a:r>
              <a:rPr lang="hu">
                <a:solidFill>
                  <a:schemeClr val="dk1"/>
                </a:solidFill>
              </a:rPr>
              <a:t>a játékok szórakoztatóak </a:t>
            </a:r>
            <a:endParaRPr>
              <a:solidFill>
                <a:schemeClr val="dk1"/>
              </a:solidFill>
            </a:endParaRPr>
          </a:p>
          <a:p>
            <a:pPr marL="457200" lvl="0" indent="-342900" algn="l" rtl="0">
              <a:spcBef>
                <a:spcPts val="0"/>
              </a:spcBef>
              <a:spcAft>
                <a:spcPts val="0"/>
              </a:spcAft>
              <a:buClr>
                <a:schemeClr val="dk1"/>
              </a:buClr>
              <a:buSzPts val="1800"/>
              <a:buChar char="●"/>
            </a:pPr>
            <a:r>
              <a:rPr lang="hu">
                <a:solidFill>
                  <a:schemeClr val="dk1"/>
                </a:solidFill>
              </a:rPr>
              <a:t>az MI fontos pontjait mutatják meg</a:t>
            </a:r>
            <a:endParaRPr>
              <a:solidFill>
                <a:schemeClr val="dk1"/>
              </a:solidFill>
            </a:endParaRPr>
          </a:p>
          <a:p>
            <a:pPr marL="914400" lvl="1" indent="-317500" algn="l" rtl="0">
              <a:spcBef>
                <a:spcPts val="0"/>
              </a:spcBef>
              <a:spcAft>
                <a:spcPts val="0"/>
              </a:spcAft>
              <a:buClr>
                <a:schemeClr val="dk1"/>
              </a:buClr>
              <a:buSzPts val="1400"/>
              <a:buChar char="○"/>
            </a:pPr>
            <a:r>
              <a:rPr lang="hu">
                <a:solidFill>
                  <a:schemeClr val="dk1"/>
                </a:solidFill>
              </a:rPr>
              <a:t>a tökéletesség nem elérhető ⇒ közelítés szükséges</a:t>
            </a:r>
            <a:endParaRPr>
              <a:solidFill>
                <a:schemeClr val="dk1"/>
              </a:solidFill>
            </a:endParaRPr>
          </a:p>
          <a:p>
            <a:pPr marL="914400" lvl="1" indent="-317500" algn="l" rtl="0">
              <a:spcBef>
                <a:spcPts val="0"/>
              </a:spcBef>
              <a:spcAft>
                <a:spcPts val="0"/>
              </a:spcAft>
              <a:buClr>
                <a:schemeClr val="dk1"/>
              </a:buClr>
              <a:buSzPts val="1400"/>
              <a:buChar char="○"/>
            </a:pPr>
            <a:r>
              <a:rPr lang="hu">
                <a:solidFill>
                  <a:schemeClr val="dk1"/>
                </a:solidFill>
              </a:rPr>
              <a:t>érdemes elgondolkozni azon, hogy a program min gondolkozzon (vegyen számításba)</a:t>
            </a:r>
            <a:endParaRPr>
              <a:solidFill>
                <a:schemeClr val="dk1"/>
              </a:solidFill>
            </a:endParaRPr>
          </a:p>
          <a:p>
            <a:pPr marL="914400" lvl="1" indent="-317500" algn="l" rtl="0">
              <a:spcBef>
                <a:spcPts val="0"/>
              </a:spcBef>
              <a:spcAft>
                <a:spcPts val="0"/>
              </a:spcAft>
              <a:buClr>
                <a:schemeClr val="dk1"/>
              </a:buClr>
              <a:buSzPts val="1400"/>
              <a:buChar char="○"/>
            </a:pPr>
            <a:r>
              <a:rPr lang="hu">
                <a:solidFill>
                  <a:schemeClr val="dk1"/>
                </a:solidFill>
              </a:rPr>
              <a:t>a bizonytalanság korlátozza értékek rendelését az állapotokhoz</a:t>
            </a:r>
            <a:endParaRPr>
              <a:solidFill>
                <a:schemeClr val="dk1"/>
              </a:solidFill>
            </a:endParaRPr>
          </a:p>
          <a:p>
            <a:pPr marL="914400" lvl="1" indent="-317500" algn="l" rtl="0">
              <a:spcBef>
                <a:spcPts val="0"/>
              </a:spcBef>
              <a:spcAft>
                <a:spcPts val="0"/>
              </a:spcAft>
              <a:buClr>
                <a:schemeClr val="dk1"/>
              </a:buClr>
              <a:buSzPts val="1400"/>
              <a:buChar char="○"/>
            </a:pPr>
            <a:r>
              <a:rPr lang="hu">
                <a:solidFill>
                  <a:schemeClr val="dk1"/>
                </a:solidFill>
              </a:rPr>
              <a:t>optimális döntés a hiedelmi állapoton múlik, nem a valós állapoton</a:t>
            </a:r>
            <a:endParaRPr>
              <a:solidFill>
                <a:schemeClr val="dk1"/>
              </a:solidFill>
            </a:endParaRPr>
          </a:p>
          <a:p>
            <a:pPr marL="457200" lvl="0" indent="-342900" algn="l" rtl="0">
              <a:spcBef>
                <a:spcPts val="0"/>
              </a:spcBef>
              <a:spcAft>
                <a:spcPts val="0"/>
              </a:spcAft>
              <a:buClr>
                <a:schemeClr val="dk1"/>
              </a:buClr>
              <a:buSzPts val="1800"/>
              <a:buChar char="●"/>
            </a:pPr>
            <a:r>
              <a:rPr lang="hu">
                <a:solidFill>
                  <a:schemeClr val="dk1"/>
                </a:solidFill>
              </a:rPr>
              <a:t>a játékok az MI számára az, ami a Formula1 az autógyártók számára</a:t>
            </a:r>
            <a:endParaRPr>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7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7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aját világo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4711</Words>
  <Application>Microsoft Office PowerPoint</Application>
  <PresentationFormat>On-screen Show (16:9)</PresentationFormat>
  <Paragraphs>335</Paragraphs>
  <Slides>35</Slides>
  <Notes>35</Notes>
  <HiddenSlides>0</HiddenSlides>
  <MMClips>0</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Saját világos</vt:lpstr>
      <vt:lpstr>A mesterséges intelligencia alapjai</vt:lpstr>
      <vt:lpstr>Áttekintés</vt:lpstr>
      <vt:lpstr>Játékok kontra keresési problémák</vt:lpstr>
      <vt:lpstr>Játékok típusai</vt:lpstr>
      <vt:lpstr>Grundy játék</vt:lpstr>
      <vt:lpstr>Grundy játék játékfája</vt:lpstr>
      <vt:lpstr>Grundy játékfa címkézése</vt:lpstr>
      <vt:lpstr>Játékfa (kétszemélyes, determinisztikus, lépésenkénti szintek)</vt:lpstr>
      <vt:lpstr>Minimax</vt:lpstr>
      <vt:lpstr>Minimax algoritmus</vt:lpstr>
      <vt:lpstr>A minimax tulajdonságai</vt:lpstr>
      <vt:lpstr>α-β nyesés</vt:lpstr>
      <vt:lpstr>α-β nyesés</vt:lpstr>
      <vt:lpstr>α-β nyesés</vt:lpstr>
      <vt:lpstr>α-β nyesés</vt:lpstr>
      <vt:lpstr>α-β nyesés</vt:lpstr>
      <vt:lpstr>Miért α-β?</vt:lpstr>
      <vt:lpstr>α-β algoritmus</vt:lpstr>
      <vt:lpstr>α-β tulajdonságai</vt:lpstr>
      <vt:lpstr>Korlátozott erőforrások</vt:lpstr>
      <vt:lpstr>Kiértékelő függvények</vt:lpstr>
      <vt:lpstr>Kitérő: a pontos érték nem számít</vt:lpstr>
      <vt:lpstr>Determinisztikus játékok a gyakorlatban</vt:lpstr>
      <vt:lpstr>Nemdeterminisztikus játékok: ostábla/backgammon</vt:lpstr>
      <vt:lpstr>Nemdeterminisztikus játékok általában</vt:lpstr>
      <vt:lpstr>Algoritmus nemdeterminisztikus játékokra</vt:lpstr>
      <vt:lpstr>Nemdeterminisztikus játékok a gyakorlatban</vt:lpstr>
      <vt:lpstr>Kitérő: számítanak a pontos értékek</vt:lpstr>
      <vt:lpstr>Nem teljes információjú játékok</vt:lpstr>
      <vt:lpstr>Példa</vt:lpstr>
      <vt:lpstr>Példa</vt:lpstr>
      <vt:lpstr>Példa</vt:lpstr>
      <vt:lpstr>Józan ész kritikája</vt:lpstr>
      <vt:lpstr>Pontos analízis</vt:lpstr>
      <vt:lpstr>Összegzés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mesterséges intelligencia alapjai</dc:title>
  <cp:lastModifiedBy>Dr. Harangi Balázs</cp:lastModifiedBy>
  <cp:revision>2</cp:revision>
  <dcterms:modified xsi:type="dcterms:W3CDTF">2025-10-17T10:20:08Z</dcterms:modified>
</cp:coreProperties>
</file>