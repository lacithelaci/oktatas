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3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79" r:id="rId26"/>
    <p:sldId id="282" r:id="rId27"/>
    <p:sldId id="284" r:id="rId28"/>
    <p:sldId id="286" r:id="rId29"/>
    <p:sldId id="283" r:id="rId30"/>
    <p:sldId id="285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DCB3A0-C7ED-0594-7416-57F242635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3BECACC-A10E-DFFD-D77A-93B26CD18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0FF128C-E9AB-46AB-C832-8B74BE056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92FD-37C4-4D23-8A4A-47EF4D6620F9}" type="datetimeFigureOut">
              <a:rPr lang="hu-HU" smtClean="0"/>
              <a:t>2025. 10. 02.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519DDBD-84F4-FE57-EFBE-0D96B8407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9AC0135-FDC8-F0CB-A3FF-A30483EE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E69E-8ECD-4942-BA7D-940DF517E8F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4066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32E42E-2D1E-8653-D026-CEFC6319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837195F-F7FC-5829-77C8-125B4B2CA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02B266E-AB51-7B8B-E3CF-B73318F5E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92FD-37C4-4D23-8A4A-47EF4D6620F9}" type="datetimeFigureOut">
              <a:rPr lang="hu-HU" smtClean="0"/>
              <a:t>2025. 10. 02.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52AC57E-7A4F-F34B-DDD6-10ECF5788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70DC3C2-42BF-3C98-EFE1-C6366236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E69E-8ECD-4942-BA7D-940DF517E8F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7216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723BFB-C071-69A4-595F-D77A03B3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334B9EA-35D3-B2E6-6869-0B5D71213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D8C0DA5-00DA-AFF5-D004-E701981D9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92FD-37C4-4D23-8A4A-47EF4D6620F9}" type="datetimeFigureOut">
              <a:rPr lang="hu-HU" smtClean="0"/>
              <a:t>2025. 10. 02.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5C1F77F-0517-119A-3DF5-84406B8B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638C178-0FA4-BE81-B93C-E4BFBCAC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E69E-8ECD-4942-BA7D-940DF517E8F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5482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EC11A0-1135-4AB7-D430-EBCCF698F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E6EC48-E317-FDAC-611D-B622320C3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113D1C0-EB3B-C519-ECB5-2D84C7794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8C3889A-B095-D766-6E72-2A41010AA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92FD-37C4-4D23-8A4A-47EF4D6620F9}" type="datetimeFigureOut">
              <a:rPr lang="hu-HU" smtClean="0"/>
              <a:t>2025. 10. 02.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C787938-E679-5B78-7A86-CB10B3C70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28F0FF9-8CFD-0B1D-F1CF-D1DE1869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E69E-8ECD-4942-BA7D-940DF517E8F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026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95940F-A825-0E2F-7C24-A4DEBE8E9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4148EDC-520D-EC13-6BB8-0DFBA72C7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C4254EF-040A-9640-C198-CE94EDDB4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9C2720B-09BB-4282-CDCC-7F0CEF314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0AB00C6-83BD-208D-08A9-27DD737610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26FFFDA-E00C-7443-50A2-EC468E5BE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92FD-37C4-4D23-8A4A-47EF4D6620F9}" type="datetimeFigureOut">
              <a:rPr lang="hu-HU" smtClean="0"/>
              <a:t>2025. 10. 02.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EE7EA1B-17E9-0998-31C4-FE4D4151B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6F76D58D-C092-8F41-9F1D-96290D40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E69E-8ECD-4942-BA7D-940DF517E8F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9770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E1EF27-90C5-C961-0173-9BD107A5A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27BFE7B-C2D6-0975-7278-0567F5C73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92FD-37C4-4D23-8A4A-47EF4D6620F9}" type="datetimeFigureOut">
              <a:rPr lang="hu-HU" smtClean="0"/>
              <a:t>2025. 10. 02.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6D02110-7F77-8A32-01D2-55E6E8C5E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24111DB-D7A9-70F8-A83E-6060B9C39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E69E-8ECD-4942-BA7D-940DF517E8F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12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0847555-8E89-D8D2-3181-4DC372EA1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92FD-37C4-4D23-8A4A-47EF4D6620F9}" type="datetimeFigureOut">
              <a:rPr lang="hu-HU" smtClean="0"/>
              <a:t>2025. 10. 02.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62FC46C-C74E-7784-7AD5-20D2D032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380E4AB-D139-4CD8-BE44-25E15553C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E69E-8ECD-4942-BA7D-940DF517E8F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607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548547-BF24-E123-7981-B33F2654A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CF860B6-E452-BACF-1F6F-60D5E20B8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17BD3C4-A41E-B99F-1E40-89403172A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6F662CB-E6FF-75B0-68D7-7C8833C1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92FD-37C4-4D23-8A4A-47EF4D6620F9}" type="datetimeFigureOut">
              <a:rPr lang="hu-HU" smtClean="0"/>
              <a:t>2025. 10. 02.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EF50CE1-9AA0-88C5-5CDE-E0A68FCD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2F1D282-4AEC-BD4D-1524-408FB1ED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E69E-8ECD-4942-BA7D-940DF517E8F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5887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7455E3-0A3F-C256-A7B7-B59AA2DD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1E03DAAD-EAC7-FA9B-560B-301CE594B7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01DD2FD-6E51-180D-B187-AB51689F2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54C757E-2CA5-D81F-2AFE-8DD6B2A3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92FD-37C4-4D23-8A4A-47EF4D6620F9}" type="datetimeFigureOut">
              <a:rPr lang="hu-HU" smtClean="0"/>
              <a:t>2025. 10. 02.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328F19E-F7AC-5189-4CD5-99B5F7527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9461EA7-0E66-5B98-AB5E-2307EF96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E69E-8ECD-4942-BA7D-940DF517E8F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7558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A95FA9-98BC-C162-2BF1-AE74D85F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1C2D07B-DE0C-5DFF-7322-83DA2E969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AA53BE9-150D-9168-BC9F-319AF31A6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92FD-37C4-4D23-8A4A-47EF4D6620F9}" type="datetimeFigureOut">
              <a:rPr lang="hu-HU" smtClean="0"/>
              <a:t>2025. 10. 02.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0AE7D68-B402-E87D-86E7-8293013F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74A9079-8204-396E-3EB8-07F4A0DA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E69E-8ECD-4942-BA7D-940DF517E8F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778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BDE6DFC3-4504-A0B8-2962-03B07050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4D732DD-3F9B-F483-8D43-F21516099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0491D50-DDE8-31B5-E7C7-855D3640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92FD-37C4-4D23-8A4A-47EF4D6620F9}" type="datetimeFigureOut">
              <a:rPr lang="hu-HU" smtClean="0"/>
              <a:t>2025. 10. 02.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EFB2B11-FA8D-809D-474F-61CECB1C4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5DCFE97-492C-77FB-62D7-E93E1D5B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E69E-8ECD-4942-BA7D-940DF517E8F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1102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CEBB569-79EA-CD72-9B13-17DCA6AA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D6C072C-FAC4-1A07-3F63-D4B5832FB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0F3C824-AC57-46BE-7B0B-AF86A70D5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292FD-37C4-4D23-8A4A-47EF4D6620F9}" type="datetimeFigureOut">
              <a:rPr lang="hu-HU" smtClean="0"/>
              <a:t>2025. 10. 02.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FBDE066-D471-81A7-163F-25D24F048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BD14533-5608-C3BB-3C36-DEA098A98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AE69E-8ECD-4942-BA7D-940DF517E8F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44881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192A5A-0BE8-AC0A-FD52-7E452BD81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 err="1">
                <a:latin typeface="Arial" panose="020B0604020202020204" pitchFamily="34" charset="0"/>
                <a:cs typeface="Arial" panose="020B0604020202020204" pitchFamily="34" charset="0"/>
              </a:rPr>
              <a:t>Nypro</a:t>
            </a:r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, Inc.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32649B0-7EF9-F1CF-42F7-64FDCA076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78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B341FA-9076-76A9-E00C-9ED55BC0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Bevezetés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EACF21-4379-3B8A-B132-063C5B1E3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Nypro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Inc. (ma már „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Nypro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Jabil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vállalata”) precíz műanyag alkatrészek gyártásával foglalkozik, különösen injekciós fröccsöntéssel (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molding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formák tervezésével, valamint a kapcsolódó design + fejlesztés + összeszerelés területein. 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Piaci szegmensek: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Egészségügy (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Csomagolás (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packaging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Fogyasztói elektronika (consumer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69426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D5E677-6BEC-0752-686B-6273E05DB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D013FCA-0ABF-8310-CF83-55F5BC277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Tulajdonviszony:</a:t>
            </a:r>
            <a:b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2013-ban 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Jabil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Inc. felvásárolta 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Nypro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-t, így az most 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Jabil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egyik leányvállalata.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Méretek, elterjedés: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Több telephely világszerte (18 feletti).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vállalat 2012-es adatok szerint mintegy 20 ezer munkavállalót foglalkoztatott, éves bevétele pedig 108 millió dollár volt.</a:t>
            </a:r>
          </a:p>
        </p:txBody>
      </p:sp>
    </p:spTree>
    <p:extLst>
      <p:ext uri="{BB962C8B-B14F-4D97-AF65-F5344CB8AC3E}">
        <p14:creationId xmlns:p14="http://schemas.microsoft.com/office/powerpoint/2010/main" val="246927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540299-5CAF-F3D4-433F-EE6BB85C5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5569"/>
            <a:ext cx="10515600" cy="1325563"/>
          </a:xfrm>
        </p:spPr>
        <p:txBody>
          <a:bodyPr>
            <a:normAutofit/>
          </a:bodyPr>
          <a:lstStyle/>
          <a:p>
            <a:r>
              <a:rPr lang="hu-HU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Főbb ügyfelek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0E06DD0-6C1B-5F54-5959-4977CD2989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1132"/>
            <a:ext cx="3616696" cy="306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Johnson &amp; Johnson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Verbatim</a:t>
            </a:r>
            <a:endParaRPr lang="hu-HU" alt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3M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Hewlett-Packard (HP)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Abbott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Labs</a:t>
            </a:r>
            <a:endParaRPr lang="hu-HU" alt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Gillette</a:t>
            </a:r>
          </a:p>
        </p:txBody>
      </p:sp>
    </p:spTree>
    <p:extLst>
      <p:ext uri="{BB962C8B-B14F-4D97-AF65-F5344CB8AC3E}">
        <p14:creationId xmlns:p14="http://schemas.microsoft.com/office/powerpoint/2010/main" val="169501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D0A4D1-0C54-8E34-5B95-6AEACE36C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Aktuális trendek és kihívások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1C8DB7-4D1E-C7BE-344D-3D8082276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791"/>
            <a:ext cx="10515600" cy="4562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COVID-hatás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Globális ellátási láncok és gyártási kapacitások zavarai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Inputanyagok beszerzésében bizonytalanság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Egészségügyi termékek iránti kereslet megugrása → pozitív hatás az egészségügyi szegmensre</a:t>
            </a:r>
          </a:p>
          <a:p>
            <a:pPr marL="0" indent="0">
              <a:buNone/>
            </a:pP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Energiaár-válság és alapanyagköltségek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Energiaigényes gyártási folyamatok (fröccsöntés, formahűtés)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Növekvő energiaárak → magasabb működési költségek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Műanyag alapanyagok árának ingadozása (olajár, beszállítási lánc)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008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1D3B05-D9AE-3AD6-0D24-896DC3673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Történeti háttér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749599-FA93-C07B-1CEB-217D1B9F6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1970-es évek elején a NYPRO csupán egy volt a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2000+ amerikai fröccsöntőüzem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közül.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Árbevétel: évi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~4 millió USD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erős, főleg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árversenyben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Gordon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Lankton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megvásárolta a céget, vállalkozói szemlélettel és globális vízióval.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Gyors átalakítás, új stratégia kidolgozása.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073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DF73B1-9C1E-9FC6-54F3-0D85BC788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Esettanulmány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2C7CBF0-544F-2D3E-0C71-EF90D2AA5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NYPRO vállalati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controllerének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Ted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Lapresnek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aggodalmai voltak a belső beszámolórendszerrel kapcsolatban.</a:t>
            </a:r>
            <a:b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Bár az információ bőségesen rendelkezésre állt, felmerült a kérdés: „Valóban a megfelelő dolgokat mérjük?”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információtechnológia gyors fejlődése miatt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Lapres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úgy érezte, hogy a jelenlegi rendszer elavulhat, és nem biztosít kellően hasznos visszajelzést a döntéshozatalhoz.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493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617200-07C3-FA0E-AFDA-7C7527024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14325"/>
            <a:ext cx="11607800" cy="1325563"/>
          </a:xfrm>
        </p:spPr>
        <p:txBody>
          <a:bodyPr>
            <a:noAutofit/>
          </a:bodyPr>
          <a:lstStyle/>
          <a:p>
            <a:pPr algn="ctr"/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Jelenlegi beszámolási rendszer működése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23E95FE-3619-CFE1-E7A2-E2922CD5A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Központi elem: a napi eredménykimutatás.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Bevezette: Gordon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Lankton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(vállalati elnök), több mint 30 évvel korábban.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Működés: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Lankton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naponta áttekinti a számokat a 23 üzemvezetővel.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Erős vezetői kontroll, személyes jelenlét.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folyamat inkább rituálé, mint elemzés.</a:t>
            </a:r>
          </a:p>
          <a:p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Lapres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kritikája: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Nem elégedett a kimutatással.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Inkább saját eszközeivel követi a széttagolt egységeket.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999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94FF06-BB81-7E0B-6FAE-81BA34150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A stratégia kulcselemei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D4269D6-ABFB-64AF-4FD9-3A6949C69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3439"/>
            <a:ext cx="10515600" cy="4053523"/>
          </a:xfrm>
        </p:spPr>
        <p:txBody>
          <a:bodyPr/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Magas minőségű, egyedi műanyag-részegységek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gyártása.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fröccsöntési folyamat alkalmassá tétele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nagyvolumenű termelésre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Világszintű hálózat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kiépítése, a fogyasztói igényekhez szabva.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Szövetségek és vegyesvállalatok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létrehozása alkalmazottakkal és partnerekkel.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Pormentes előállítás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képességének kialakítása.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481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5BCDCE-8F77-E596-283D-4573DC7FC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Megkülönböztető stratégia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A5C3615-1CB2-A8A2-88A0-F08C8F178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Fókusz: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Fortune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cégek speciális fröccsöntési igényei.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Eltérés a helyi, kis fröccsöntő üzemektől, akik inkább „művészetként” tekintettek a műanyagöntésre.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Következetesen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magas minőségi standardok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és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rugalmasság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Példa: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Lankton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visszautasított egy nagy mennyiségű tömegtermék-megrendelést, mert nem volt elég egyedi → hosszú távon erősítette a piaci pozíciót.</a:t>
            </a:r>
          </a:p>
          <a:p>
            <a:pPr marL="0" indent="0">
              <a:buNone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685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CC9F7B-7F80-F9C8-52C0-E364EE84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Szervezeti struktúra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DACFBB4-CA8E-FB7B-40E9-00CB436A9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Lapos, decentralizált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szervezet, karcsú központi személyzettel.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Minden üzem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eredményközpontként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működött: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Saját igazgató + operatív </a:t>
            </a:r>
            <a:r>
              <a:rPr 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Teljes felelősség az eredményekért.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pénzügyi és számviteli koordináció a központ feladata volt.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669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F8785F-FFA0-9FCA-6F72-E17C3BA0B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Értékesítés szervezése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9D1694E-16A5-421C-C256-19B59126E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Vállalati értékesítési team: globális ügyfélkapcsolatok.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Helyi értékesítők: támogatás és regionális üzletszerzés.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Randy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Barko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(Értékesítési alelnök):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„Globálisan tárgyalunk, lokálisan szállítunk.”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Egységek elhelyezése mindig a nagy vevők közelében → rugalmasság és gyors reagálás.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Eredmény: az értékesítés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80%-át a központ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20%-át a helyi értékesítők hozták.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910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BBF998-7925-1C9C-C66B-41A7AB702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Eredményközpontok irányítása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049698-32E3-797B-C563-F4E69315A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 eredményközpont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önálló jogi személyiség.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Működés: saját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belső igazgatótanács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Tagok: vállalati tisztségviselők, központi vezetők.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Ted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Lapres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és más felsővezetők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több tanácsban is részt vettek (átlag 5, néhány vezető akár 7-ben).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027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022C92-A3A7-CFC6-5DEB-D2552D9A3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Értékelés</a:t>
            </a:r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D1735E1-CA6D-FE5D-59F7-0286E3BF8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>
            <a:no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decentralizált modell a méret növekedésével is működőképesnek bizonyult.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Erősségek: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Rugalmasság, helyi döntési autonómia.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Szoros ügyfélkapcsolat.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Vezetői utánpótlás: belső előléptetés + prémium a vállalkozói szemléletért.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Gyengeségek / feszültségek: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Magas utazási költségek és időigény.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Potenciális információs aszimmetria a központ és az egységek között.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61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Tartalom helye 8">
            <a:extLst>
              <a:ext uri="{FF2B5EF4-FFF2-40B4-BE49-F238E27FC236}">
                <a16:creationId xmlns:a16="http://schemas.microsoft.com/office/drawing/2014/main" id="{56699964-D440-DB22-4054-BFBEB3F15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3497" y="288485"/>
            <a:ext cx="9029235" cy="5058878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68FD9362-E247-6904-285C-0C3A8BDA46DC}"/>
              </a:ext>
            </a:extLst>
          </p:cNvPr>
          <p:cNvSpPr txBox="1"/>
          <p:nvPr/>
        </p:nvSpPr>
        <p:spPr>
          <a:xfrm>
            <a:off x="4792394" y="5435793"/>
            <a:ext cx="4250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A szervezet bemutatása</a:t>
            </a:r>
          </a:p>
        </p:txBody>
      </p:sp>
    </p:spTree>
    <p:extLst>
      <p:ext uri="{BB962C8B-B14F-4D97-AF65-F5344CB8AC3E}">
        <p14:creationId xmlns:p14="http://schemas.microsoft.com/office/powerpoint/2010/main" val="1875572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D4339E-9477-F850-5054-02B10DBC5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A gyártási folyamat – fröccsöntés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65AF00-6D1E-5B90-5CCC-CC14F7F9A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Kiindulás: nyers műanyag → fröccsöntő gép hengere.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Folyamat: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Műanyaggyöngyök + gyanták keverése.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Massza bevezetése az öntőformába.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Lehűlés, megszilárdulás → elem kivétele.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Új ciklus kezdete.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Egy ciklus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teljes öntési és hűlési folyamat.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specifikáció (anyag, ciklusidő, ellenállóképesség) mindig a vevő elvárásaitól függött.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750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EAC053-10E1-AF66-D83F-268622C8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Technológiai megoldások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BA6E137-B8EC-A6E2-281B-230864E6B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Minden elemhez speciális szerszám (öntőforma) kellett.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gépeket mindig egy adott elem gyártására állították be.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Automatikus adagolórendszer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folyamatos alapanyag-ellátás.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~20 gép/üzem,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pormentes termekben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Robotok végezték az elemek kivételét és továbbítását.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működés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megszakítás csak átállításnál és karbantartásnál.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335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AD7E41-5C00-508A-6400-40FE7504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A gyártási komplexitás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F88F7F-9A1C-3B41-612A-8038963C9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719"/>
            <a:ext cx="10515600" cy="3972243"/>
          </a:xfrm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bonyolultság kulcstényezője: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öntőformák üregszáma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(1–400 üreg).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Több üreg → több anyagigény, teljesítményromlás kockázata.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Probléma: a befecskendezőpisztolyhoz közeli üregek gyorsabban töltődnek → minőségi eltérés lehet.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vezetők tisztában voltak azzal, hogy a komplex formák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torzíthatják a teljesítménymutatókat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0487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B5B6ED-9058-B1DC-A5F3-F4267D07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 err="1">
                <a:latin typeface="Arial" panose="020B0604020202020204" pitchFamily="34" charset="0"/>
                <a:cs typeface="Arial" panose="020B0604020202020204" pitchFamily="34" charset="0"/>
              </a:rPr>
              <a:t>Árképzés</a:t>
            </a:r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 – alapelvek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8C1581-5D29-6A8D-F845-2835266F5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Felelős egység: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értékesítési és marketingcsoport.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Modell: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költségalapú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árképzés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Anyagköltség + gépóradíj (általános költségekkel).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Ciklusidővel súlyozva.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 árrés a közvetlen költségek felett → fedezte az értékesítést, adminisztrációt, nyereséget.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Gépóradíjak évente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újraszámolva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 tervezett kapacitás alapján.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177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DFF43637-1FF1-B613-E661-16E175536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440"/>
            <a:ext cx="10515600" cy="4561523"/>
          </a:xfrm>
        </p:spPr>
        <p:txBody>
          <a:bodyPr>
            <a:no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munka méretét és a rendelkezésre álló kapacitást is figyelembe vették.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Helyi és vállalati értékesítők együtt dolgoztak: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Nagy globális ügyfelek kiszolgálása.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Új helyi vevők megszerzése.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Belső transzferár rendszer: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termelőegységek költségalapú elszámolóáron kapták a munkát.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Egység → kalkulált költség felett fix nyereség.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Fennmaradó hozam a központnál → általános költségek fedezésére.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Elv: mindig a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vevőhöz legközelebbi üzem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kapott prioritást.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847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6317D4-5CBE-386D-03A9-7040F0C5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A napi eredménykimutatás szerepe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B1ADC7-0DB5-2D89-0D48-FDE527725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Elsődleges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kontrolladat-forrás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NYPRO-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nál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Időzítés: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minden egység 11:00 órára jelent az előző három műszakról.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Formátum: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Egyoldalas átfogó beszámoló → vezetésnek </a:t>
            </a:r>
            <a:r>
              <a:rPr lang="hu-H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scorecard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 egységek teljesítményére.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Részletes háttéradatok → igazgatók tevékenységének értékelésére.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Fejlesztési történet: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1970-es évek → elektronikus alap.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évvel később → napi eredménykimutatás.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601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ABDCF2-9985-BEF7-DFB8-91FEFA659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A beszámoló használata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BD4BBDB-398E-067D-7F74-BD3769FDB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Összegzi az egyes termelőegységek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gépeinek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napi teljesítményét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Példa Gordon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Lankton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kommentárjából: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új megbízás → új gépek beállítása → a teljesítmény </a:t>
            </a:r>
            <a:r>
              <a:rPr lang="hu-H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gyorsan leromolhat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napi beszámoló jelezheti a problémát, amelyet a helyszíni látogatásnál észlelne a vezető.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Kontrolling funkció: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segíti a helyi vezetőket a munkájuk jövedelmezőségének becslésében.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578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E6D83761-49B9-55AD-3B12-C5DC81CF4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0859" y="228161"/>
            <a:ext cx="4489487" cy="6401677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E79B409-C202-9A85-754C-FFBE94239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006" y="228161"/>
            <a:ext cx="4842387" cy="640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40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331CC0E6-9257-A6C2-E21B-8DBF8B0109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840778"/>
            <a:ext cx="6340148" cy="538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23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7C601A2-F64D-01FA-9853-3ED59E522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Vállalati filozófia</a:t>
            </a:r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9D07FC-7C23-4A08-14FF-16E32A20B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Alapelv: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„Nyereség szükséges az előre lépéshez, új eszközökhöz, munkatársak jutalmazásához és tevékenységek bővítéséhez.”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nyereség a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scorecard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fő mutatója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0661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3BDEEA-8601-8898-8ECC-348E79AF3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Egyéb beszámolók szerepe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4ED0B0F-1356-51C7-44DD-85528A3DF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9495"/>
          </a:xfrm>
        </p:spPr>
        <p:txBody>
          <a:bodyPr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napi eredménykimutatás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volt az eredményközpont legfontosabb beszámolója.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Kiegészítő beszámolók: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heti és havi jelentések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811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70121B-B78F-4825-A06C-B27302170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Heti beszámolók</a:t>
            </a:r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AF316D1-CA38-84BD-7BF2-49FF6CB4E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Fókusz: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üzemeltetési adatok és összefoglaló pénzügyi információk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Biztonság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Minőség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Alkalmazottak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Termelékenység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Pontos szállítás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Értékesítés és nyereség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Cél: rendszeres, gyors rálátás a működés állapotára és problémák korai azonosítása.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777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790C132C-EADA-B801-EF87-FFA01FF9D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4000" y="265411"/>
            <a:ext cx="5557520" cy="632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435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9C1C68-9649-623F-B0A3-146C8DF7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Havi beszámolók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58AC35E-9BAB-BDCF-FE89-31D8371BF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Elsősorban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pénzügyi jellegűek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részletes költségelemzéssel.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Összevetés: terv- és várható értékekkel.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Kontrolling mutató: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Üzemek által termelt </a:t>
            </a:r>
            <a:r>
              <a:rPr lang="hu-H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fedezeti összeg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összehasonlító mérőszám.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Ted </a:t>
            </a:r>
            <a:r>
              <a:rPr 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Lapres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„Ez az érték lehetővé teszi a vezetői kontroll és a költségek áttekintését minden üzem esetében.”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Százalékos fedezet = </a:t>
            </a:r>
            <a:r>
              <a:rPr lang="hu-H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általános helyzetjelző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902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771887-D6BC-48BC-5796-99B588E9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Benchmarking jelentés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D7ADBC-FD23-ADFD-D42B-5811CEF54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880"/>
            <a:ext cx="10515600" cy="4724083"/>
          </a:xfrm>
        </p:spPr>
        <p:txBody>
          <a:bodyPr>
            <a:no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 jelentés,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diagramokkal összehasonlítva az összes egységet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Kulcsfontosságú mutatók: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Gépkihasználtság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Balesetek aránya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Raktáron levő nyersanyagok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Pontos szállítások aránya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Bruttó selejtarány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Értékesítés anyaghányada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Teljes bér az értékesítés százalékában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Cél: minden üzemvezető versenyezzen, hogy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„A NYPRO legjobbja”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legyen.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216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C8F69BF4-3AE1-5380-C563-F836E70F7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1280" y="398011"/>
            <a:ext cx="5641840" cy="606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687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EAC05C-8BE4-A895-5776-98ECF4AD1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Ösztönző rendszer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F8B777-DEE7-0FE2-62A8-400832C34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Negyedéves nyereségfelosztás minden alkalmazottra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fedezeti arány és standard költségek alapján.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Mérték: 50 órányi fizetés.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Vállalati alkalmazottak prémiuma: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súlyozott átlag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 összes termelőegység alapján.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Értékesítők: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értékesítés mértéke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alapján.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Vezetők: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nyereség és növekedés arányában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Részvényprogram: felsővezetők és egyéb alkalmazottak →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piaci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könyv szerinti érték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alapján.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770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D13B56-C79F-28B4-A103-6194699B3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A dilemma – Ted </a:t>
            </a:r>
            <a:r>
              <a:rPr lang="hu-HU" sz="4500" b="1" dirty="0" err="1">
                <a:latin typeface="Arial" panose="020B0604020202020204" pitchFamily="34" charset="0"/>
                <a:cs typeface="Arial" panose="020B0604020202020204" pitchFamily="34" charset="0"/>
              </a:rPr>
              <a:t>Lapres</a:t>
            </a:r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 gondolatai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EB1873-62CF-946D-0530-BCEF10E96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Növekedés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kontroll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NYPRO gyorsan növekvő, globális vállalat: </a:t>
            </a:r>
            <a:r>
              <a:rPr lang="hu-H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értékesítés öt évente megduplázódik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új termékek és komplex megbízások folyamatosan érkeznek.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Ted aggódik, hogy a </a:t>
            </a:r>
            <a:r>
              <a:rPr lang="hu-H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kontrollrendszer nem tud lépést tartani a növekedéssel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azaz a napi és havi beszámolók részletei túlterhelhetik a vezetőket, miközben nem feltétlenül biztosítják a releváns információt.</a:t>
            </a:r>
          </a:p>
          <a:p>
            <a:pPr lvl="1"/>
            <a:r>
              <a:rPr lang="hu-H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Feszültség: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vállalati kultúra – decentralizáció, függetlenség, vállalkozói szemlélet – nem kedveli a túlzott bürokráciát.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416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F8438D-758C-63D8-F323-0F5628543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Árazás kockázata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D72FA5-CA4E-DA89-D647-9DFEC36CA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3439"/>
            <a:ext cx="10515600" cy="4053523"/>
          </a:xfrm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célpiac: nagy, globális ügyfelek.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Néhány megbízás bonyolultsága miatt előfordulhat, hogy a költségeket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alábecsülik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hozamokat túloptimistán tervezik →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potenciális veszteségek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napi és havi jelentések nem mindig tükrözik a munka komplexitását, így a kontroll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torzulhat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különösen a bonyolult projektek esetében.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107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95AFA3-F259-A78F-D28E-2DD058FC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3400" cy="1325563"/>
          </a:xfrm>
        </p:spPr>
        <p:txBody>
          <a:bodyPr>
            <a:no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Kontrollrendszer bővítésének kérdése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6B9166-A555-101B-4E9E-99E588AAC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Ted gondolkodik: meddig lehet a beszámolókat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részletesíteni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és mikor válik ez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inkább terhelővé, mint hasznossá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cél: elegendő információ a vezetés számára,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anélkül, hogy elveszne a lényeg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Kérdésként merül fel a regionális szervezeti szint bevezetése vagy új vezetési rétegek kialakítása – a decentralizált modell megtartása mellett.</a:t>
            </a:r>
          </a:p>
        </p:txBody>
      </p:sp>
    </p:spTree>
    <p:extLst>
      <p:ext uri="{BB962C8B-B14F-4D97-AF65-F5344CB8AC3E}">
        <p14:creationId xmlns:p14="http://schemas.microsoft.com/office/powerpoint/2010/main" val="33857248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1C8211-6BEA-5135-8430-9430B3324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520" y="375285"/>
            <a:ext cx="10515600" cy="1325563"/>
          </a:xfrm>
        </p:spPr>
        <p:txBody>
          <a:bodyPr>
            <a:normAutofit/>
          </a:bodyPr>
          <a:lstStyle/>
          <a:p>
            <a:r>
              <a:rPr lang="hu-HU" sz="4500" b="1" dirty="0">
                <a:latin typeface="Arial" panose="020B0604020202020204" pitchFamily="34" charset="0"/>
                <a:cs typeface="Arial" panose="020B0604020202020204" pitchFamily="34" charset="0"/>
              </a:rPr>
              <a:t>Fókusz és prioritások</a:t>
            </a:r>
            <a:endParaRPr lang="hu-HU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F8067DD-C02C-CA64-CC77-E79D11BF8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4879"/>
            <a:ext cx="10515600" cy="3962083"/>
          </a:xfrm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lényeg: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végeredmények, költségek és hatékonyság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Ted véleménye szerint 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kontrollingnak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túlzott részletek helyett a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döntéstámogató információra kell koncentrálnia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hogy a vállalat stabilitása és növekedése biztosított legyen.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572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C7B6D2-9565-7306-333A-6861AA340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80C022-2517-4DB4-8A3E-64AE723CD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1. Mit gondol, folytatni kell-e a napi eredménykimutatások készítésének gyakorlatát? Megfelelő költségszámítási adatokon és alapelveken nyugodott ez a gyakorlat?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Milyen más mutatószámokat, mutatószámrendszereket javasolna? A javaslatok váltsák fel a napi eredménykimutatást, vagy mellette létezzenek?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Lát bármiféle lehetőséget a tevékenységalapú költségszámítás használatára?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 napi és havi beszámolók kielégítő kontrollt nyújtottak-e?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2058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5B616B-4295-00D5-C551-7DE9483C3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Válaszok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F2A9F1E-04CD-3657-3550-F2651239B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válasz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Igen, alapvető kontrollként és korai riasztó mechanizmusként működik. 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gyakorlat költségszámítási adatokon nyugszik, de a komplex munkáknál érdemes finomítani a hozamok és munka komplexitásának figyelembevételével.</a:t>
            </a:r>
          </a:p>
        </p:txBody>
      </p:sp>
    </p:spTree>
    <p:extLst>
      <p:ext uri="{BB962C8B-B14F-4D97-AF65-F5344CB8AC3E}">
        <p14:creationId xmlns:p14="http://schemas.microsoft.com/office/powerpoint/2010/main" val="10538366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21CE2F-FEEE-ED2E-141C-5FC808FC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56B32D-45EF-2FE1-135C-778040F6D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válasz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Kiegészítő KPI-k: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Kapacitáskihasználtság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Munka komplexitás/hozzáadott érték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Selejtarány és minőségmutatók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Fedezeti összeg százalékban, projektszinten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napi eredménykimutatás maradhat, de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kiegészítő, tevékenységalapú és benchmarking mutatószámokkal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426120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26B962-6ADC-AEE5-4FF4-3EB2A504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A6EB1E-AD86-9437-BF25-D3008CA07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válasz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Hasznos lehet komplex megbízásoknál a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valós költségek és hozamok jobb felmérésére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Segít a döntéstámogatásban,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árképzés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finomításában, a nyereségesség növelésében.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8924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C14B6A-1F18-D49F-E2AB-23EB55159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783E63-5C33-F1F7-DE7B-4B82E84C2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válasz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Alapvetően igen,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a növekvő cég méreténél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Több kiegyensúlyozottság kellene (operatív + stratégiai mutatók).</a:t>
            </a:r>
          </a:p>
          <a:p>
            <a:pPr lvl="1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decentralizált működéshez regionális aggregált mutatók és KPI-ok bevezetése javasolt.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943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152</TotalTime>
  <Words>1703</Words>
  <Application>Microsoft Office PowerPoint</Application>
  <PresentationFormat>Szélesvásznú</PresentationFormat>
  <Paragraphs>215</Paragraphs>
  <Slides>41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41</vt:i4>
      </vt:variant>
    </vt:vector>
  </HeadingPairs>
  <TitlesOfParts>
    <vt:vector size="46" baseType="lpstr">
      <vt:lpstr>Aptos</vt:lpstr>
      <vt:lpstr>Aptos Display</vt:lpstr>
      <vt:lpstr>Arial</vt:lpstr>
      <vt:lpstr>Times New Roman</vt:lpstr>
      <vt:lpstr>Office-téma</vt:lpstr>
      <vt:lpstr>Nypro, Inc.</vt:lpstr>
      <vt:lpstr>Bevezetés</vt:lpstr>
      <vt:lpstr>PowerPoint-bemutató</vt:lpstr>
      <vt:lpstr>Főbb ügyfelek</vt:lpstr>
      <vt:lpstr>Aktuális trendek és kihívások</vt:lpstr>
      <vt:lpstr>Történeti háttér</vt:lpstr>
      <vt:lpstr>Esettanulmány</vt:lpstr>
      <vt:lpstr>Jelenlegi beszámolási rendszer működése</vt:lpstr>
      <vt:lpstr>A stratégia kulcselemei</vt:lpstr>
      <vt:lpstr>Megkülönböztető stratégia</vt:lpstr>
      <vt:lpstr>Szervezeti struktúra</vt:lpstr>
      <vt:lpstr>Értékesítés szervezése</vt:lpstr>
      <vt:lpstr>Eredményközpontok irányítása</vt:lpstr>
      <vt:lpstr>Értékelés</vt:lpstr>
      <vt:lpstr>PowerPoint-bemutató</vt:lpstr>
      <vt:lpstr>A gyártási folyamat – fröccsöntés</vt:lpstr>
      <vt:lpstr>Technológiai megoldások</vt:lpstr>
      <vt:lpstr>A gyártási komplexitás</vt:lpstr>
      <vt:lpstr>Árképzés – alapelvek</vt:lpstr>
      <vt:lpstr>PowerPoint-bemutató</vt:lpstr>
      <vt:lpstr>A napi eredménykimutatás szerepe</vt:lpstr>
      <vt:lpstr>A beszámoló használata</vt:lpstr>
      <vt:lpstr>PowerPoint-bemutató</vt:lpstr>
      <vt:lpstr>PowerPoint-bemutató</vt:lpstr>
      <vt:lpstr>Vállalati filozófia</vt:lpstr>
      <vt:lpstr>Egyéb beszámolók szerepe</vt:lpstr>
      <vt:lpstr>Heti beszámolók</vt:lpstr>
      <vt:lpstr>PowerPoint-bemutató</vt:lpstr>
      <vt:lpstr>Havi beszámolók</vt:lpstr>
      <vt:lpstr>Benchmarking jelentés</vt:lpstr>
      <vt:lpstr>PowerPoint-bemutató</vt:lpstr>
      <vt:lpstr>Ösztönző rendszer</vt:lpstr>
      <vt:lpstr>A dilemma – Ted Lapres gondolatai</vt:lpstr>
      <vt:lpstr>Árazás kockázata</vt:lpstr>
      <vt:lpstr>Kontrollrendszer bővítésének kérdése</vt:lpstr>
      <vt:lpstr>Fókusz és prioritások</vt:lpstr>
      <vt:lpstr>Kérdések</vt:lpstr>
      <vt:lpstr>Válaszok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Szemán László</dc:creator>
  <cp:lastModifiedBy>Szemán László</cp:lastModifiedBy>
  <cp:revision>39</cp:revision>
  <dcterms:created xsi:type="dcterms:W3CDTF">2025-09-11T08:15:12Z</dcterms:created>
  <dcterms:modified xsi:type="dcterms:W3CDTF">2025-10-02T17:34:52Z</dcterms:modified>
</cp:coreProperties>
</file>